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4" r:id="rId4"/>
    <p:sldId id="265" r:id="rId5"/>
    <p:sldId id="266" r:id="rId6"/>
    <p:sldId id="263" r:id="rId7"/>
  </p:sldIdLst>
  <p:sldSz cx="24384000" cy="13716000"/>
  <p:notesSz cx="6858000" cy="9144000"/>
  <p:embeddedFontLst>
    <p:embeddedFont>
      <p:font typeface="맑은 고딕" panose="020B0503020000020004" pitchFamily="34" charset="-127"/>
      <p:regular r:id="rId8"/>
      <p:bold r:id="rId9"/>
    </p:embeddedFont>
    <p:embeddedFont>
      <p:font typeface="Pretendard Bold" panose="020B0604020202020204" charset="-127"/>
      <p:bold r:id="rId10"/>
    </p:embeddedFont>
    <p:embeddedFont>
      <p:font typeface="Pretendard Medium" panose="020B0604020202020204" charset="-127"/>
      <p:bold r:id="rId11"/>
    </p:embeddedFont>
    <p:embeddedFont>
      <p:font typeface="Pretendard Regular" panose="020B0604020202020204" charset="-127"/>
      <p:regular r:id="rId12"/>
    </p:embeddedFont>
    <p:embeddedFont>
      <p:font typeface="Pretendard SemiBold" panose="020B0604020202020204" charset="-127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7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CE3FD-A71D-4072-94ED-47EF71E2BDBF}" v="111" dt="2026-03-23T04:23:40.477"/>
    <p1510:client id="{A69B5589-C791-4956-8892-30D074EFB6F3}" v="563" dt="2026-03-23T02:45:44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4622" autoAdjust="0"/>
  </p:normalViewPr>
  <p:slideViewPr>
    <p:cSldViewPr>
      <p:cViewPr varScale="1">
        <p:scale>
          <a:sx n="53" d="100"/>
          <a:sy n="53" d="100"/>
        </p:scale>
        <p:origin x="121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0008170" y="9103139"/>
            <a:ext cx="45720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376470" y="9255539"/>
            <a:ext cx="3835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안정현</a:t>
            </a:r>
            <a:endParaRPr lang="en-US" sz="3200" b="0" i="0" u="none" strike="noStrike" dirty="0">
              <a:solidFill>
                <a:srgbClr val="466456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0E864F02-14F5-0B82-BE19-B13FBD7BC077}"/>
              </a:ext>
            </a:extLst>
          </p:cNvPr>
          <p:cNvSpPr txBox="1"/>
          <p:nvPr/>
        </p:nvSpPr>
        <p:spPr>
          <a:xfrm>
            <a:off x="3017631" y="5214942"/>
            <a:ext cx="18573470" cy="323353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6000" spc="-20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생성형 AI 기반 </a:t>
            </a:r>
            <a:br>
              <a:rPr lang="ko-KR" altLang="en-US" sz="6000" spc="-200" dirty="0">
                <a:latin typeface="Pretendard Bold"/>
                <a:ea typeface="Pretendard Bold"/>
                <a:cs typeface="Pretendard Bold"/>
              </a:rPr>
            </a:br>
            <a:r>
              <a:rPr lang="ko-KR" altLang="en-US" sz="6000" spc="-200" dirty="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서울시 미세먼지 대응 </a:t>
            </a:r>
            <a:br>
              <a:rPr lang="ko-KR" altLang="en-US" sz="6000" spc="-200" dirty="0">
                <a:latin typeface="Pretendard Bold"/>
                <a:ea typeface="Pretendard Bold"/>
                <a:cs typeface="Pretendard Bold"/>
              </a:rPr>
            </a:br>
            <a:r>
              <a:rPr lang="ko-KR" altLang="en-US" sz="6000" spc="-200" dirty="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호흡기 건강 예보 서비스</a:t>
            </a:r>
            <a:endParaRPr lang="ko-KR" sz="6000">
              <a:ea typeface="맑은 고딕"/>
              <a:cs typeface="Calibri"/>
            </a:endParaRPr>
          </a:p>
        </p:txBody>
      </p:sp>
      <p:pic>
        <p:nvPicPr>
          <p:cNvPr id="6" name="Picture 5" descr="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79E31F-B5E3-709C-2434-3ADBDCB414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0008169" y="10176564"/>
            <a:ext cx="4572000" cy="889000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A6155FD7-9F16-FDC9-9F15-B491906E9B5A}"/>
              </a:ext>
            </a:extLst>
          </p:cNvPr>
          <p:cNvSpPr txBox="1"/>
          <p:nvPr/>
        </p:nvSpPr>
        <p:spPr>
          <a:xfrm>
            <a:off x="10376469" y="10328964"/>
            <a:ext cx="3835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3200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2026. 03. 17.</a:t>
            </a:r>
            <a:endParaRPr lang="en-US" sz="3200" b="0" i="0" u="none" strike="noStrike" dirty="0">
              <a:solidFill>
                <a:srgbClr val="466456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E930482-7F81-2B18-7F19-09CC1012140F}"/>
              </a:ext>
            </a:extLst>
          </p:cNvPr>
          <p:cNvSpPr txBox="1"/>
          <p:nvPr/>
        </p:nvSpPr>
        <p:spPr>
          <a:xfrm>
            <a:off x="6304169" y="2591011"/>
            <a:ext cx="11973887" cy="20143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9600" spc="-20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프로젝트 기획서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24384000" cy="279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b="0" i="0" u="none" strike="noStrike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6" name="그림 15" descr="텍스트, 폰트, 화이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F2744C-793A-57A3-7AC2-9227476B1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2619" y="4243540"/>
            <a:ext cx="9906000" cy="1714500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3F430349-18AF-4A23-28CF-827998AA9865}"/>
              </a:ext>
            </a:extLst>
          </p:cNvPr>
          <p:cNvSpPr txBox="1"/>
          <p:nvPr/>
        </p:nvSpPr>
        <p:spPr>
          <a:xfrm>
            <a:off x="1662592" y="11633652"/>
            <a:ext cx="21424900" cy="83820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sz="4800">
                <a:solidFill>
                  <a:srgbClr val="222222"/>
                </a:solidFill>
                <a:ea typeface="+mn-lt"/>
                <a:cs typeface="+mn-lt"/>
              </a:rPr>
              <a:t>서울시 미세먼지·초미세먼지</a:t>
            </a:r>
            <a:r>
              <a:rPr lang="en-US" altLang="ko-KR" sz="4800">
                <a:solidFill>
                  <a:srgbClr val="222222"/>
                </a:solidFill>
                <a:ea typeface="+mn-lt"/>
                <a:cs typeface="+mn-lt"/>
              </a:rPr>
              <a:t>,</a:t>
            </a:r>
            <a:r>
              <a:rPr lang="ko-KR" altLang="en-US" sz="4800">
                <a:solidFill>
                  <a:srgbClr val="222222"/>
                </a:solidFill>
                <a:ea typeface="+mn-lt"/>
                <a:cs typeface="+mn-lt"/>
              </a:rPr>
              <a:t> 단순 오염이 아닌 '</a:t>
            </a:r>
            <a:r>
              <a:rPr lang="ko-KR" altLang="en-US" sz="4800" b="1">
                <a:solidFill>
                  <a:srgbClr val="222222"/>
                </a:solidFill>
                <a:ea typeface="+mn-lt"/>
                <a:cs typeface="+mn-lt"/>
              </a:rPr>
              <a:t>재난</a:t>
            </a:r>
            <a:r>
              <a:rPr lang="ko-KR" altLang="en-US" sz="4800">
                <a:solidFill>
                  <a:srgbClr val="222222"/>
                </a:solidFill>
                <a:ea typeface="+mn-lt"/>
                <a:cs typeface="+mn-lt"/>
              </a:rPr>
              <a:t>'</a:t>
            </a:r>
            <a:endParaRPr lang="ko-KR" altLang="en-US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20B8B1FE-054A-DDBC-8439-CC604E5CA6D8}"/>
              </a:ext>
            </a:extLst>
          </p:cNvPr>
          <p:cNvSpPr/>
          <p:nvPr/>
        </p:nvSpPr>
        <p:spPr>
          <a:xfrm>
            <a:off x="11470675" y="10372419"/>
            <a:ext cx="1269096" cy="756576"/>
          </a:xfrm>
          <a:prstGeom prst="downArrow">
            <a:avLst/>
          </a:prstGeom>
          <a:solidFill>
            <a:srgbClr val="6A7E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3" name="그림 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C5FFAA-7A75-50C6-8004-98E1B26AD8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16" b="4878"/>
          <a:stretch>
            <a:fillRect/>
          </a:stretch>
        </p:blipFill>
        <p:spPr>
          <a:xfrm>
            <a:off x="1557372" y="7119480"/>
            <a:ext cx="10646506" cy="2400123"/>
          </a:xfrm>
          <a:prstGeom prst="rect">
            <a:avLst/>
          </a:prstGeom>
        </p:spPr>
      </p:pic>
      <p:pic>
        <p:nvPicPr>
          <p:cNvPr id="6" name="그림 5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DA9FED-4984-ECDA-8D42-79950DFCCC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33853" y="6576521"/>
            <a:ext cx="7516762" cy="3492910"/>
          </a:xfrm>
          <a:prstGeom prst="rect">
            <a:avLst/>
          </a:prstGeom>
        </p:spPr>
      </p:pic>
      <p:pic>
        <p:nvPicPr>
          <p:cNvPr id="8" name="그림 7" descr="텍스트, 폰트, 그래픽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04872D-E36B-B4C9-499B-6ED514BF17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45" y="4107207"/>
            <a:ext cx="11992897" cy="1986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EA5AE-46E9-24E9-342E-DEDCCBCD2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53E763A-234A-7800-5CBB-815B3DA228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24384000" cy="2794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8FB7E90-C45D-1614-60D5-46FD516AE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921FAA4-4C96-739E-5F59-C44F2CF9EB0E}"/>
              </a:ext>
            </a:extLst>
          </p:cNvPr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b="0" i="0" u="none" strike="noStrike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기획 의도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509439-CEBA-8BD3-22A0-D2A723F4C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213" y="6106353"/>
            <a:ext cx="7991475" cy="2905125"/>
          </a:xfrm>
          <a:prstGeom prst="rect">
            <a:avLst/>
          </a:prstGeom>
        </p:spPr>
      </p:pic>
      <p:pic>
        <p:nvPicPr>
          <p:cNvPr id="17" name="그림 16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6FC4B-FE0F-4E4D-DA8D-C63CAD822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749" y="3904642"/>
            <a:ext cx="8801100" cy="1504950"/>
          </a:xfrm>
          <a:prstGeom prst="rect">
            <a:avLst/>
          </a:prstGeom>
        </p:spPr>
      </p:pic>
      <p:pic>
        <p:nvPicPr>
          <p:cNvPr id="18" name="그림 17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9B8153-3F66-A9C5-9823-6557654F0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7562" y="6683651"/>
            <a:ext cx="11610975" cy="1743075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49571BD6-7576-5A48-424E-41A8EC7F4FAD}"/>
              </a:ext>
            </a:extLst>
          </p:cNvPr>
          <p:cNvSpPr txBox="1"/>
          <p:nvPr/>
        </p:nvSpPr>
        <p:spPr>
          <a:xfrm>
            <a:off x="1662592" y="11633652"/>
            <a:ext cx="21424900" cy="83820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ko-KR" altLang="en-US" sz="48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미세먼지 발병 시차</a:t>
            </a:r>
            <a:r>
              <a:rPr lang="en-US" altLang="ko-KR" sz="4800" b="0" i="0" u="none" strike="noStrike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(Time-Lag</a:t>
            </a:r>
            <a:r>
              <a:rPr lang="en-US" altLang="ko-KR" sz="48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)</a:t>
            </a:r>
            <a:r>
              <a:rPr lang="ko-KR" altLang="en-US" sz="4800" dirty="0">
                <a:solidFill>
                  <a:srgbClr val="222222"/>
                </a:solidFill>
                <a:latin typeface="Pretendard SemiBold" panose="020B0600000101010101" charset="-127"/>
                <a:ea typeface="Pretendard SemiBold" panose="020B0600000101010101" charset="-127"/>
                <a:cs typeface="Pretendard Light"/>
              </a:rPr>
              <a:t>를 고려한 서울시 구별 호흡기 환자 수 예측</a:t>
            </a:r>
            <a:endParaRPr lang="en-US" sz="4800" b="0" i="0" u="none" strike="noStrike" dirty="0">
              <a:solidFill>
                <a:srgbClr val="222222"/>
              </a:solidFill>
              <a:latin typeface="Pretendard SemiBold" panose="020B0600000101010101" charset="-127"/>
              <a:ea typeface="Pretendard SemiBold" panose="020B0600000101010101" charset="-127"/>
              <a:cs typeface="Pretendard Light"/>
            </a:endParaRP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E75397AB-1856-42CA-A862-BD4D4A4AB517}"/>
              </a:ext>
            </a:extLst>
          </p:cNvPr>
          <p:cNvSpPr/>
          <p:nvPr/>
        </p:nvSpPr>
        <p:spPr>
          <a:xfrm>
            <a:off x="11470675" y="10372419"/>
            <a:ext cx="1269096" cy="756576"/>
          </a:xfrm>
          <a:prstGeom prst="downArrow">
            <a:avLst/>
          </a:prstGeom>
          <a:solidFill>
            <a:srgbClr val="6A7E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pic>
        <p:nvPicPr>
          <p:cNvPr id="9" name="그림 8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912B7-7BA7-6F60-7009-3D582154F1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8145" y="3432763"/>
            <a:ext cx="121920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93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B65A5-7070-B791-B264-30CB4F06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789FE6C-016D-AD8A-5824-C740AF596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703FB8B-E228-2894-2E85-DC93F5588E55}"/>
              </a:ext>
            </a:extLst>
          </p:cNvPr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개발 목표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" name="그림 1" descr="도표, 원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E05348-B2BF-8CF6-749D-B7C449070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324" y="4758404"/>
            <a:ext cx="5936974" cy="5870714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A1D37A42-64F7-BE36-EC40-036A1CB844D1}"/>
              </a:ext>
            </a:extLst>
          </p:cNvPr>
          <p:cNvSpPr/>
          <p:nvPr/>
        </p:nvSpPr>
        <p:spPr>
          <a:xfrm>
            <a:off x="11753306" y="6857314"/>
            <a:ext cx="893379" cy="945931"/>
          </a:xfrm>
          <a:prstGeom prst="rightArrow">
            <a:avLst/>
          </a:prstGeom>
          <a:solidFill>
            <a:srgbClr val="6A7E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3801B81E-9736-55A6-D938-D9B8A305E427}"/>
              </a:ext>
            </a:extLst>
          </p:cNvPr>
          <p:cNvSpPr txBox="1"/>
          <p:nvPr/>
        </p:nvSpPr>
        <p:spPr>
          <a:xfrm>
            <a:off x="2477147" y="3519240"/>
            <a:ext cx="8135321" cy="74565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4000" b="1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머신러닝 기반 다중회귀 예측 모델 구축</a:t>
            </a:r>
            <a:endParaRPr lang="ko-KR" sz="4000" b="1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3A02D623-0397-0C25-5741-2A0AB9F1254E}"/>
              </a:ext>
            </a:extLst>
          </p:cNvPr>
          <p:cNvSpPr txBox="1"/>
          <p:nvPr/>
        </p:nvSpPr>
        <p:spPr>
          <a:xfrm>
            <a:off x="971254" y="10880657"/>
            <a:ext cx="11207900" cy="1409327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2800" b="1" dirty="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Input </a:t>
            </a:r>
            <a:r>
              <a:rPr lang="ko-KR" altLang="en-US" sz="28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: 자치구별 미세먼지 농도, 기온, 인구 구조, 지역내총생산 등</a:t>
            </a:r>
          </a:p>
          <a:p>
            <a:pPr algn="ctr">
              <a:lnSpc>
                <a:spcPct val="116199"/>
              </a:lnSpc>
            </a:pPr>
            <a:r>
              <a:rPr lang="ko-KR" altLang="en-US" sz="600" dirty="0">
                <a:latin typeface="Pretendard Regular"/>
                <a:ea typeface="Pretendard Regular"/>
                <a:cs typeface="Calibri"/>
              </a:rPr>
              <a:t> </a:t>
            </a:r>
            <a:br>
              <a:rPr lang="ko-KR" altLang="en-US" sz="2800" dirty="0">
                <a:latin typeface="Pretendard Regular"/>
                <a:ea typeface="Pretendard Regular"/>
                <a:cs typeface="Calibri"/>
              </a:rPr>
            </a:br>
            <a:r>
              <a:rPr lang="ko-KR" altLang="en-US" sz="2200" dirty="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* </a:t>
            </a:r>
            <a:r>
              <a:rPr lang="ko-KR" sz="2200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시간 단위의 대기질 및 기온 데이터에 대해 단순 일 평균값 외에도 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최근 3일간의 표준편차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(</a:t>
            </a:r>
            <a:r>
              <a:rPr lang="en-US" altLang="ko-KR" sz="2200" b="1" dirty="0" err="1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변동성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),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 이동평균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(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추세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),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 최댓값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/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최솟값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(</a:t>
            </a:r>
            <a:r>
              <a:rPr lang="ko-KR" altLang="en-US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극단성</a:t>
            </a:r>
            <a:r>
              <a:rPr lang="en-US" alt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)</a:t>
            </a:r>
            <a:r>
              <a:rPr lang="ko-KR" sz="2200" b="1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 등 주요 통계 지표를 추출</a:t>
            </a:r>
            <a:r>
              <a:rPr lang="ko-KR" sz="2200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하여 학습에 활용</a:t>
            </a:r>
            <a:endParaRPr lang="ko-KR" altLang="en-US" sz="2800" dirty="0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C0332885-1E5D-3902-1440-181C22F2025E}"/>
              </a:ext>
            </a:extLst>
          </p:cNvPr>
          <p:cNvSpPr txBox="1"/>
          <p:nvPr/>
        </p:nvSpPr>
        <p:spPr>
          <a:xfrm>
            <a:off x="972390" y="12554808"/>
            <a:ext cx="11121869" cy="573586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en-US" altLang="ko-KR" sz="2800" b="1" dirty="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Output</a:t>
            </a:r>
            <a:r>
              <a:rPr lang="ko-KR" sz="2800" b="1" dirty="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 </a:t>
            </a:r>
            <a:r>
              <a:rPr lang="ko-KR" sz="28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: </a:t>
            </a:r>
            <a:r>
              <a:rPr lang="ko-KR" altLang="en-US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자치구별 당일 및 향후 </a:t>
            </a:r>
            <a:r>
              <a:rPr lang="en-US" altLang="ko-KR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3</a:t>
            </a:r>
            <a:r>
              <a:rPr lang="ko-KR" altLang="en-US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일</a:t>
            </a:r>
            <a:r>
              <a:rPr lang="en-US" altLang="ko-KR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(D+1</a:t>
            </a:r>
            <a:r>
              <a:rPr lang="ko-KR" sz="2800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 </a:t>
            </a:r>
            <a:r>
              <a:rPr lang="en-US" altLang="ko-KR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~</a:t>
            </a:r>
            <a:r>
              <a:rPr lang="ko-KR" altLang="en-US" sz="2800" dirty="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 </a:t>
            </a:r>
            <a:r>
              <a:rPr lang="ko-KR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D+3</a:t>
            </a:r>
            <a:r>
              <a:rPr lang="en-US" altLang="ko-KR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)</a:t>
            </a:r>
            <a:r>
              <a:rPr lang="ko-KR" altLang="en-US" sz="2800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간의 </a:t>
            </a:r>
            <a:r>
              <a:rPr lang="ko-KR" altLang="en-US" sz="28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호흡기 환자 수</a:t>
            </a:r>
            <a:endParaRPr lang="ko-KR">
              <a:latin typeface="Pretendard Regular"/>
              <a:ea typeface="Pretendard Regular"/>
            </a:endParaRPr>
          </a:p>
        </p:txBody>
      </p:sp>
      <p:pic>
        <p:nvPicPr>
          <p:cNvPr id="10" name="그림 9" descr="지도, 텍스트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7EC5F2-FCA9-CC1B-375A-0F424E9E48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663" r="13053" b="963"/>
          <a:stretch>
            <a:fillRect/>
          </a:stretch>
        </p:blipFill>
        <p:spPr>
          <a:xfrm>
            <a:off x="13987173" y="4591355"/>
            <a:ext cx="7507696" cy="6112846"/>
          </a:xfrm>
          <a:prstGeom prst="rect">
            <a:avLst/>
          </a:prstGeom>
        </p:spPr>
      </p:pic>
      <p:sp>
        <p:nvSpPr>
          <p:cNvPr id="11" name="TextBox 15">
            <a:extLst>
              <a:ext uri="{FF2B5EF4-FFF2-40B4-BE49-F238E27FC236}">
                <a16:creationId xmlns:a16="http://schemas.microsoft.com/office/drawing/2014/main" id="{7FF27C2E-D409-F28C-919C-957C4E34903D}"/>
              </a:ext>
            </a:extLst>
          </p:cNvPr>
          <p:cNvSpPr txBox="1"/>
          <p:nvPr/>
        </p:nvSpPr>
        <p:spPr>
          <a:xfrm>
            <a:off x="14247498" y="3522302"/>
            <a:ext cx="6980030" cy="75794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4000" b="1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단계구분도를 활용한 모니터링</a:t>
            </a:r>
            <a:endParaRPr lang="ko-KR" altLang="en-US" sz="4000" b="1" dirty="0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FE63D426-213D-37D0-828D-D662D383BAF0}"/>
              </a:ext>
            </a:extLst>
          </p:cNvPr>
          <p:cNvSpPr txBox="1"/>
          <p:nvPr/>
        </p:nvSpPr>
        <p:spPr>
          <a:xfrm>
            <a:off x="13591108" y="11584266"/>
            <a:ext cx="9413514" cy="549003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30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서울시 자치구별 호흡기 질환 환자 수 예측값 시각화</a:t>
            </a:r>
          </a:p>
        </p:txBody>
      </p:sp>
    </p:spTree>
    <p:extLst>
      <p:ext uri="{BB962C8B-B14F-4D97-AF65-F5344CB8AC3E}">
        <p14:creationId xmlns:p14="http://schemas.microsoft.com/office/powerpoint/2010/main" val="153808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19ED01-171A-D0E4-EA8B-0CCA40D47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97D9301-3E10-21A8-9F81-B12C2B7A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806700"/>
            <a:ext cx="21793200" cy="127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65F6B02-DC08-3DBE-EE5A-6DD061A0095F}"/>
              </a:ext>
            </a:extLst>
          </p:cNvPr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333" spc="-20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개발 목표</a:t>
            </a:r>
            <a:endParaRPr lang="en-US" sz="5333" b="0" i="0" u="none" strike="noStrike" spc="-20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A16F5CBD-89DB-5924-947E-9807CBF43358}"/>
              </a:ext>
            </a:extLst>
          </p:cNvPr>
          <p:cNvSpPr txBox="1"/>
          <p:nvPr/>
        </p:nvSpPr>
        <p:spPr>
          <a:xfrm>
            <a:off x="2542445" y="3517317"/>
            <a:ext cx="8135321" cy="74565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sz="4000" b="1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Multi-Step 시계열 </a:t>
            </a:r>
            <a:r>
              <a:rPr lang="ko-KR" altLang="en-US" sz="4000" b="1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예측 시스템</a:t>
            </a:r>
            <a:endParaRPr lang="ko-KR" sz="4000" b="1">
              <a:latin typeface="Pretendard Regular"/>
              <a:ea typeface="Pretendard Regular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2C52B890-9599-9E28-5E04-4BB5C0D15E6C}"/>
              </a:ext>
            </a:extLst>
          </p:cNvPr>
          <p:cNvSpPr txBox="1"/>
          <p:nvPr/>
        </p:nvSpPr>
        <p:spPr>
          <a:xfrm>
            <a:off x="14247498" y="3522302"/>
            <a:ext cx="6980030" cy="75794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sz="4000" b="1">
                <a:solidFill>
                  <a:srgbClr val="222222"/>
                </a:solidFill>
                <a:latin typeface="Pretendard Regular"/>
                <a:ea typeface="Pretendard Regular"/>
                <a:cs typeface="+mn-lt"/>
              </a:rPr>
              <a:t>사용자 맞춤형 위험도 산출</a:t>
            </a:r>
            <a:endParaRPr lang="ko-KR" sz="4000" b="1">
              <a:latin typeface="Pretendard Regular"/>
              <a:ea typeface="Pretendard Regular"/>
              <a:cs typeface="+mn-lt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CC0E818D-DB5D-BFD6-68CD-0D8624CFD723}"/>
              </a:ext>
            </a:extLst>
          </p:cNvPr>
          <p:cNvSpPr txBox="1"/>
          <p:nvPr/>
        </p:nvSpPr>
        <p:spPr>
          <a:xfrm>
            <a:off x="13034517" y="11791945"/>
            <a:ext cx="9413514" cy="1075818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3000" dirty="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자치구별 예측 데이터에 사용자의 건강 특성을 결합하여 </a:t>
            </a:r>
          </a:p>
          <a:p>
            <a:pPr algn="ctr">
              <a:lnSpc>
                <a:spcPct val="116199"/>
              </a:lnSpc>
            </a:pPr>
            <a:r>
              <a:rPr lang="ko-KR" altLang="en-US" sz="30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향후 3일(D+0 ~ D+3) 내 개인별 증상 발현 확률 제공</a:t>
            </a:r>
            <a:endParaRPr lang="ko-KR" altLang="en-US" sz="3000" dirty="0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B94BB24B-E268-FB05-6094-E5D2B9FA6ED3}"/>
              </a:ext>
            </a:extLst>
          </p:cNvPr>
          <p:cNvSpPr txBox="1"/>
          <p:nvPr/>
        </p:nvSpPr>
        <p:spPr>
          <a:xfrm>
            <a:off x="1465368" y="11732282"/>
            <a:ext cx="10288157" cy="56225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30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다중회귀 모델로 도출한 향후 3일의 환자 수 변화 추이를 시각화</a:t>
            </a:r>
            <a:endParaRPr lang="ko-KR" altLang="en-US" sz="3000" dirty="0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FBEE7BA4-BE99-219E-5D71-A2EBF715626B}"/>
              </a:ext>
            </a:extLst>
          </p:cNvPr>
          <p:cNvSpPr txBox="1"/>
          <p:nvPr/>
        </p:nvSpPr>
        <p:spPr>
          <a:xfrm>
            <a:off x="1375220" y="12481138"/>
            <a:ext cx="10831496" cy="482742"/>
          </a:xfrm>
          <a:prstGeom prst="rect">
            <a:avLst/>
          </a:prstGeom>
          <a:ln>
            <a:noFill/>
          </a:ln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6199"/>
              </a:lnSpc>
            </a:pPr>
            <a:r>
              <a:rPr lang="ko-KR" altLang="en-US" sz="3000">
                <a:solidFill>
                  <a:srgbClr val="222222"/>
                </a:solidFill>
                <a:latin typeface="Pretendard Regular"/>
                <a:ea typeface="Pretendard Regular"/>
                <a:cs typeface="Calibri"/>
              </a:rPr>
              <a:t>급격한 환자 증가 구간의 직관적 시계열 예측 지표 제공</a:t>
            </a:r>
            <a:endParaRPr lang="ko-KR" altLang="en-US" sz="3000" dirty="0">
              <a:solidFill>
                <a:srgbClr val="222222"/>
              </a:solidFill>
              <a:latin typeface="Pretendard Regular"/>
              <a:ea typeface="Pretendard Regular"/>
              <a:cs typeface="Calibri"/>
            </a:endParaRPr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D7FEAC-D239-CDC7-1831-B9E6DF63C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382" y="4407297"/>
            <a:ext cx="5372100" cy="6877050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1D64B3-1CE6-DCF4-69D2-09452D419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8491" y="4411908"/>
            <a:ext cx="4825438" cy="6952752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3CE4FD6-23B5-D255-390B-B807EE218441}"/>
              </a:ext>
            </a:extLst>
          </p:cNvPr>
          <p:cNvSpPr/>
          <p:nvPr/>
        </p:nvSpPr>
        <p:spPr>
          <a:xfrm>
            <a:off x="2052711" y="12549008"/>
            <a:ext cx="537882" cy="332974"/>
          </a:xfrm>
          <a:prstGeom prst="rightArrow">
            <a:avLst/>
          </a:prstGeom>
          <a:solidFill>
            <a:srgbClr val="6A7E74"/>
          </a:solidFill>
          <a:ln>
            <a:solidFill>
              <a:srgbClr val="6A7E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40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3581400" y="9410700"/>
            <a:ext cx="31762700" cy="6070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37100" y="5105400"/>
            <a:ext cx="14935200" cy="3200400"/>
          </a:xfrm>
          <a:prstGeom prst="rect">
            <a:avLst/>
          </a:prstGeom>
        </p:spPr>
        <p:txBody>
          <a:bodyPr lIns="0" tIns="59266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발표를</a:t>
            </a:r>
            <a:r>
              <a:rPr lang="en-US" sz="9333" b="0" i="0" u="none" strike="noStrike" spc="-500" dirty="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들어주셔서</a:t>
            </a:r>
            <a:endParaRPr lang="en-US" sz="9333" b="0" i="0" u="none" strike="noStrike" spc="-500" dirty="0">
              <a:solidFill>
                <a:srgbClr val="6A7E74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07899"/>
              </a:lnSpc>
            </a:pPr>
            <a:r>
              <a:rPr lang="en-US" sz="9333" b="0" i="0" u="none" strike="noStrike" spc="-500" dirty="0" err="1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감사합니다</a:t>
            </a:r>
            <a:r>
              <a:rPr lang="en-US" sz="9333" b="0" i="0" u="none" strike="noStrike" spc="-500" dirty="0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605046"/>
              </p:ext>
            </p:extLst>
          </p:nvPr>
        </p:nvGraphicFramePr>
        <p:xfrm>
          <a:off x="304800" y="12446000"/>
          <a:ext cx="23698200" cy="1148808"/>
        </p:xfrm>
        <a:graphic>
          <a:graphicData uri="http://schemas.openxmlformats.org/drawingml/2006/table">
            <a:tbl>
              <a:tblPr/>
              <a:tblGrid>
                <a:gridCol w="2369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8808">
                <a:tc>
                  <a:txBody>
                    <a:bodyPr/>
                    <a:lstStyle/>
                    <a:p>
                      <a:pPr lvl="0" algn="l">
                        <a:lnSpc>
                          <a:spcPct val="107899"/>
                        </a:lnSpc>
                        <a:defRPr/>
                      </a:pPr>
                      <a:r>
                        <a:rPr lang="ko-KR" altLang="en-US" sz="2399" b="0" i="0" u="none" strike="noStrike" dirty="0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                                                                                                                                          안정현                 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E-mail. 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Regular"/>
                          <a:ea typeface="Pretendard Regular"/>
                          <a:cs typeface="Pretendard Bold"/>
                        </a:rPr>
                        <a:t>ahnjh1997</a:t>
                      </a:r>
                      <a:r>
                        <a:rPr lang="en-US" sz="2399" b="0" i="0" u="none" strike="noStrike" dirty="0">
                          <a:solidFill>
                            <a:srgbClr val="466456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@naver.com</a:t>
                      </a:r>
                      <a:endParaRPr lang="en-US" sz="1100" dirty="0"/>
                    </a:p>
                  </a:txBody>
                  <a:tcPr marL="25400" marR="25400" marT="40639" marB="40639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A7E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289</Words>
  <Application>Microsoft Office PowerPoint</Application>
  <PresentationFormat>사용자 지정</PresentationFormat>
  <Paragraphs>35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403_17</cp:lastModifiedBy>
  <cp:revision>702</cp:revision>
  <dcterms:created xsi:type="dcterms:W3CDTF">2006-08-16T00:00:00Z</dcterms:created>
  <dcterms:modified xsi:type="dcterms:W3CDTF">2026-03-23T04:24:22Z</dcterms:modified>
</cp:coreProperties>
</file>