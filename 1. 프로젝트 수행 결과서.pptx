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9" name="Google Shape;16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1" name="Google Shape;261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6" name="Google Shape;28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5" name="Google Shape;29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4" name="Google Shape;30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3" name="Google Shape;31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2" name="Google Shape;32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1" name="Google Shape;33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0" name="Google Shape;34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9" name="Google Shape;34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8" name="Google Shape;358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7" name="Google Shape;367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5" name="Google Shape;375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3" name="Google Shape;383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1" name="Google Shape;391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9" name="Google Shape;399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7" name="Google Shape;407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5" name="Google Shape;415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8" name="Google Shape;448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2" name="Google Shape;472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8" name="Google Shape;498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3" name="Google Shape;523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5" name="Google Shape;545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4" name="Google Shape;584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3" name="Google Shape;623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59" name="Google Shape;659;p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7" name="Google Shape;687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.png"/><Relationship Id="rId8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9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image" Target="../media/image11.png"/><Relationship Id="rId8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1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2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3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3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2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Relationship Id="rId4" Type="http://schemas.openxmlformats.org/officeDocument/2006/relationships/image" Target="../media/image2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3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2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4" Type="http://schemas.openxmlformats.org/officeDocument/2006/relationships/image" Target="../media/image2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Relationship Id="rId4" Type="http://schemas.openxmlformats.org/officeDocument/2006/relationships/image" Target="../media/image30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7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image" Target="../media/image3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9.png"/><Relationship Id="rId4" Type="http://schemas.openxmlformats.org/officeDocument/2006/relationships/image" Target="../media/image15.png"/><Relationship Id="rId5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3076788" y="1750026"/>
            <a:ext cx="5721000" cy="14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rPr>
              <a:t>서울시 미세먼지 대응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050" u="none" cap="none" strike="noStrike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rPr>
              <a:t> 호흡기 건강 예보 서비스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4572000" y="3618098"/>
            <a:ext cx="2730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프로젝트 수행 결과서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4572000" y="4398673"/>
            <a:ext cx="2730600" cy="5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2026/06/23</a:t>
            </a:r>
            <a:endParaRPr b="0" i="0" sz="17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0" i="0" lang="en-US" sz="17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안정현</a:t>
            </a:r>
            <a:endParaRPr b="0" i="0" sz="17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762000" y="2439292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1. 프로젝트 기획서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762000" y="2886967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2. 사용 기술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762000" y="3334642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3. 개발 스케줄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762000" y="3782317"/>
            <a:ext cx="5095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4. 요구사항 분석서 및 기술명세서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762000" y="4229992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5. 화면 설계서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4677667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6. UML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6524625" y="2439292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7. ER Diagram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6524625" y="2886967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8. 프로젝트별 주요 기능 및 소스코드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524625" y="3334642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9. Software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6524625" y="3782317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10. 향후 개발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6524625" y="4229992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11. 프로젝트 수행 소감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571500" y="243929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571500" y="288696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571500" y="333464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571500" y="378231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571500" y="422999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571500" y="467766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6334125" y="243929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6334125" y="288696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6334125" y="333464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6334125" y="378231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6334125" y="422999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목차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4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1" name="Google Shape;12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1차 프로젝트(Python Full Stack &amp; ML) 기획서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571500" y="1182885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기획 의도 (1/2)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571500" y="2632620"/>
            <a:ext cx="49530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서울시 미세먼지 및 초미세먼지는 단순한 환경 오염이 아닌 시민의 건강을 직접적으로 위협하는 </a:t>
            </a:r>
            <a:r>
              <a:rPr b="1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'재난'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수준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571500" y="3794670"/>
            <a:ext cx="49530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단순히 현재의 미세먼지 수치를 경고하는 뉴스나 일기예보를 넘어, 데이터 기반의 </a:t>
            </a:r>
            <a:r>
              <a:rPr b="1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'선제적 대비'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를 가능하게 하는 시스템 필요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7" name="Google Shape;12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084040"/>
            <a:ext cx="5286375" cy="3516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2" name="Google Shape;13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1차 프로젝트(Python Full Stack &amp; ML) 기획서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1182885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기획 의도 (2/2)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762000" y="2757273"/>
            <a:ext cx="50958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미세먼지에 노출된 후 호흡기 질환(폐렴, COPD 등)으로 병원에 입원하기까지는 일정 기간의 발병 시차(Time-Lag)가 존재합니다.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762000" y="3597816"/>
            <a:ext cx="50958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의학적 연구 결과를 토대로, 미세먼지 농도 증가가 1~3일 후 호흡기 환자 수 증가에 미치는 영향을 데이터로 모델링하였습니다.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762000" y="4438358"/>
            <a:ext cx="50958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이를 통해 서울시 구별 호흡기 환자 수를 정확히 예측하여 개인 맞춤형 대비를 지원합니다.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571500" y="2742365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571500" y="3582907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571500" y="4423449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Google Shape;14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43700" y="1335300"/>
            <a:ext cx="4876800" cy="48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7" name="Google Shape;14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7"/>
          <p:cNvSpPr txBox="1"/>
          <p:nvPr/>
        </p:nvSpPr>
        <p:spPr>
          <a:xfrm>
            <a:off x="571500" y="1958280"/>
            <a:ext cx="5286375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머신러닝 기반 다중회귀 예측 모델 구축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571500" y="2514451"/>
            <a:ext cx="5550693" cy="321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71500" y="4369891"/>
            <a:ext cx="5550693" cy="321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762000" y="2979241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자치구별 미세먼지 농도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762000" y="3426916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기온, 인구 구조, 지역내총생산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762000" y="3874591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최근 3일 표준편차, 이동평균, 최댓값/최솟값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762000" y="4834681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자치구별 당일 및 향후 3일(D+1~D+3) 예측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762000" y="5282356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호흡기 환자 수 단계구분도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762000" y="5730031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서울시 자치구별 예측값 시각화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571500" y="2979241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571500" y="342691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571500" y="3874591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571500" y="4834681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571500" y="528235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571500" y="5730031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1차 프로젝트(Python Full Stack &amp; ML) 기획서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571500" y="1182885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개발 목표(1/2)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38124" y="2231274"/>
            <a:ext cx="3572400" cy="3572400"/>
          </a:xfrm>
          <a:prstGeom prst="roundRect">
            <a:avLst>
              <a:gd fmla="val 3810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1" name="Google Shape;17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571500" y="2163067"/>
            <a:ext cx="5286375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Multi-Step 시계열 예측 시스템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571500" y="2719238"/>
            <a:ext cx="5550693" cy="321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핵심 목표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762000" y="3184028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향후 3일(D+0~D+3) 내 개인별 증상 발현 확률 제공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8"/>
          <p:cNvSpPr txBox="1"/>
          <p:nvPr/>
        </p:nvSpPr>
        <p:spPr>
          <a:xfrm>
            <a:off x="762000" y="3631703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향후 3일 환자 수 변화 추이 시각화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762000" y="4079378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급격한 환자 증가 구간의 직관적 시계열 예측 지표 제공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8"/>
          <p:cNvSpPr txBox="1"/>
          <p:nvPr/>
        </p:nvSpPr>
        <p:spPr>
          <a:xfrm>
            <a:off x="571500" y="3184028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8"/>
          <p:cNvSpPr txBox="1"/>
          <p:nvPr/>
        </p:nvSpPr>
        <p:spPr>
          <a:xfrm>
            <a:off x="571500" y="363170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571500" y="4079378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1차 프로젝트(Python Full Stack &amp; ML) 기획서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 txBox="1"/>
          <p:nvPr/>
        </p:nvSpPr>
        <p:spPr>
          <a:xfrm>
            <a:off x="571500" y="1182885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개발 목표(2/2)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3" name="Google Shape;1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17998" y="1913202"/>
            <a:ext cx="3077100" cy="3939000"/>
          </a:xfrm>
          <a:prstGeom prst="roundRect">
            <a:avLst>
              <a:gd fmla="val 3265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9"/>
          <p:cNvSpPr txBox="1"/>
          <p:nvPr/>
        </p:nvSpPr>
        <p:spPr>
          <a:xfrm>
            <a:off x="571500" y="1860202"/>
            <a:ext cx="5550693" cy="321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기획 의도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9"/>
          <p:cNvSpPr txBox="1"/>
          <p:nvPr/>
        </p:nvSpPr>
        <p:spPr>
          <a:xfrm>
            <a:off x="571500" y="4020442"/>
            <a:ext cx="5550693" cy="321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개발 목표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9"/>
          <p:cNvSpPr txBox="1"/>
          <p:nvPr/>
        </p:nvSpPr>
        <p:spPr>
          <a:xfrm>
            <a:off x="762000" y="2324992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보행 환경의 사람, 공, 보행자용 신호등 상태를 영상에서 자동 탐지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9"/>
          <p:cNvSpPr txBox="1"/>
          <p:nvPr/>
        </p:nvSpPr>
        <p:spPr>
          <a:xfrm>
            <a:off x="762000" y="3077467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반복 모니터링의 시간 부담과 주관적 판단 한계 보완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9"/>
          <p:cNvSpPr txBox="1"/>
          <p:nvPr/>
        </p:nvSpPr>
        <p:spPr>
          <a:xfrm>
            <a:off x="762000" y="3525142"/>
            <a:ext cx="50958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보행자용 신호등 빨간불/초록불 상태 판별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762000" y="4485233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YOLOv11n 기반 객체 탐지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762000" y="4932908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OpenCV 영상 프레임 처리 및 탐지 결과 시각화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762000" y="5380583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사람/공 탐지 여부 기반 위험 확률 계산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9"/>
          <p:cNvSpPr txBox="1"/>
          <p:nvPr/>
        </p:nvSpPr>
        <p:spPr>
          <a:xfrm>
            <a:off x="762000" y="5828258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Flask-RESTX 영상 스트림 및 위험 데이터 API 제공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571500" y="232499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571500" y="307746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9"/>
          <p:cNvSpPr txBox="1"/>
          <p:nvPr/>
        </p:nvSpPr>
        <p:spPr>
          <a:xfrm>
            <a:off x="571500" y="352514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9"/>
          <p:cNvSpPr txBox="1"/>
          <p:nvPr/>
        </p:nvSpPr>
        <p:spPr>
          <a:xfrm>
            <a:off x="571500" y="448523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9"/>
          <p:cNvSpPr txBox="1"/>
          <p:nvPr/>
        </p:nvSpPr>
        <p:spPr>
          <a:xfrm>
            <a:off x="571500" y="4932908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9"/>
          <p:cNvSpPr txBox="1"/>
          <p:nvPr/>
        </p:nvSpPr>
        <p:spPr>
          <a:xfrm>
            <a:off x="571500" y="538058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9"/>
          <p:cNvSpPr txBox="1"/>
          <p:nvPr/>
        </p:nvSpPr>
        <p:spPr>
          <a:xfrm>
            <a:off x="571500" y="5828258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9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2차 프로젝트(Computer Vision) 기획서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 txBox="1"/>
          <p:nvPr/>
        </p:nvSpPr>
        <p:spPr>
          <a:xfrm>
            <a:off x="571500" y="1182885"/>
            <a:ext cx="11049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YOLO 기반 보행 환경 객체 탐지 및 위험 상황 분석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8" name="Google Shape;20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298203"/>
            <a:ext cx="5286375" cy="2933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3" name="Google Shape;21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0"/>
          <p:cNvSpPr txBox="1"/>
          <p:nvPr/>
        </p:nvSpPr>
        <p:spPr>
          <a:xfrm>
            <a:off x="571500" y="1860202"/>
            <a:ext cx="5550693" cy="321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기획 의도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0"/>
          <p:cNvSpPr txBox="1"/>
          <p:nvPr/>
        </p:nvSpPr>
        <p:spPr>
          <a:xfrm>
            <a:off x="571500" y="4020442"/>
            <a:ext cx="5550693" cy="321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개발 목표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0"/>
          <p:cNvSpPr txBox="1"/>
          <p:nvPr/>
        </p:nvSpPr>
        <p:spPr>
          <a:xfrm>
            <a:off x="762000" y="2324992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일반 LLM의 게임개발 전문 용어·구현 맥락 한계 보완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762000" y="2772667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Unity 학습자가 한국어로 짧고 정확한 답변을 받는 튜터형 LLM 구축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0"/>
          <p:cNvSpPr txBox="1"/>
          <p:nvPr/>
        </p:nvSpPr>
        <p:spPr>
          <a:xfrm>
            <a:off x="762000" y="3525142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서비스 응답 형식에 맞는 프롬프트와 후처리 구조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0"/>
          <p:cNvSpPr txBox="1"/>
          <p:nvPr/>
        </p:nvSpPr>
        <p:spPr>
          <a:xfrm>
            <a:off x="762000" y="4485233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KoAlpaca 기반 instruction 데이터셋 활용 및 정제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20"/>
          <p:cNvSpPr txBox="1"/>
          <p:nvPr/>
        </p:nvSpPr>
        <p:spPr>
          <a:xfrm>
            <a:off x="762000" y="4932908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전문 지식 데이터와 일반 대화 데이터 혼합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0"/>
          <p:cNvSpPr txBox="1"/>
          <p:nvPr/>
        </p:nvSpPr>
        <p:spPr>
          <a:xfrm>
            <a:off x="762000" y="5380583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Flask-RESTX, MCP, vLLM 연동 추론 API 구현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762000" y="5828258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짧고 정확한 응답 생성을 위한 후처리 로직 구성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0"/>
          <p:cNvSpPr txBox="1"/>
          <p:nvPr/>
        </p:nvSpPr>
        <p:spPr>
          <a:xfrm>
            <a:off x="571500" y="232499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0"/>
          <p:cNvSpPr txBox="1"/>
          <p:nvPr/>
        </p:nvSpPr>
        <p:spPr>
          <a:xfrm>
            <a:off x="571500" y="277266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0"/>
          <p:cNvSpPr txBox="1"/>
          <p:nvPr/>
        </p:nvSpPr>
        <p:spPr>
          <a:xfrm>
            <a:off x="571500" y="352514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0"/>
          <p:cNvSpPr txBox="1"/>
          <p:nvPr/>
        </p:nvSpPr>
        <p:spPr>
          <a:xfrm>
            <a:off x="571500" y="448523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0"/>
          <p:cNvSpPr txBox="1"/>
          <p:nvPr/>
        </p:nvSpPr>
        <p:spPr>
          <a:xfrm>
            <a:off x="571500" y="4932908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0"/>
          <p:cNvSpPr txBox="1"/>
          <p:nvPr/>
        </p:nvSpPr>
        <p:spPr>
          <a:xfrm>
            <a:off x="571500" y="538058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0"/>
          <p:cNvSpPr txBox="1"/>
          <p:nvPr/>
        </p:nvSpPr>
        <p:spPr>
          <a:xfrm>
            <a:off x="571500" y="5828258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0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3차 프로젝트(LLM Fine-Tuning) 기획서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0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 txBox="1"/>
          <p:nvPr/>
        </p:nvSpPr>
        <p:spPr>
          <a:xfrm>
            <a:off x="571500" y="1182885"/>
            <a:ext cx="11049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Unity/GameDev 한국어 LLM 튜터 Fine-Tuning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43700" y="1647875"/>
            <a:ext cx="4876800" cy="48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8" name="Google Shape;23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1"/>
          <p:cNvSpPr txBox="1"/>
          <p:nvPr/>
        </p:nvSpPr>
        <p:spPr>
          <a:xfrm>
            <a:off x="742950" y="573450"/>
            <a:ext cx="73851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사용 기술 목록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571500" y="573443"/>
            <a:ext cx="57300" cy="4209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1" name="Google Shape;241;p21"/>
          <p:cNvGrpSpPr/>
          <p:nvPr/>
        </p:nvGrpSpPr>
        <p:grpSpPr>
          <a:xfrm>
            <a:off x="8096250" y="1333500"/>
            <a:ext cx="3524400" cy="4953000"/>
            <a:chOff x="8096250" y="1333500"/>
            <a:chExt cx="3524400" cy="4953000"/>
          </a:xfrm>
        </p:grpSpPr>
        <p:sp>
          <p:nvSpPr>
            <p:cNvPr id="242" name="Google Shape;242;p21"/>
            <p:cNvSpPr/>
            <p:nvPr/>
          </p:nvSpPr>
          <p:spPr>
            <a:xfrm>
              <a:off x="8096250" y="1333500"/>
              <a:ext cx="3524400" cy="4953000"/>
            </a:xfrm>
            <a:prstGeom prst="roundRect">
              <a:avLst>
                <a:gd fmla="val 405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21"/>
            <p:cNvSpPr txBox="1"/>
            <p:nvPr/>
          </p:nvSpPr>
          <p:spPr>
            <a:xfrm>
              <a:off x="8286750" y="2381250"/>
              <a:ext cx="3143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LLM &amp; Infra / Tools</a:t>
              </a:r>
              <a:endParaRPr b="1" i="0" sz="1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21"/>
            <p:cNvSpPr txBox="1"/>
            <p:nvPr/>
          </p:nvSpPr>
          <p:spPr>
            <a:xfrm>
              <a:off x="8286750" y="2857500"/>
              <a:ext cx="31434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[LLM Serving]</a:t>
              </a:r>
              <a:endParaRPr b="1" i="0" sz="13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vLLM 0.8.5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FastMCP 1.9.4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Hugging Face datasets 4.8.5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torch 2.4.1+cu124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[Database &amp; Tools]</a:t>
              </a:r>
              <a:endParaRPr b="1" i="0" sz="13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Oracle DB 11g XE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SQLAlchemy 2.0.21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roboflow 1.3.3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albumentations 2.0.8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sahi 0.11.36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45" name="Google Shape;245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9477375" y="1524000"/>
              <a:ext cx="762000" cy="762000"/>
            </a:xfrm>
            <a:prstGeom prst="ellipse">
              <a:avLst/>
            </a:prstGeom>
            <a:noFill/>
            <a:ln>
              <a:noFill/>
            </a:ln>
          </p:spPr>
        </p:pic>
      </p:grpSp>
      <p:grpSp>
        <p:nvGrpSpPr>
          <p:cNvPr id="246" name="Google Shape;246;p21"/>
          <p:cNvGrpSpPr/>
          <p:nvPr/>
        </p:nvGrpSpPr>
        <p:grpSpPr>
          <a:xfrm>
            <a:off x="4333875" y="1333500"/>
            <a:ext cx="3524400" cy="4953000"/>
            <a:chOff x="4333875" y="1333500"/>
            <a:chExt cx="3524400" cy="4953000"/>
          </a:xfrm>
        </p:grpSpPr>
        <p:sp>
          <p:nvSpPr>
            <p:cNvPr id="247" name="Google Shape;247;p21"/>
            <p:cNvSpPr/>
            <p:nvPr/>
          </p:nvSpPr>
          <p:spPr>
            <a:xfrm>
              <a:off x="4333875" y="1333500"/>
              <a:ext cx="3524400" cy="4953000"/>
            </a:xfrm>
            <a:prstGeom prst="roundRect">
              <a:avLst>
                <a:gd fmla="val 405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21"/>
            <p:cNvSpPr txBox="1"/>
            <p:nvPr/>
          </p:nvSpPr>
          <p:spPr>
            <a:xfrm>
              <a:off x="4524375" y="2381250"/>
              <a:ext cx="3143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Vision &amp; Machine Learning</a:t>
              </a:r>
              <a:endParaRPr b="1" i="0" sz="1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21"/>
            <p:cNvSpPr txBox="1"/>
            <p:nvPr/>
          </p:nvSpPr>
          <p:spPr>
            <a:xfrm>
              <a:off x="4524375" y="2857500"/>
              <a:ext cx="31434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[Vision &amp; Hardware]</a:t>
              </a:r>
              <a:endParaRPr b="1" i="0" sz="13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ultralytics 8.4.42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OpenCV 4.13.0.92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OpenVINO 2024.6.0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CUDA 12.4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GPU RTX 4090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[Data &amp; Modeling]</a:t>
              </a:r>
              <a:endParaRPr b="1" i="0" sz="13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scikit-learn 1.8.0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XGBoost 3.2.0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LightGBM 4.6.0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pandas 3.0.1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numpy 2.4.3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50" name="Google Shape;250;p2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715000" y="1524000"/>
              <a:ext cx="762000" cy="762000"/>
            </a:xfrm>
            <a:prstGeom prst="ellipse">
              <a:avLst/>
            </a:prstGeom>
            <a:noFill/>
            <a:ln>
              <a:noFill/>
            </a:ln>
          </p:spPr>
        </p:pic>
      </p:grpSp>
      <p:grpSp>
        <p:nvGrpSpPr>
          <p:cNvPr id="251" name="Google Shape;251;p21"/>
          <p:cNvGrpSpPr/>
          <p:nvPr/>
        </p:nvGrpSpPr>
        <p:grpSpPr>
          <a:xfrm>
            <a:off x="571500" y="1333500"/>
            <a:ext cx="3524400" cy="4953000"/>
            <a:chOff x="571500" y="1333500"/>
            <a:chExt cx="3524400" cy="4953000"/>
          </a:xfrm>
        </p:grpSpPr>
        <p:sp>
          <p:nvSpPr>
            <p:cNvPr id="252" name="Google Shape;252;p21"/>
            <p:cNvSpPr/>
            <p:nvPr/>
          </p:nvSpPr>
          <p:spPr>
            <a:xfrm>
              <a:off x="571500" y="1333500"/>
              <a:ext cx="3524400" cy="4953000"/>
            </a:xfrm>
            <a:prstGeom prst="roundRect">
              <a:avLst>
                <a:gd fmla="val 405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21"/>
            <p:cNvSpPr txBox="1"/>
            <p:nvPr/>
          </p:nvSpPr>
          <p:spPr>
            <a:xfrm>
              <a:off x="762000" y="2381250"/>
              <a:ext cx="3143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Web &amp; API Frameworks</a:t>
              </a:r>
              <a:endParaRPr b="1" i="0" sz="1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21"/>
            <p:cNvSpPr txBox="1"/>
            <p:nvPr/>
          </p:nvSpPr>
          <p:spPr>
            <a:xfrm>
              <a:off x="762000" y="2857500"/>
              <a:ext cx="31434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[Frameworks]</a:t>
              </a:r>
              <a:endParaRPr b="1" i="0" sz="13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Python 3.11.9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Flask 3.0.3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Flask-RESTX 1.3.0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Flask-CORS 4.0.1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Werkzeug 3.1.6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Jinja2 3.1.6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[Communication &amp; UI]</a:t>
              </a:r>
              <a:endParaRPr b="1" i="0" sz="13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requests 2.33.0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Bootstrap 5.3.8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jQuery 3.5.1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11150" lvl="0" marL="45720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1E293B"/>
                </a:buClr>
                <a:buSzPts val="1300"/>
                <a:buFont typeface="Arial"/>
                <a:buChar char="●"/>
              </a:pPr>
              <a:r>
                <a:rPr b="0" i="0" lang="en-US" sz="13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python-dotenv 1.2.2</a:t>
              </a:r>
              <a:endParaRPr b="0" i="0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55" name="Google Shape;255;p2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952625" y="1524000"/>
              <a:ext cx="762000" cy="762000"/>
            </a:xfrm>
            <a:prstGeom prst="ellipse">
              <a:avLst/>
            </a:prstGeom>
            <a:noFill/>
            <a:ln>
              <a:noFill/>
            </a:ln>
          </p:spPr>
        </p:pic>
      </p:grpSp>
      <p:pic>
        <p:nvPicPr>
          <p:cNvPr descr="image.png" id="256" name="Google Shape;256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162250" y="1741157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911113" y="1741157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686999" y="1741157"/>
            <a:ext cx="342900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3" name="Google Shape;26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2"/>
          <p:cNvGrpSpPr/>
          <p:nvPr/>
        </p:nvGrpSpPr>
        <p:grpSpPr>
          <a:xfrm>
            <a:off x="4333800" y="1333500"/>
            <a:ext cx="3524400" cy="4953000"/>
            <a:chOff x="571500" y="1333500"/>
            <a:chExt cx="3524400" cy="4953000"/>
          </a:xfrm>
        </p:grpSpPr>
        <p:sp>
          <p:nvSpPr>
            <p:cNvPr id="265" name="Google Shape;265;p22"/>
            <p:cNvSpPr/>
            <p:nvPr/>
          </p:nvSpPr>
          <p:spPr>
            <a:xfrm>
              <a:off x="571500" y="1333500"/>
              <a:ext cx="3524400" cy="4953000"/>
            </a:xfrm>
            <a:prstGeom prst="roundRect">
              <a:avLst>
                <a:gd fmla="val 405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22"/>
            <p:cNvSpPr txBox="1"/>
            <p:nvPr/>
          </p:nvSpPr>
          <p:spPr>
            <a:xfrm>
              <a:off x="761999" y="2844146"/>
              <a:ext cx="3143400" cy="3429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[ML / Modeling]</a:t>
              </a:r>
              <a:endParaRPr b="1" i="0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RandomForest / XGB / LGBM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MultiOutput / Multi-Step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Train/Test Split, R2, MAE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StandardScaler, Time-Lag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pandas, numpy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[Computer Vision]</a:t>
              </a:r>
              <a:endParaRPr b="1" i="0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Ultralytics YOLO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OpenCV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Object Detection &amp; Bounding Box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Frame Processing, roboflow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20000"/>
                </a:lnSpc>
                <a:spcBef>
                  <a:spcPts val="375"/>
                </a:spcBef>
                <a:spcAft>
                  <a:spcPts val="375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OpenVINO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" name="Google Shape;267;p22"/>
          <p:cNvGrpSpPr/>
          <p:nvPr/>
        </p:nvGrpSpPr>
        <p:grpSpPr>
          <a:xfrm>
            <a:off x="571350" y="1333500"/>
            <a:ext cx="3524400" cy="5107553"/>
            <a:chOff x="4333875" y="1333500"/>
            <a:chExt cx="3524400" cy="5107553"/>
          </a:xfrm>
        </p:grpSpPr>
        <p:sp>
          <p:nvSpPr>
            <p:cNvPr id="268" name="Google Shape;268;p22"/>
            <p:cNvSpPr/>
            <p:nvPr/>
          </p:nvSpPr>
          <p:spPr>
            <a:xfrm>
              <a:off x="4333875" y="1333500"/>
              <a:ext cx="3524400" cy="4953000"/>
            </a:xfrm>
            <a:prstGeom prst="roundRect">
              <a:avLst>
                <a:gd fmla="val 405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2"/>
            <p:cNvSpPr txBox="1"/>
            <p:nvPr/>
          </p:nvSpPr>
          <p:spPr>
            <a:xfrm>
              <a:off x="4524375" y="2821553"/>
              <a:ext cx="3143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[Backend &amp; Database]</a:t>
              </a:r>
              <a:endParaRPr b="1" i="0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Flask, Flask-RESTX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Swagger UI, JSON Response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Oracle DB, SQLAlchemy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python-dotenv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[Streaming &amp; Logic]</a:t>
              </a:r>
              <a:endParaRPr b="1" i="0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MJPEG Streaming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Risk Probability Logic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try / except logic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15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csv / json / pkl handling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0" name="Google Shape;270;p22"/>
          <p:cNvGrpSpPr/>
          <p:nvPr/>
        </p:nvGrpSpPr>
        <p:grpSpPr>
          <a:xfrm>
            <a:off x="8096250" y="1333500"/>
            <a:ext cx="3524400" cy="4953000"/>
            <a:chOff x="8096250" y="1333500"/>
            <a:chExt cx="3524400" cy="4953000"/>
          </a:xfrm>
        </p:grpSpPr>
        <p:sp>
          <p:nvSpPr>
            <p:cNvPr id="271" name="Google Shape;271;p22"/>
            <p:cNvSpPr/>
            <p:nvPr/>
          </p:nvSpPr>
          <p:spPr>
            <a:xfrm>
              <a:off x="8096250" y="1333500"/>
              <a:ext cx="3524400" cy="4953000"/>
            </a:xfrm>
            <a:prstGeom prst="roundRect">
              <a:avLst>
                <a:gd fmla="val 405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22"/>
            <p:cNvSpPr txBox="1"/>
            <p:nvPr/>
          </p:nvSpPr>
          <p:spPr>
            <a:xfrm>
              <a:off x="8286600" y="2190751"/>
              <a:ext cx="31434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LLM &amp; Prompt Engineering</a:t>
              </a:r>
              <a:endParaRPr b="1" i="0" sz="1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22"/>
            <p:cNvSpPr txBox="1"/>
            <p:nvPr/>
          </p:nvSpPr>
          <p:spPr>
            <a:xfrm>
              <a:off x="8286600" y="2844425"/>
              <a:ext cx="3143400" cy="291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[LLM Fine-Tuning]</a:t>
              </a:r>
              <a:endParaRPr b="1" i="0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5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LLM Fine-Tuning (vLLM)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5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Instruction / JSONL Dataset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5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KoAlpaca Model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5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Model Serving &amp; Inference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50000"/>
                </a:lnSpc>
                <a:spcBef>
                  <a:spcPts val="525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[Agent &amp; Prompting]</a:t>
              </a:r>
              <a:endParaRPr b="1" i="0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5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MCP Tool Calling (FastMCP)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5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Prompt Engineering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5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Stop Sequence, Postprocessing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04800" lvl="0" marL="457200" marR="0" rtl="0" algn="l">
                <a:lnSpc>
                  <a:spcPct val="15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475569"/>
                </a:buClr>
                <a:buSzPts val="1200"/>
                <a:buFont typeface="Arial"/>
                <a:buChar char="●"/>
              </a:pPr>
              <a:r>
                <a:rPr b="0" i="0" lang="en-US" sz="1200" u="none" cap="none" strike="noStrike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Answer Refinement Logic</a:t>
              </a:r>
              <a:endParaRPr b="0" i="0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4" name="Google Shape;274;p22"/>
          <p:cNvSpPr txBox="1"/>
          <p:nvPr/>
        </p:nvSpPr>
        <p:spPr>
          <a:xfrm>
            <a:off x="742950" y="573450"/>
            <a:ext cx="73851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사용 기술 경험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571500" y="573443"/>
            <a:ext cx="57300" cy="4209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" name="Google Shape;27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52625" y="1524000"/>
            <a:ext cx="762000" cy="76200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image.png" id="277" name="Google Shape;277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162250" y="1741157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2"/>
          <p:cNvSpPr txBox="1"/>
          <p:nvPr/>
        </p:nvSpPr>
        <p:spPr>
          <a:xfrm>
            <a:off x="762000" y="2381250"/>
            <a:ext cx="3143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Web &amp; API Frameworks</a:t>
            </a:r>
            <a:endParaRPr b="1" i="0" sz="1800" u="none" cap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2"/>
          <p:cNvSpPr txBox="1"/>
          <p:nvPr/>
        </p:nvSpPr>
        <p:spPr>
          <a:xfrm>
            <a:off x="4524375" y="2381250"/>
            <a:ext cx="3143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Vision &amp; Machine Learning</a:t>
            </a:r>
            <a:endParaRPr b="1" i="0" sz="1800" u="none" cap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0" name="Google Shape;280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0" y="1524000"/>
            <a:ext cx="762000" cy="76200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image.png" id="281" name="Google Shape;281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911113" y="1741157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477375" y="1524000"/>
            <a:ext cx="762000" cy="76200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image.png" id="283" name="Google Shape;283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686999" y="1741157"/>
            <a:ext cx="342900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8" name="Google Shape;28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3"/>
          <p:cNvSpPr txBox="1"/>
          <p:nvPr/>
        </p:nvSpPr>
        <p:spPr>
          <a:xfrm>
            <a:off x="742950" y="408682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개발 스케줄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3"/>
          <p:cNvSpPr/>
          <p:nvPr/>
        </p:nvSpPr>
        <p:spPr>
          <a:xfrm>
            <a:off x="571500" y="408682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3"/>
          <p:cNvSpPr txBox="1"/>
          <p:nvPr/>
        </p:nvSpPr>
        <p:spPr>
          <a:xfrm>
            <a:off x="571500" y="915154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1차 프로젝트(Python Full Stack &amp; ML)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2" name="Google Shape;29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918" y="1330495"/>
            <a:ext cx="11016159" cy="5326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7" name="Google Shape;29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4"/>
          <p:cNvSpPr txBox="1"/>
          <p:nvPr/>
        </p:nvSpPr>
        <p:spPr>
          <a:xfrm>
            <a:off x="742950" y="408682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개발 스케줄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4"/>
          <p:cNvSpPr/>
          <p:nvPr/>
        </p:nvSpPr>
        <p:spPr>
          <a:xfrm>
            <a:off x="571500" y="408682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4"/>
          <p:cNvSpPr txBox="1"/>
          <p:nvPr/>
        </p:nvSpPr>
        <p:spPr>
          <a:xfrm>
            <a:off x="571500" y="1098886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2차 프로젝트(Computer Vision)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스크린샷, 번호, 폰트이(가) 표시된 사진&#10;&#10;AI 생성 콘텐츠는 정확하지 않을 수 있습니다." id="301" name="Google Shape;30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1206" y="1610935"/>
            <a:ext cx="11009585" cy="43325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6" name="Google Shape;30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5"/>
          <p:cNvSpPr txBox="1"/>
          <p:nvPr/>
        </p:nvSpPr>
        <p:spPr>
          <a:xfrm>
            <a:off x="742950" y="408682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개발 스케줄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5"/>
          <p:cNvSpPr/>
          <p:nvPr/>
        </p:nvSpPr>
        <p:spPr>
          <a:xfrm>
            <a:off x="571500" y="408682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5"/>
          <p:cNvSpPr txBox="1"/>
          <p:nvPr/>
        </p:nvSpPr>
        <p:spPr>
          <a:xfrm>
            <a:off x="571500" y="1115317"/>
            <a:ext cx="11049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 프로젝트(LLM Fine-Tuning)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스크린샷, 번호, 폰트이(가) 표시된 사진&#10;&#10;AI 생성 콘텐츠는 정확하지 않을 수 있습니다." id="310" name="Google Shape;310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1207" y="1621122"/>
            <a:ext cx="11003020" cy="43120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5" name="Google Shape;31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6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요구사항 분석서(1/3)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26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6"/>
          <p:cNvSpPr txBox="1"/>
          <p:nvPr/>
        </p:nvSpPr>
        <p:spPr>
          <a:xfrm>
            <a:off x="571500" y="1115317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 프로젝트(LLM Fine-Tuning)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9" name="Google Shape;319;p26" title="3차 요구사항분석서1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17538" y="1511675"/>
            <a:ext cx="8756927" cy="51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4" name="Google Shape;32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7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요구사항 분석서(2/3)</a:t>
            </a:r>
            <a:endParaRPr b="1" i="0" sz="25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27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7"/>
          <p:cNvSpPr txBox="1"/>
          <p:nvPr/>
        </p:nvSpPr>
        <p:spPr>
          <a:xfrm>
            <a:off x="571500" y="1115317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 프로젝트(LLM Fine-Tuning)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8" name="Google Shape;328;p27" title="3차 요구사항분석서2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90712" y="1547294"/>
            <a:ext cx="8125775" cy="5261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3" name="Google Shape;33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8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요구사항 분석서(3/3)</a:t>
            </a:r>
            <a:endParaRPr b="1" i="0" sz="25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28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8"/>
          <p:cNvSpPr txBox="1"/>
          <p:nvPr/>
        </p:nvSpPr>
        <p:spPr>
          <a:xfrm>
            <a:off x="571500" y="1115317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 프로젝트(LLM Fine-Tuning)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7" name="Google Shape;337;p28" title="3차 요구사항분석서3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79913" y="1547275"/>
            <a:ext cx="7032176" cy="526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2" name="Google Shape;34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29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기술 명세서(1/3)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9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9"/>
          <p:cNvSpPr txBox="1"/>
          <p:nvPr/>
        </p:nvSpPr>
        <p:spPr>
          <a:xfrm>
            <a:off x="571500" y="1115317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 프로젝트(LLM Fine-Tuning)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6" name="Google Shape;346;p29"/>
          <p:cNvPicPr preferRelativeResize="0"/>
          <p:nvPr/>
        </p:nvPicPr>
        <p:blipFill rotWithShape="1">
          <a:blip r:embed="rId4">
            <a:alphaModFix/>
          </a:blip>
          <a:srcRect b="17342" l="0" r="0" t="27075"/>
          <a:stretch/>
        </p:blipFill>
        <p:spPr>
          <a:xfrm>
            <a:off x="0" y="1856725"/>
            <a:ext cx="12192000" cy="3812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1" name="Google Shape;35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0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기술 명세서(2/3)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30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0"/>
          <p:cNvSpPr txBox="1"/>
          <p:nvPr/>
        </p:nvSpPr>
        <p:spPr>
          <a:xfrm>
            <a:off x="571500" y="1033161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 프로젝트(LLM Fine-Tuning)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5" name="Google Shape;355;p30"/>
          <p:cNvPicPr preferRelativeResize="0"/>
          <p:nvPr/>
        </p:nvPicPr>
        <p:blipFill rotWithShape="1">
          <a:blip r:embed="rId4">
            <a:alphaModFix/>
          </a:blip>
          <a:srcRect b="3207" l="0" r="0" t="19135"/>
          <a:stretch/>
        </p:blipFill>
        <p:spPr>
          <a:xfrm>
            <a:off x="0" y="1418066"/>
            <a:ext cx="12192000" cy="5325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0" name="Google Shape;36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31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기술 명세서(3/3)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31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1"/>
          <p:cNvSpPr txBox="1"/>
          <p:nvPr/>
        </p:nvSpPr>
        <p:spPr>
          <a:xfrm>
            <a:off x="571500" y="1033161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 프로젝트(LLM Fine-Tuning)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4" name="Google Shape;364;p31"/>
          <p:cNvPicPr preferRelativeResize="0"/>
          <p:nvPr/>
        </p:nvPicPr>
        <p:blipFill rotWithShape="1">
          <a:blip r:embed="rId4">
            <a:alphaModFix/>
          </a:blip>
          <a:srcRect b="2777" l="0" r="0" t="19445"/>
          <a:stretch/>
        </p:blipFill>
        <p:spPr>
          <a:xfrm>
            <a:off x="0" y="1425416"/>
            <a:ext cx="12192000" cy="533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9" name="Google Shape;369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32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화면 설계서 (1/2)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32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텍스트, 스크린샷, 디스플레이, 소프트웨어이(가) 표시된 사진&#10;&#10;AI 생성 콘텐츠는 정확하지 않을 수 있습니다." id="372" name="Google Shape;372;p32"/>
          <p:cNvPicPr preferRelativeResize="0"/>
          <p:nvPr/>
        </p:nvPicPr>
        <p:blipFill rotWithShape="1">
          <a:blip r:embed="rId4">
            <a:alphaModFix/>
          </a:blip>
          <a:srcRect b="7929" l="141" r="-562" t="5700"/>
          <a:stretch/>
        </p:blipFill>
        <p:spPr>
          <a:xfrm>
            <a:off x="593209" y="972476"/>
            <a:ext cx="10968900" cy="5865300"/>
          </a:xfrm>
          <a:prstGeom prst="roundRect">
            <a:avLst>
              <a:gd fmla="val 1584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7" name="Google Shape;37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3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화면 설계서 (2/2)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33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텍스트, 스크린샷, 소프트웨어, 컴퓨터 아이콘이(가) 표시된 사진&#10;&#10;AI 생성 콘텐츠는 정확하지 않을 수 있습니다." id="380" name="Google Shape;380;p33"/>
          <p:cNvPicPr preferRelativeResize="0"/>
          <p:nvPr/>
        </p:nvPicPr>
        <p:blipFill rotWithShape="1">
          <a:blip r:embed="rId4">
            <a:alphaModFix/>
          </a:blip>
          <a:srcRect b="4990" l="0" r="60" t="5908"/>
          <a:stretch/>
        </p:blipFill>
        <p:spPr>
          <a:xfrm>
            <a:off x="809100" y="897129"/>
            <a:ext cx="10573800" cy="5931300"/>
          </a:xfrm>
          <a:prstGeom prst="roundRect">
            <a:avLst>
              <a:gd fmla="val 1584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85" name="Google Shape;38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34"/>
          <p:cNvSpPr txBox="1"/>
          <p:nvPr/>
        </p:nvSpPr>
        <p:spPr>
          <a:xfrm>
            <a:off x="742950" y="427732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UML: Use Case Diagram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34"/>
          <p:cNvSpPr/>
          <p:nvPr/>
        </p:nvSpPr>
        <p:spPr>
          <a:xfrm>
            <a:off x="571500" y="427732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8" name="Google Shape;388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8152" y="1064175"/>
            <a:ext cx="10115700" cy="5690100"/>
          </a:xfrm>
          <a:prstGeom prst="roundRect">
            <a:avLst>
              <a:gd fmla="val 1600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3" name="Google Shape;393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5"/>
          <p:cNvSpPr txBox="1"/>
          <p:nvPr/>
        </p:nvSpPr>
        <p:spPr>
          <a:xfrm>
            <a:off x="742950" y="427732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UML: Sequence Diagram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35"/>
          <p:cNvSpPr/>
          <p:nvPr/>
        </p:nvSpPr>
        <p:spPr>
          <a:xfrm>
            <a:off x="571500" y="427732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6" name="Google Shape;396;p35"/>
          <p:cNvPicPr preferRelativeResize="0"/>
          <p:nvPr/>
        </p:nvPicPr>
        <p:blipFill rotWithShape="1">
          <a:blip r:embed="rId4">
            <a:alphaModFix/>
          </a:blip>
          <a:srcRect b="0" l="0" r="0" t="4379"/>
          <a:stretch/>
        </p:blipFill>
        <p:spPr>
          <a:xfrm>
            <a:off x="683400" y="969450"/>
            <a:ext cx="10825200" cy="5822700"/>
          </a:xfrm>
          <a:prstGeom prst="roundRect">
            <a:avLst>
              <a:gd fmla="val 1600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01" name="Google Shape;40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36"/>
          <p:cNvSpPr txBox="1"/>
          <p:nvPr/>
        </p:nvSpPr>
        <p:spPr>
          <a:xfrm>
            <a:off x="742950" y="427732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UML: Class Diagram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36"/>
          <p:cNvSpPr/>
          <p:nvPr/>
        </p:nvSpPr>
        <p:spPr>
          <a:xfrm>
            <a:off x="571500" y="427732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4" name="Google Shape;40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500" y="820125"/>
            <a:ext cx="10683000" cy="6009300"/>
          </a:xfrm>
          <a:prstGeom prst="roundRect">
            <a:avLst>
              <a:gd fmla="val 1600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09" name="Google Shape;40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37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ER Diagram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37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2" name="Google Shape;412;p37" title="Relational_1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5288" y="880704"/>
            <a:ext cx="11421424" cy="59888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7" name="Google Shape;417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38"/>
          <p:cNvSpPr txBox="1"/>
          <p:nvPr/>
        </p:nvSpPr>
        <p:spPr>
          <a:xfrm>
            <a:off x="6572250" y="2039242"/>
            <a:ext cx="2574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8"/>
          <p:cNvSpPr txBox="1"/>
          <p:nvPr/>
        </p:nvSpPr>
        <p:spPr>
          <a:xfrm>
            <a:off x="6915447" y="2039242"/>
            <a:ext cx="12003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1AFEF"/>
                </a:solidFill>
                <a:latin typeface="Consolas"/>
                <a:ea typeface="Consolas"/>
                <a:cs typeface="Consolas"/>
                <a:sym typeface="Consolas"/>
              </a:rPr>
              <a:t>calculate_risk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38"/>
          <p:cNvSpPr txBox="1"/>
          <p:nvPr/>
        </p:nvSpPr>
        <p:spPr>
          <a:xfrm>
            <a:off x="6915298" y="2267842"/>
            <a:ext cx="30864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1" lang="en-US" sz="1125" u="none" cap="none" strike="noStrik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"""객체 탐지 결과에 기반한 위험도 산출"""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38"/>
          <p:cNvSpPr txBox="1"/>
          <p:nvPr/>
        </p:nvSpPr>
        <p:spPr>
          <a:xfrm>
            <a:off x="8029872" y="2496442"/>
            <a:ext cx="428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False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38"/>
          <p:cNvSpPr txBox="1"/>
          <p:nvPr/>
        </p:nvSpPr>
        <p:spPr>
          <a:xfrm>
            <a:off x="7858422" y="2725042"/>
            <a:ext cx="428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False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38"/>
          <p:cNvSpPr txBox="1"/>
          <p:nvPr/>
        </p:nvSpPr>
        <p:spPr>
          <a:xfrm>
            <a:off x="6915298" y="3182242"/>
            <a:ext cx="2574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38"/>
          <p:cNvSpPr txBox="1"/>
          <p:nvPr/>
        </p:nvSpPr>
        <p:spPr>
          <a:xfrm>
            <a:off x="7429946" y="3182242"/>
            <a:ext cx="1716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8"/>
          <p:cNvSpPr txBox="1"/>
          <p:nvPr/>
        </p:nvSpPr>
        <p:spPr>
          <a:xfrm>
            <a:off x="7258198" y="3410842"/>
            <a:ext cx="2574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38"/>
          <p:cNvSpPr txBox="1"/>
          <p:nvPr/>
        </p:nvSpPr>
        <p:spPr>
          <a:xfrm>
            <a:off x="7944296" y="3410842"/>
            <a:ext cx="1716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38"/>
          <p:cNvSpPr txBox="1"/>
          <p:nvPr/>
        </p:nvSpPr>
        <p:spPr>
          <a:xfrm>
            <a:off x="9573220" y="3639442"/>
            <a:ext cx="2574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8"/>
          <p:cNvSpPr txBox="1"/>
          <p:nvPr/>
        </p:nvSpPr>
        <p:spPr>
          <a:xfrm>
            <a:off x="10602217" y="3639442"/>
            <a:ext cx="858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38"/>
          <p:cNvSpPr txBox="1"/>
          <p:nvPr/>
        </p:nvSpPr>
        <p:spPr>
          <a:xfrm>
            <a:off x="7601247" y="3868042"/>
            <a:ext cx="1716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38"/>
          <p:cNvSpPr txBox="1"/>
          <p:nvPr/>
        </p:nvSpPr>
        <p:spPr>
          <a:xfrm>
            <a:off x="8887569" y="3868042"/>
            <a:ext cx="6858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'person'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38"/>
          <p:cNvSpPr txBox="1"/>
          <p:nvPr/>
        </p:nvSpPr>
        <p:spPr>
          <a:xfrm>
            <a:off x="9058721" y="4096642"/>
            <a:ext cx="3429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True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38"/>
          <p:cNvSpPr txBox="1"/>
          <p:nvPr/>
        </p:nvSpPr>
        <p:spPr>
          <a:xfrm>
            <a:off x="7601247" y="4325242"/>
            <a:ext cx="3429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elif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38"/>
          <p:cNvSpPr txBox="1"/>
          <p:nvPr/>
        </p:nvSpPr>
        <p:spPr>
          <a:xfrm>
            <a:off x="9059019" y="4325242"/>
            <a:ext cx="11148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'sports_ball'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38"/>
          <p:cNvSpPr txBox="1"/>
          <p:nvPr/>
        </p:nvSpPr>
        <p:spPr>
          <a:xfrm>
            <a:off x="8887271" y="4553842"/>
            <a:ext cx="3429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True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38"/>
          <p:cNvSpPr txBox="1"/>
          <p:nvPr/>
        </p:nvSpPr>
        <p:spPr>
          <a:xfrm>
            <a:off x="6915298" y="5011042"/>
            <a:ext cx="5145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if not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38"/>
          <p:cNvSpPr txBox="1"/>
          <p:nvPr/>
        </p:nvSpPr>
        <p:spPr>
          <a:xfrm>
            <a:off x="7258198" y="5239642"/>
            <a:ext cx="5145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38"/>
          <p:cNvSpPr txBox="1"/>
          <p:nvPr/>
        </p:nvSpPr>
        <p:spPr>
          <a:xfrm>
            <a:off x="7858571" y="5239642"/>
            <a:ext cx="2574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0.0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38"/>
          <p:cNvSpPr txBox="1"/>
          <p:nvPr/>
        </p:nvSpPr>
        <p:spPr>
          <a:xfrm>
            <a:off x="8029872" y="5696842"/>
            <a:ext cx="2574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0.1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38"/>
          <p:cNvSpPr txBox="1"/>
          <p:nvPr/>
        </p:nvSpPr>
        <p:spPr>
          <a:xfrm>
            <a:off x="8801695" y="5696842"/>
            <a:ext cx="7716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1" lang="en-US" sz="1125" u="none" cap="none" strike="noStrik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# P(Risk)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38"/>
          <p:cNvSpPr txBox="1"/>
          <p:nvPr/>
        </p:nvSpPr>
        <p:spPr>
          <a:xfrm>
            <a:off x="8458646" y="5925442"/>
            <a:ext cx="2574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0.8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38"/>
          <p:cNvSpPr txBox="1"/>
          <p:nvPr/>
        </p:nvSpPr>
        <p:spPr>
          <a:xfrm>
            <a:off x="8801844" y="5925442"/>
            <a:ext cx="12003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1" lang="en-US" sz="1125" u="none" cap="none" strike="noStrik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# P(Ball|Risk)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38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프로젝트별 주요 기능 및 소스코드 (1/5)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38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38"/>
          <p:cNvSpPr txBox="1"/>
          <p:nvPr/>
        </p:nvSpPr>
        <p:spPr>
          <a:xfrm>
            <a:off x="571500" y="1182885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2차(Computer Vision) - YOLO 객체 탐지 기반 위험도 산출 로직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38"/>
          <p:cNvSpPr txBox="1"/>
          <p:nvPr/>
        </p:nvSpPr>
        <p:spPr>
          <a:xfrm>
            <a:off x="571500" y="2646896"/>
            <a:ext cx="5258400" cy="21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YOLOv11을 통해 프레임 내 존재하는 객체의 클래스 식별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person(사람)과 sports_ball(공)의 동시 탐지 여부 추출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사람이 없는 환경은 위험도 0.0으로 즉시 반환하여 연산 최적화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탐지 결과에 베이즈 정리(Bayes' Theorem)를 적용하여 최종 돌발 위험 확률 산출 구조 마련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0" name="Google Shape;45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39"/>
          <p:cNvSpPr txBox="1"/>
          <p:nvPr/>
        </p:nvSpPr>
        <p:spPr>
          <a:xfrm>
            <a:off x="5723334" y="2153542"/>
            <a:ext cx="202912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1" lang="en-US" sz="1125" u="none" cap="none" strike="noStrik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# --- 영상 처리 생성기 ---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39"/>
          <p:cNvSpPr txBox="1"/>
          <p:nvPr/>
        </p:nvSpPr>
        <p:spPr>
          <a:xfrm>
            <a:off x="5723334" y="2382142"/>
            <a:ext cx="2573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39"/>
          <p:cNvSpPr txBox="1"/>
          <p:nvPr/>
        </p:nvSpPr>
        <p:spPr>
          <a:xfrm>
            <a:off x="6066532" y="2382142"/>
            <a:ext cx="128617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1AFEF"/>
                </a:solidFill>
                <a:latin typeface="Consolas"/>
                <a:ea typeface="Consolas"/>
                <a:cs typeface="Consolas"/>
                <a:sym typeface="Consolas"/>
              </a:rPr>
              <a:t>generate_frames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39"/>
          <p:cNvSpPr txBox="1"/>
          <p:nvPr/>
        </p:nvSpPr>
        <p:spPr>
          <a:xfrm>
            <a:off x="8038355" y="2610742"/>
            <a:ext cx="128617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"clip_ball.mp4"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39"/>
          <p:cNvSpPr txBox="1"/>
          <p:nvPr/>
        </p:nvSpPr>
        <p:spPr>
          <a:xfrm>
            <a:off x="6066383" y="2839342"/>
            <a:ext cx="8573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while True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39"/>
          <p:cNvSpPr txBox="1"/>
          <p:nvPr/>
        </p:nvSpPr>
        <p:spPr>
          <a:xfrm>
            <a:off x="6409283" y="3296542"/>
            <a:ext cx="5144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if not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39"/>
          <p:cNvSpPr txBox="1"/>
          <p:nvPr/>
        </p:nvSpPr>
        <p:spPr>
          <a:xfrm>
            <a:off x="7781180" y="3296542"/>
            <a:ext cx="4287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break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39"/>
          <p:cNvSpPr txBox="1"/>
          <p:nvPr/>
        </p:nvSpPr>
        <p:spPr>
          <a:xfrm>
            <a:off x="9067204" y="3753742"/>
            <a:ext cx="4287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False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39"/>
          <p:cNvSpPr txBox="1"/>
          <p:nvPr/>
        </p:nvSpPr>
        <p:spPr>
          <a:xfrm>
            <a:off x="6409283" y="4210942"/>
            <a:ext cx="5144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global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39"/>
          <p:cNvSpPr txBox="1"/>
          <p:nvPr/>
        </p:nvSpPr>
        <p:spPr>
          <a:xfrm>
            <a:off x="7952630" y="4439542"/>
            <a:ext cx="111472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"probability"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39"/>
          <p:cNvSpPr txBox="1"/>
          <p:nvPr/>
        </p:nvSpPr>
        <p:spPr>
          <a:xfrm>
            <a:off x="8638579" y="4896742"/>
            <a:ext cx="858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9"/>
          <p:cNvSpPr txBox="1"/>
          <p:nvPr/>
        </p:nvSpPr>
        <p:spPr>
          <a:xfrm>
            <a:off x="8724304" y="5125342"/>
            <a:ext cx="5144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'.jpg'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39"/>
          <p:cNvSpPr txBox="1"/>
          <p:nvPr/>
        </p:nvSpPr>
        <p:spPr>
          <a:xfrm>
            <a:off x="6409283" y="5353942"/>
            <a:ext cx="5144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if not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39"/>
          <p:cNvSpPr txBox="1"/>
          <p:nvPr/>
        </p:nvSpPr>
        <p:spPr>
          <a:xfrm>
            <a:off x="7438280" y="5353942"/>
            <a:ext cx="68594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continue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39"/>
          <p:cNvSpPr txBox="1"/>
          <p:nvPr/>
        </p:nvSpPr>
        <p:spPr>
          <a:xfrm>
            <a:off x="6409283" y="5811142"/>
            <a:ext cx="222929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1" lang="en-US" sz="1125" u="none" cap="none" strike="noStrik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# yield multipart bytes...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39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프로젝트별 주요 기능 및 소스코드 (2/5)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39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39"/>
          <p:cNvSpPr txBox="1"/>
          <p:nvPr/>
        </p:nvSpPr>
        <p:spPr>
          <a:xfrm>
            <a:off x="571500" y="1182885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2차(Computer Vision) - OpenCV MJPEG 영상 스트리밍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39"/>
          <p:cNvSpPr txBox="1"/>
          <p:nvPr/>
        </p:nvSpPr>
        <p:spPr>
          <a:xfrm>
            <a:off x="628650" y="2382149"/>
            <a:ext cx="4135500" cy="3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OpenCV VideoCapture를 통해 영상을 읽고, 프레임별로 YOLO 모델 추론 실행 (verbose=False로 로깅 최소화)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산출된 위험도(probability)와 탐지 객체 리스트를 전역 변수로 업데이트하여 별도 JSON API에서 활용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results[0].plot()을 이용해 Bounding Box가 그려진 프레임을 JPEG로 인코딩하여 Multipart 스트림으로 전송.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74" name="Google Shape;474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40"/>
          <p:cNvSpPr txBox="1"/>
          <p:nvPr/>
        </p:nvSpPr>
        <p:spPr>
          <a:xfrm>
            <a:off x="6572250" y="2039242"/>
            <a:ext cx="7716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async def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40"/>
          <p:cNvSpPr txBox="1"/>
          <p:nvPr/>
        </p:nvSpPr>
        <p:spPr>
          <a:xfrm>
            <a:off x="7429797" y="2039242"/>
            <a:ext cx="1714797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1AFEF"/>
                </a:solidFill>
                <a:latin typeface="Consolas"/>
                <a:ea typeface="Consolas"/>
                <a:cs typeface="Consolas"/>
                <a:sym typeface="Consolas"/>
              </a:rPr>
              <a:t>call_mcp_unity_tutor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40"/>
          <p:cNvSpPr txBox="1"/>
          <p:nvPr/>
        </p:nvSpPr>
        <p:spPr>
          <a:xfrm>
            <a:off x="10087867" y="2039242"/>
            <a:ext cx="2573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40"/>
          <p:cNvSpPr txBox="1"/>
          <p:nvPr/>
        </p:nvSpPr>
        <p:spPr>
          <a:xfrm>
            <a:off x="10773965" y="2039242"/>
            <a:ext cx="2573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40"/>
          <p:cNvSpPr txBox="1"/>
          <p:nvPr/>
        </p:nvSpPr>
        <p:spPr>
          <a:xfrm>
            <a:off x="7601247" y="2496442"/>
            <a:ext cx="145762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"VLLM_SERVER_URL"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40"/>
          <p:cNvSpPr txBox="1"/>
          <p:nvPr/>
        </p:nvSpPr>
        <p:spPr>
          <a:xfrm>
            <a:off x="10259317" y="2496442"/>
            <a:ext cx="5144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"VLLM"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40"/>
          <p:cNvSpPr txBox="1"/>
          <p:nvPr/>
        </p:nvSpPr>
        <p:spPr>
          <a:xfrm>
            <a:off x="10945415" y="2496442"/>
            <a:ext cx="1715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40"/>
          <p:cNvSpPr txBox="1"/>
          <p:nvPr/>
        </p:nvSpPr>
        <p:spPr>
          <a:xfrm>
            <a:off x="7772697" y="3410842"/>
            <a:ext cx="128617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"mcp_server.py"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40"/>
          <p:cNvSpPr txBox="1"/>
          <p:nvPr/>
        </p:nvSpPr>
        <p:spPr>
          <a:xfrm>
            <a:off x="6915298" y="4325242"/>
            <a:ext cx="8573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async with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0"/>
          <p:cNvSpPr txBox="1"/>
          <p:nvPr/>
        </p:nvSpPr>
        <p:spPr>
          <a:xfrm>
            <a:off x="10259169" y="4325242"/>
            <a:ext cx="1715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0"/>
          <p:cNvSpPr txBox="1"/>
          <p:nvPr/>
        </p:nvSpPr>
        <p:spPr>
          <a:xfrm>
            <a:off x="7258198" y="4553842"/>
            <a:ext cx="8573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async with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0"/>
          <p:cNvSpPr txBox="1"/>
          <p:nvPr/>
        </p:nvSpPr>
        <p:spPr>
          <a:xfrm>
            <a:off x="10087719" y="4553842"/>
            <a:ext cx="1715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40"/>
          <p:cNvSpPr txBox="1"/>
          <p:nvPr/>
        </p:nvSpPr>
        <p:spPr>
          <a:xfrm>
            <a:off x="7601247" y="4782442"/>
            <a:ext cx="4287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await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40"/>
          <p:cNvSpPr txBox="1"/>
          <p:nvPr/>
        </p:nvSpPr>
        <p:spPr>
          <a:xfrm>
            <a:off x="8372772" y="5011042"/>
            <a:ext cx="4287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await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40"/>
          <p:cNvSpPr txBox="1"/>
          <p:nvPr/>
        </p:nvSpPr>
        <p:spPr>
          <a:xfrm>
            <a:off x="7944147" y="5239642"/>
            <a:ext cx="145762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"ask_unity_tutor"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40"/>
          <p:cNvSpPr txBox="1"/>
          <p:nvPr/>
        </p:nvSpPr>
        <p:spPr>
          <a:xfrm>
            <a:off x="8887271" y="5468242"/>
            <a:ext cx="8573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"question"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40"/>
          <p:cNvSpPr txBox="1"/>
          <p:nvPr/>
        </p:nvSpPr>
        <p:spPr>
          <a:xfrm>
            <a:off x="7601247" y="5925442"/>
            <a:ext cx="5144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40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프로젝트별 주요 기능 및 소스코드 (3/5)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0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40"/>
          <p:cNvSpPr txBox="1"/>
          <p:nvPr/>
        </p:nvSpPr>
        <p:spPr>
          <a:xfrm>
            <a:off x="571500" y="1182885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3차(LLM Fine-Tuning) - Flask API -&gt; MCP Tool 호출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0"/>
          <p:cNvSpPr txBox="1"/>
          <p:nvPr/>
        </p:nvSpPr>
        <p:spPr>
          <a:xfrm>
            <a:off x="571500" y="2658375"/>
            <a:ext cx="5340600" cy="23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REST API 단일 요청을 받아 Model Context Protocol(MCP) 서버로 전달하는 브릿지 계층 구현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vLLM 서버의 접속 정보(URL, KEY, MODEL)를 환경변수로 분리하여 보안성 및 이식성 확보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ClientSession.call_tool을 사용하여 ask_unity_tutor 도구를 비동기로 호출함으로써 메인 스레드 블로킹 방지.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00" name="Google Shape;500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41"/>
          <p:cNvSpPr txBox="1"/>
          <p:nvPr/>
        </p:nvSpPr>
        <p:spPr>
          <a:xfrm>
            <a:off x="6572250" y="2610742"/>
            <a:ext cx="2573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41"/>
          <p:cNvSpPr txBox="1"/>
          <p:nvPr/>
        </p:nvSpPr>
        <p:spPr>
          <a:xfrm>
            <a:off x="6915447" y="2610742"/>
            <a:ext cx="162907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1AFEF"/>
                </a:solidFill>
                <a:latin typeface="Consolas"/>
                <a:ea typeface="Consolas"/>
                <a:cs typeface="Consolas"/>
                <a:sym typeface="Consolas"/>
              </a:rPr>
              <a:t>build_domain_prompt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41"/>
          <p:cNvSpPr txBox="1"/>
          <p:nvPr/>
        </p:nvSpPr>
        <p:spPr>
          <a:xfrm>
            <a:off x="9487792" y="2610742"/>
            <a:ext cx="2573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1"/>
          <p:cNvSpPr txBox="1"/>
          <p:nvPr/>
        </p:nvSpPr>
        <p:spPr>
          <a:xfrm>
            <a:off x="10173890" y="2610742"/>
            <a:ext cx="2573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41"/>
          <p:cNvSpPr txBox="1"/>
          <p:nvPr/>
        </p:nvSpPr>
        <p:spPr>
          <a:xfrm>
            <a:off x="6915298" y="2839342"/>
            <a:ext cx="5144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41"/>
          <p:cNvSpPr txBox="1"/>
          <p:nvPr/>
        </p:nvSpPr>
        <p:spPr>
          <a:xfrm>
            <a:off x="7258198" y="3067942"/>
            <a:ext cx="3372147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"다음은 Unity 질문에 답하는 작업입니다.\n\n"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41"/>
          <p:cNvSpPr txBox="1"/>
          <p:nvPr/>
        </p:nvSpPr>
        <p:spPr>
          <a:xfrm>
            <a:off x="7258198" y="3296542"/>
            <a:ext cx="12002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"### 지시문:\n"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41"/>
          <p:cNvSpPr txBox="1"/>
          <p:nvPr/>
        </p:nvSpPr>
        <p:spPr>
          <a:xfrm>
            <a:off x="7258198" y="3525142"/>
            <a:ext cx="385792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"너는 Unity와 게임 개발을 가르치는 한국어 튜터다. 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41"/>
          <p:cNvSpPr txBox="1"/>
          <p:nvPr/>
        </p:nvSpPr>
        <p:spPr>
          <a:xfrm>
            <a:off x="7258198" y="3753742"/>
            <a:ext cx="282922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"정확한 Unity 공식 용어를 사용한다. 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41"/>
          <p:cNvSpPr txBox="1"/>
          <p:nvPr/>
        </p:nvSpPr>
        <p:spPr>
          <a:xfrm>
            <a:off x="7258198" y="3982342"/>
            <a:ext cx="33434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"모르면 지어내지 말고 조건을 짧게 설명한다. 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41"/>
          <p:cNvSpPr txBox="1"/>
          <p:nvPr/>
        </p:nvSpPr>
        <p:spPr>
          <a:xfrm>
            <a:off x="7258198" y="4210942"/>
            <a:ext cx="240044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"답변은 최대 3문장으로 끝낸다. 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41"/>
          <p:cNvSpPr txBox="1"/>
          <p:nvPr/>
        </p:nvSpPr>
        <p:spPr>
          <a:xfrm>
            <a:off x="7258198" y="4439542"/>
            <a:ext cx="402937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"코드, C#, 스크립트 요청 시에만 코드블록을 쓴다.\n\n"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41"/>
          <p:cNvSpPr txBox="1"/>
          <p:nvPr/>
        </p:nvSpPr>
        <p:spPr>
          <a:xfrm>
            <a:off x="7258198" y="4668142"/>
            <a:ext cx="10574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"### 입력:\n"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1"/>
          <p:cNvSpPr txBox="1"/>
          <p:nvPr/>
        </p:nvSpPr>
        <p:spPr>
          <a:xfrm>
            <a:off x="7258198" y="4896742"/>
            <a:ext cx="858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1"/>
          <p:cNvSpPr txBox="1"/>
          <p:nvPr/>
        </p:nvSpPr>
        <p:spPr>
          <a:xfrm>
            <a:off x="7344072" y="4896742"/>
            <a:ext cx="2057846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"{question.strip()}\n\n"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41"/>
          <p:cNvSpPr txBox="1"/>
          <p:nvPr/>
        </p:nvSpPr>
        <p:spPr>
          <a:xfrm>
            <a:off x="7258198" y="5125342"/>
            <a:ext cx="10574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"### 응답:\n"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41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프로젝트별 주요 기능 및 소스코드 (4/5)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1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41"/>
          <p:cNvSpPr txBox="1"/>
          <p:nvPr/>
        </p:nvSpPr>
        <p:spPr>
          <a:xfrm>
            <a:off x="571500" y="1182885"/>
            <a:ext cx="110490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3차(LLM Fine-Tuning) - Domain Prompt Engineering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1"/>
          <p:cNvSpPr txBox="1"/>
          <p:nvPr/>
        </p:nvSpPr>
        <p:spPr>
          <a:xfrm>
            <a:off x="628650" y="2417063"/>
            <a:ext cx="5110800" cy="3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파인튜닝된 LLM이 Unity/GameDev 영역 밖으로 이탈하지 않도록 시스템 수준의 지시문(System Prompt) 작성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1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답변 길이 제약:</a:t>
            </a: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 "최대 3문장으로 끝낸다" 조건을 명시하여 빠르고 간결한 튜터 컨셉 유지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1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코드블록 제어:</a:t>
            </a: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 코드 관련 명시적 요청 시에만 Markdown 코드블록을 사용하도록 유도하여 UI 출력 일관성 향상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환각(Hallucination) 억제를 위해 "지어내지 않는다"는 조건 명시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25" name="Google Shape;525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42"/>
          <p:cNvSpPr txBox="1"/>
          <p:nvPr/>
        </p:nvSpPr>
        <p:spPr>
          <a:xfrm>
            <a:off x="8029872" y="2382142"/>
            <a:ext cx="34304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2000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42"/>
          <p:cNvSpPr txBox="1"/>
          <p:nvPr/>
        </p:nvSpPr>
        <p:spPr>
          <a:xfrm>
            <a:off x="8115597" y="2610742"/>
            <a:ext cx="34304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0.02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42"/>
          <p:cNvSpPr txBox="1"/>
          <p:nvPr/>
        </p:nvSpPr>
        <p:spPr>
          <a:xfrm>
            <a:off x="7772697" y="2839342"/>
            <a:ext cx="858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42"/>
          <p:cNvSpPr txBox="1"/>
          <p:nvPr/>
        </p:nvSpPr>
        <p:spPr>
          <a:xfrm>
            <a:off x="8373070" y="2839342"/>
            <a:ext cx="9716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1" lang="en-US" sz="1125" u="none" cap="none" strike="noStrik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# 과적합 방지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42"/>
          <p:cNvSpPr txBox="1"/>
          <p:nvPr/>
        </p:nvSpPr>
        <p:spPr>
          <a:xfrm>
            <a:off x="7772697" y="3067942"/>
            <a:ext cx="25732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0.7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42"/>
          <p:cNvSpPr txBox="1"/>
          <p:nvPr/>
        </p:nvSpPr>
        <p:spPr>
          <a:xfrm>
            <a:off x="7858422" y="3296542"/>
            <a:ext cx="34304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20.0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42"/>
          <p:cNvSpPr txBox="1"/>
          <p:nvPr/>
        </p:nvSpPr>
        <p:spPr>
          <a:xfrm>
            <a:off x="8373070" y="3296542"/>
            <a:ext cx="10859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1" lang="en-US" sz="1125" u="none" cap="none" strike="noStrik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# L2 규제 적용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42"/>
          <p:cNvSpPr txBox="1"/>
          <p:nvPr/>
        </p:nvSpPr>
        <p:spPr>
          <a:xfrm>
            <a:off x="8029872" y="3525142"/>
            <a:ext cx="171598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D19A66"/>
                </a:solidFill>
                <a:latin typeface="Consolas"/>
                <a:ea typeface="Consolas"/>
                <a:cs typeface="Consolas"/>
                <a:sym typeface="Consolas"/>
              </a:rPr>
              <a:t>42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42"/>
          <p:cNvSpPr txBox="1"/>
          <p:nvPr/>
        </p:nvSpPr>
        <p:spPr>
          <a:xfrm>
            <a:off x="7772697" y="3753742"/>
            <a:ext cx="128617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'count:poisson'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42"/>
          <p:cNvSpPr txBox="1"/>
          <p:nvPr/>
        </p:nvSpPr>
        <p:spPr>
          <a:xfrm>
            <a:off x="6572250" y="5353942"/>
            <a:ext cx="4287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1AFEF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42"/>
          <p:cNvSpPr txBox="1"/>
          <p:nvPr/>
        </p:nvSpPr>
        <p:spPr>
          <a:xfrm>
            <a:off x="7086897" y="5353942"/>
            <a:ext cx="85873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125" u="none" cap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2"/>
          <p:cNvSpPr txBox="1"/>
          <p:nvPr/>
        </p:nvSpPr>
        <p:spPr>
          <a:xfrm>
            <a:off x="7172771" y="5353942"/>
            <a:ext cx="308669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"R2: {r2_score(y_test, y_pred):.4f}"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42"/>
          <p:cNvSpPr txBox="1"/>
          <p:nvPr/>
        </p:nvSpPr>
        <p:spPr>
          <a:xfrm>
            <a:off x="8715821" y="5811142"/>
            <a:ext cx="1457622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"model_seoul.pkl"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42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프로젝트별 주요 기능 및 소스코드 (5/5)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42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42"/>
          <p:cNvSpPr txBox="1"/>
          <p:nvPr/>
        </p:nvSpPr>
        <p:spPr>
          <a:xfrm>
            <a:off x="571500" y="1182885"/>
            <a:ext cx="11049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1차(Python Full Stack &amp; ML) - Multi-output XGBoost Training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42"/>
          <p:cNvSpPr txBox="1"/>
          <p:nvPr/>
        </p:nvSpPr>
        <p:spPr>
          <a:xfrm>
            <a:off x="571500" y="2379413"/>
            <a:ext cx="5373300" cy="25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MultiOutputRegressor 래퍼를 사용하여 D0부터 D+3까지 4개의 날짜에 대한 환자 수를 동시 예측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트리 깊이(max_depth=5) 및 샘플링 비율(subsample=0.7) 제한을 통해 과적합 방지 적용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호흡기 질환 데이터 특성에 맞춰 count:poisson 함수를 사용하여 학습 효율성 증대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70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550"/>
              <a:buFont typeface="Arial"/>
              <a:buChar char="●"/>
            </a:pPr>
            <a:r>
              <a:rPr b="0" i="0" lang="en-US" sz="155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학습된 파이프라인을 joblib으로 피클링(pkl)</a:t>
            </a:r>
            <a:endParaRPr b="0" i="0" sz="155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43"/>
          <p:cNvSpPr/>
          <p:nvPr/>
        </p:nvSpPr>
        <p:spPr>
          <a:xfrm>
            <a:off x="571500" y="476250"/>
            <a:ext cx="57150" cy="4191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43"/>
          <p:cNvSpPr txBox="1"/>
          <p:nvPr/>
        </p:nvSpPr>
        <p:spPr>
          <a:xfrm>
            <a:off x="742950" y="600075"/>
            <a:ext cx="6667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Software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43"/>
          <p:cNvSpPr txBox="1"/>
          <p:nvPr/>
        </p:nvSpPr>
        <p:spPr>
          <a:xfrm>
            <a:off x="571500" y="1190625"/>
            <a:ext cx="8572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2차(Computer Vision) - 영상 객체 탐지 및 위험도 산정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43"/>
          <p:cNvSpPr/>
          <p:nvPr/>
        </p:nvSpPr>
        <p:spPr>
          <a:xfrm>
            <a:off x="571500" y="1866900"/>
            <a:ext cx="11049000" cy="200025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F1F5F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43"/>
          <p:cNvSpPr txBox="1"/>
          <p:nvPr/>
        </p:nvSpPr>
        <p:spPr>
          <a:xfrm>
            <a:off x="742950" y="2038350"/>
            <a:ext cx="285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Runtime Component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43"/>
          <p:cNvSpPr/>
          <p:nvPr/>
        </p:nvSpPr>
        <p:spPr>
          <a:xfrm>
            <a:off x="8763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43"/>
          <p:cNvSpPr txBox="1"/>
          <p:nvPr/>
        </p:nvSpPr>
        <p:spPr>
          <a:xfrm>
            <a:off x="9525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사용자 브라우저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43"/>
          <p:cNvSpPr txBox="1"/>
          <p:nvPr/>
        </p:nvSpPr>
        <p:spPr>
          <a:xfrm>
            <a:off x="22002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43"/>
          <p:cNvSpPr/>
          <p:nvPr/>
        </p:nvSpPr>
        <p:spPr>
          <a:xfrm>
            <a:off x="24574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43"/>
          <p:cNvSpPr txBox="1"/>
          <p:nvPr/>
        </p:nvSpPr>
        <p:spPr>
          <a:xfrm>
            <a:off x="25336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Flask/RESTX 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43"/>
          <p:cNvSpPr txBox="1"/>
          <p:nvPr/>
        </p:nvSpPr>
        <p:spPr>
          <a:xfrm>
            <a:off x="378142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43"/>
          <p:cNvSpPr/>
          <p:nvPr/>
        </p:nvSpPr>
        <p:spPr>
          <a:xfrm>
            <a:off x="40386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43"/>
          <p:cNvSpPr txBox="1"/>
          <p:nvPr/>
        </p:nvSpPr>
        <p:spPr>
          <a:xfrm>
            <a:off x="41148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Video Stream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43"/>
          <p:cNvSpPr txBox="1"/>
          <p:nvPr/>
        </p:nvSpPr>
        <p:spPr>
          <a:xfrm>
            <a:off x="53625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43"/>
          <p:cNvSpPr/>
          <p:nvPr/>
        </p:nvSpPr>
        <p:spPr>
          <a:xfrm>
            <a:off x="56197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43"/>
          <p:cNvSpPr txBox="1"/>
          <p:nvPr/>
        </p:nvSpPr>
        <p:spPr>
          <a:xfrm>
            <a:off x="56959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OpenCV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43"/>
          <p:cNvSpPr txBox="1"/>
          <p:nvPr/>
        </p:nvSpPr>
        <p:spPr>
          <a:xfrm>
            <a:off x="694372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43"/>
          <p:cNvSpPr/>
          <p:nvPr/>
        </p:nvSpPr>
        <p:spPr>
          <a:xfrm>
            <a:off x="72009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43"/>
          <p:cNvSpPr txBox="1"/>
          <p:nvPr/>
        </p:nvSpPr>
        <p:spPr>
          <a:xfrm>
            <a:off x="72771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YOLO Inference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43"/>
          <p:cNvSpPr txBox="1"/>
          <p:nvPr/>
        </p:nvSpPr>
        <p:spPr>
          <a:xfrm>
            <a:off x="85248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43"/>
          <p:cNvSpPr/>
          <p:nvPr/>
        </p:nvSpPr>
        <p:spPr>
          <a:xfrm>
            <a:off x="87820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43"/>
          <p:cNvSpPr txBox="1"/>
          <p:nvPr/>
        </p:nvSpPr>
        <p:spPr>
          <a:xfrm>
            <a:off x="88582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Risk Engine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43"/>
          <p:cNvSpPr txBox="1"/>
          <p:nvPr/>
        </p:nvSpPr>
        <p:spPr>
          <a:xfrm>
            <a:off x="1010602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43"/>
          <p:cNvSpPr/>
          <p:nvPr/>
        </p:nvSpPr>
        <p:spPr>
          <a:xfrm>
            <a:off x="103632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43"/>
          <p:cNvSpPr txBox="1"/>
          <p:nvPr/>
        </p:nvSpPr>
        <p:spPr>
          <a:xfrm>
            <a:off x="104394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JSON/화면 응답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43"/>
          <p:cNvSpPr/>
          <p:nvPr/>
        </p:nvSpPr>
        <p:spPr>
          <a:xfrm>
            <a:off x="3429000" y="3257550"/>
            <a:ext cx="1238250" cy="4381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43"/>
          <p:cNvSpPr txBox="1"/>
          <p:nvPr/>
        </p:nvSpPr>
        <p:spPr>
          <a:xfrm>
            <a:off x="3505200" y="3371850"/>
            <a:ext cx="1085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탐지 결과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43"/>
          <p:cNvSpPr/>
          <p:nvPr/>
        </p:nvSpPr>
        <p:spPr>
          <a:xfrm>
            <a:off x="8286750" y="3257550"/>
            <a:ext cx="1428750" cy="4381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43"/>
          <p:cNvSpPr txBox="1"/>
          <p:nvPr/>
        </p:nvSpPr>
        <p:spPr>
          <a:xfrm>
            <a:off x="8362950" y="3371850"/>
            <a:ext cx="12763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위험도 계산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43"/>
          <p:cNvSpPr/>
          <p:nvPr/>
        </p:nvSpPr>
        <p:spPr>
          <a:xfrm>
            <a:off x="57150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43"/>
          <p:cNvSpPr txBox="1"/>
          <p:nvPr/>
        </p:nvSpPr>
        <p:spPr>
          <a:xfrm>
            <a:off x="742950" y="4629978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컴포넌트 책임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프레임 수집·전처리와 모델 추론 분리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객체 탐지 결과를 위험도 계산 입력으로 사용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브라우저에는 영상 스트림과 위험도 상태 제공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43"/>
          <p:cNvSpPr/>
          <p:nvPr/>
        </p:nvSpPr>
        <p:spPr>
          <a:xfrm>
            <a:off x="428625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43"/>
          <p:cNvSpPr txBox="1"/>
          <p:nvPr/>
        </p:nvSpPr>
        <p:spPr>
          <a:xfrm>
            <a:off x="4457700" y="4638670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주요 인터페이스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/detection/video-feed: 실시간 영상 스트림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/detection/risk-data: 위험도 JSON 조회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YOLO 결과: class, confidence, bbox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43"/>
          <p:cNvSpPr/>
          <p:nvPr/>
        </p:nvSpPr>
        <p:spPr>
          <a:xfrm>
            <a:off x="800100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43"/>
          <p:cNvSpPr txBox="1"/>
          <p:nvPr/>
        </p:nvSpPr>
        <p:spPr>
          <a:xfrm>
            <a:off x="8172450" y="4630050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설계 포인트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DB 없이 API·모델 중심의 경량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프레임 단위 처리로 실시간성 확보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신호등 상태 판별은 탐지 결과로 별도 관리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44"/>
          <p:cNvSpPr/>
          <p:nvPr/>
        </p:nvSpPr>
        <p:spPr>
          <a:xfrm>
            <a:off x="571500" y="476250"/>
            <a:ext cx="57150" cy="4191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44"/>
          <p:cNvSpPr txBox="1"/>
          <p:nvPr/>
        </p:nvSpPr>
        <p:spPr>
          <a:xfrm>
            <a:off x="742950" y="600075"/>
            <a:ext cx="6667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Software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44"/>
          <p:cNvSpPr txBox="1"/>
          <p:nvPr/>
        </p:nvSpPr>
        <p:spPr>
          <a:xfrm>
            <a:off x="571500" y="1190625"/>
            <a:ext cx="8572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3차(LLM Fine-Tuning) - MCP 기반 LLM 튜터 추론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44"/>
          <p:cNvSpPr/>
          <p:nvPr/>
        </p:nvSpPr>
        <p:spPr>
          <a:xfrm>
            <a:off x="571500" y="1866900"/>
            <a:ext cx="11049000" cy="200025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F1F5F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44"/>
          <p:cNvSpPr txBox="1"/>
          <p:nvPr/>
        </p:nvSpPr>
        <p:spPr>
          <a:xfrm>
            <a:off x="742950" y="2038350"/>
            <a:ext cx="285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Runtime Component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44"/>
          <p:cNvSpPr/>
          <p:nvPr/>
        </p:nvSpPr>
        <p:spPr>
          <a:xfrm>
            <a:off x="8763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44"/>
          <p:cNvSpPr txBox="1"/>
          <p:nvPr/>
        </p:nvSpPr>
        <p:spPr>
          <a:xfrm>
            <a:off x="9525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사용자 요청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44"/>
          <p:cNvSpPr txBox="1"/>
          <p:nvPr/>
        </p:nvSpPr>
        <p:spPr>
          <a:xfrm>
            <a:off x="22002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44"/>
          <p:cNvSpPr/>
          <p:nvPr/>
        </p:nvSpPr>
        <p:spPr>
          <a:xfrm>
            <a:off x="24574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44"/>
          <p:cNvSpPr txBox="1"/>
          <p:nvPr/>
        </p:nvSpPr>
        <p:spPr>
          <a:xfrm>
            <a:off x="25336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RESTX 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44"/>
          <p:cNvSpPr txBox="1"/>
          <p:nvPr/>
        </p:nvSpPr>
        <p:spPr>
          <a:xfrm>
            <a:off x="378142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44"/>
          <p:cNvSpPr/>
          <p:nvPr/>
        </p:nvSpPr>
        <p:spPr>
          <a:xfrm>
            <a:off x="40386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44"/>
          <p:cNvSpPr txBox="1"/>
          <p:nvPr/>
        </p:nvSpPr>
        <p:spPr>
          <a:xfrm>
            <a:off x="41148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MCP Client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44"/>
          <p:cNvSpPr txBox="1"/>
          <p:nvPr/>
        </p:nvSpPr>
        <p:spPr>
          <a:xfrm>
            <a:off x="53625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44"/>
          <p:cNvSpPr/>
          <p:nvPr/>
        </p:nvSpPr>
        <p:spPr>
          <a:xfrm>
            <a:off x="56197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44"/>
          <p:cNvSpPr txBox="1"/>
          <p:nvPr/>
        </p:nvSpPr>
        <p:spPr>
          <a:xfrm>
            <a:off x="56959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MCP Server Tool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44"/>
          <p:cNvSpPr txBox="1"/>
          <p:nvPr/>
        </p:nvSpPr>
        <p:spPr>
          <a:xfrm>
            <a:off x="694372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44"/>
          <p:cNvSpPr/>
          <p:nvPr/>
        </p:nvSpPr>
        <p:spPr>
          <a:xfrm>
            <a:off x="72009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44"/>
          <p:cNvSpPr txBox="1"/>
          <p:nvPr/>
        </p:nvSpPr>
        <p:spPr>
          <a:xfrm>
            <a:off x="72771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vLLM Server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4"/>
          <p:cNvSpPr txBox="1"/>
          <p:nvPr/>
        </p:nvSpPr>
        <p:spPr>
          <a:xfrm>
            <a:off x="85248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4"/>
          <p:cNvSpPr/>
          <p:nvPr/>
        </p:nvSpPr>
        <p:spPr>
          <a:xfrm>
            <a:off x="87820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4"/>
          <p:cNvSpPr txBox="1"/>
          <p:nvPr/>
        </p:nvSpPr>
        <p:spPr>
          <a:xfrm>
            <a:off x="88582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Fine-Tuned LLM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44"/>
          <p:cNvSpPr txBox="1"/>
          <p:nvPr/>
        </p:nvSpPr>
        <p:spPr>
          <a:xfrm>
            <a:off x="1010602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44"/>
          <p:cNvSpPr/>
          <p:nvPr/>
        </p:nvSpPr>
        <p:spPr>
          <a:xfrm>
            <a:off x="103632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44"/>
          <p:cNvSpPr txBox="1"/>
          <p:nvPr/>
        </p:nvSpPr>
        <p:spPr>
          <a:xfrm>
            <a:off x="104394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튜터 응답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44"/>
          <p:cNvSpPr/>
          <p:nvPr/>
        </p:nvSpPr>
        <p:spPr>
          <a:xfrm>
            <a:off x="5334000" y="3257550"/>
            <a:ext cx="1333500" cy="4381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44"/>
          <p:cNvSpPr txBox="1"/>
          <p:nvPr/>
        </p:nvSpPr>
        <p:spPr>
          <a:xfrm>
            <a:off x="5410200" y="3371850"/>
            <a:ext cx="1181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프롬프트 생성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44"/>
          <p:cNvSpPr/>
          <p:nvPr/>
        </p:nvSpPr>
        <p:spPr>
          <a:xfrm>
            <a:off x="8477250" y="3257550"/>
            <a:ext cx="1238250" cy="4381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44"/>
          <p:cNvSpPr txBox="1"/>
          <p:nvPr/>
        </p:nvSpPr>
        <p:spPr>
          <a:xfrm>
            <a:off x="8553450" y="3371850"/>
            <a:ext cx="1085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응답 후처리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4"/>
          <p:cNvSpPr/>
          <p:nvPr/>
        </p:nvSpPr>
        <p:spPr>
          <a:xfrm>
            <a:off x="57150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4"/>
          <p:cNvSpPr txBox="1"/>
          <p:nvPr/>
        </p:nvSpPr>
        <p:spPr>
          <a:xfrm>
            <a:off x="742950" y="4600161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컴포넌트 책임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REST API는 요청 검증과 응답 포맷 담당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MCP Tool은 튜터 기능을 표준 도구로 캡슐화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vLLM 서버는 Fine-Tuned 모델 추론 담당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44"/>
          <p:cNvSpPr/>
          <p:nvPr/>
        </p:nvSpPr>
        <p:spPr>
          <a:xfrm>
            <a:off x="428625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44"/>
          <p:cNvSpPr txBox="1"/>
          <p:nvPr/>
        </p:nvSpPr>
        <p:spPr>
          <a:xfrm>
            <a:off x="4457700" y="4585252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주요 인터페이스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/chat: question 입력 및 answer 반환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ask_unity_tutor / explain_unity_concept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VLLM_SERVER_URL, VLLM_MODEL 환경변수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44"/>
          <p:cNvSpPr/>
          <p:nvPr/>
        </p:nvSpPr>
        <p:spPr>
          <a:xfrm>
            <a:off x="800100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44"/>
          <p:cNvSpPr txBox="1"/>
          <p:nvPr/>
        </p:nvSpPr>
        <p:spPr>
          <a:xfrm>
            <a:off x="8172450" y="4570343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설계 포인트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API 계층과 추론 계층 분리로 변경 영향 축소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Stop sequence와 후처리로 짧은 응답 유지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KoAlpaca + Unity/GameDev 데이터 기반 튜닝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45"/>
          <p:cNvSpPr/>
          <p:nvPr/>
        </p:nvSpPr>
        <p:spPr>
          <a:xfrm>
            <a:off x="571500" y="476250"/>
            <a:ext cx="57150" cy="4191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45"/>
          <p:cNvSpPr txBox="1"/>
          <p:nvPr/>
        </p:nvSpPr>
        <p:spPr>
          <a:xfrm>
            <a:off x="742950" y="600075"/>
            <a:ext cx="6667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Software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45"/>
          <p:cNvSpPr txBox="1"/>
          <p:nvPr/>
        </p:nvSpPr>
        <p:spPr>
          <a:xfrm>
            <a:off x="571500" y="1190625"/>
            <a:ext cx="8572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1차(Python Full Stack &amp; ML) - 예측 결과 저장 및 시각화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45"/>
          <p:cNvSpPr/>
          <p:nvPr/>
        </p:nvSpPr>
        <p:spPr>
          <a:xfrm>
            <a:off x="571500" y="1866900"/>
            <a:ext cx="11049000" cy="200025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F1F5F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5"/>
          <p:cNvSpPr txBox="1"/>
          <p:nvPr/>
        </p:nvSpPr>
        <p:spPr>
          <a:xfrm>
            <a:off x="742950" y="2038350"/>
            <a:ext cx="2857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Runtime Component 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5"/>
          <p:cNvSpPr/>
          <p:nvPr/>
        </p:nvSpPr>
        <p:spPr>
          <a:xfrm>
            <a:off x="8763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45"/>
          <p:cNvSpPr txBox="1"/>
          <p:nvPr/>
        </p:nvSpPr>
        <p:spPr>
          <a:xfrm>
            <a:off x="9525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사용자 브라우저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45"/>
          <p:cNvSpPr txBox="1"/>
          <p:nvPr/>
        </p:nvSpPr>
        <p:spPr>
          <a:xfrm>
            <a:off x="22002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45"/>
          <p:cNvSpPr/>
          <p:nvPr/>
        </p:nvSpPr>
        <p:spPr>
          <a:xfrm>
            <a:off x="24574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45"/>
          <p:cNvSpPr txBox="1"/>
          <p:nvPr/>
        </p:nvSpPr>
        <p:spPr>
          <a:xfrm>
            <a:off x="25336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Flask Web App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45"/>
          <p:cNvSpPr txBox="1"/>
          <p:nvPr/>
        </p:nvSpPr>
        <p:spPr>
          <a:xfrm>
            <a:off x="378142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45"/>
          <p:cNvSpPr/>
          <p:nvPr/>
        </p:nvSpPr>
        <p:spPr>
          <a:xfrm>
            <a:off x="40386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45"/>
          <p:cNvSpPr txBox="1"/>
          <p:nvPr/>
        </p:nvSpPr>
        <p:spPr>
          <a:xfrm>
            <a:off x="41148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Prediction Service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5"/>
          <p:cNvSpPr txBox="1"/>
          <p:nvPr/>
        </p:nvSpPr>
        <p:spPr>
          <a:xfrm>
            <a:off x="53625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5"/>
          <p:cNvSpPr/>
          <p:nvPr/>
        </p:nvSpPr>
        <p:spPr>
          <a:xfrm>
            <a:off x="56197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5"/>
          <p:cNvSpPr txBox="1"/>
          <p:nvPr/>
        </p:nvSpPr>
        <p:spPr>
          <a:xfrm>
            <a:off x="56959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ML Model Artifacts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5"/>
          <p:cNvSpPr txBox="1"/>
          <p:nvPr/>
        </p:nvSpPr>
        <p:spPr>
          <a:xfrm>
            <a:off x="694372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45"/>
          <p:cNvSpPr/>
          <p:nvPr/>
        </p:nvSpPr>
        <p:spPr>
          <a:xfrm>
            <a:off x="720090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5"/>
          <p:cNvSpPr txBox="1"/>
          <p:nvPr/>
        </p:nvSpPr>
        <p:spPr>
          <a:xfrm>
            <a:off x="727710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Oracle DB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5"/>
          <p:cNvSpPr txBox="1"/>
          <p:nvPr/>
        </p:nvSpPr>
        <p:spPr>
          <a:xfrm>
            <a:off x="8524875" y="2647950"/>
            <a:ext cx="266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45"/>
          <p:cNvSpPr/>
          <p:nvPr/>
        </p:nvSpPr>
        <p:spPr>
          <a:xfrm>
            <a:off x="8782050" y="2495550"/>
            <a:ext cx="1257300" cy="533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45"/>
          <p:cNvSpPr txBox="1"/>
          <p:nvPr/>
        </p:nvSpPr>
        <p:spPr>
          <a:xfrm>
            <a:off x="8858250" y="2609850"/>
            <a:ext cx="1104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Map/Chart 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45"/>
          <p:cNvSpPr/>
          <p:nvPr/>
        </p:nvSpPr>
        <p:spPr>
          <a:xfrm>
            <a:off x="7620000" y="3257550"/>
            <a:ext cx="1428750" cy="4381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45"/>
          <p:cNvSpPr txBox="1"/>
          <p:nvPr/>
        </p:nvSpPr>
        <p:spPr>
          <a:xfrm>
            <a:off x="7696200" y="3371850"/>
            <a:ext cx="12763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예측 결과 저장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45"/>
          <p:cNvSpPr/>
          <p:nvPr/>
        </p:nvSpPr>
        <p:spPr>
          <a:xfrm>
            <a:off x="5762625" y="3257550"/>
            <a:ext cx="1333500" cy="4381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45"/>
          <p:cNvSpPr txBox="1"/>
          <p:nvPr/>
        </p:nvSpPr>
        <p:spPr>
          <a:xfrm>
            <a:off x="5838825" y="3371850"/>
            <a:ext cx="1181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지도/차트 조회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45"/>
          <p:cNvSpPr/>
          <p:nvPr/>
        </p:nvSpPr>
        <p:spPr>
          <a:xfrm>
            <a:off x="57150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45"/>
          <p:cNvSpPr txBox="1"/>
          <p:nvPr/>
        </p:nvSpPr>
        <p:spPr>
          <a:xfrm>
            <a:off x="742950" y="4570343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컴포넌트 책임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Flask 서버가 화면 요청과 예측 요청 처리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Prediction Service가 입력값을 모델 형식으로 변환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지도/차트 화면에서 지역별 결과 시각화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5"/>
          <p:cNvSpPr/>
          <p:nvPr/>
        </p:nvSpPr>
        <p:spPr>
          <a:xfrm>
            <a:off x="428625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45"/>
          <p:cNvSpPr txBox="1"/>
          <p:nvPr/>
        </p:nvSpPr>
        <p:spPr>
          <a:xfrm>
            <a:off x="4457700" y="4555435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주요 인터페이스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사용자 입력: 지역, 날짜, 예측 조건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모델 입력: 전처리된 피처 벡터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DB 저장: 예측 결과와 조회용 데이터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45"/>
          <p:cNvSpPr/>
          <p:nvPr/>
        </p:nvSpPr>
        <p:spPr>
          <a:xfrm>
            <a:off x="8001000" y="4324350"/>
            <a:ext cx="3429000" cy="161925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45"/>
          <p:cNvSpPr txBox="1"/>
          <p:nvPr/>
        </p:nvSpPr>
        <p:spPr>
          <a:xfrm>
            <a:off x="8172450" y="4570343"/>
            <a:ext cx="3086100" cy="13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설계 포인트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모델 파일과 웹 서비스 계층 분리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예측 결과 저장 후 재조회 가능한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22860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• 지역 단위 비교를 위한 시각화 중심 UI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61" name="Google Shape;661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62" name="Google Shape;662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54385"/>
            <a:ext cx="5286375" cy="46273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63" name="Google Shape;663;p4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754385"/>
            <a:ext cx="5286375" cy="4627364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46"/>
          <p:cNvSpPr txBox="1"/>
          <p:nvPr/>
        </p:nvSpPr>
        <p:spPr>
          <a:xfrm>
            <a:off x="962025" y="2144906"/>
            <a:ext cx="4730700" cy="300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핵심 단계</a:t>
            </a:r>
            <a:endParaRPr b="1" i="0" sz="1950" u="none" cap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46"/>
          <p:cNvSpPr/>
          <p:nvPr/>
        </p:nvSpPr>
        <p:spPr>
          <a:xfrm>
            <a:off x="962025" y="2581126"/>
            <a:ext cx="4505400" cy="192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46"/>
          <p:cNvSpPr txBox="1"/>
          <p:nvPr/>
        </p:nvSpPr>
        <p:spPr>
          <a:xfrm>
            <a:off x="6724650" y="2144906"/>
            <a:ext cx="4730700" cy="300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상세 개발 전략</a:t>
            </a:r>
            <a:endParaRPr b="1" i="0" sz="1950" u="none" cap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46"/>
          <p:cNvSpPr/>
          <p:nvPr/>
        </p:nvSpPr>
        <p:spPr>
          <a:xfrm>
            <a:off x="6724650" y="2581126"/>
            <a:ext cx="4505400" cy="192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46"/>
          <p:cNvSpPr txBox="1"/>
          <p:nvPr/>
        </p:nvSpPr>
        <p:spPr>
          <a:xfrm>
            <a:off x="1152525" y="2790673"/>
            <a:ext cx="4314900" cy="5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1. VLM (시각 인지): "전장 상황 인식"</a:t>
            </a:r>
            <a:endParaRPr b="1" i="0" sz="14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YOLO11n의 객체 탐지와 VLM의 맥락 분석을 결합하여 속도와 정확도 확보</a:t>
            </a:r>
            <a:endParaRPr b="0" i="0" sz="11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46"/>
          <p:cNvSpPr txBox="1"/>
          <p:nvPr/>
        </p:nvSpPr>
        <p:spPr>
          <a:xfrm>
            <a:off x="1152525" y="3581248"/>
            <a:ext cx="4314900" cy="5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2. RAG (지식 검색): "교전 수칙 참조"</a:t>
            </a:r>
            <a:endParaRPr b="1" i="0" sz="14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미군 공개 전술 교범(FM) 및 무기 제원 DB(Raw SQL)를 하이브리드 검색으로 구축</a:t>
            </a:r>
            <a:endParaRPr b="0" i="0" sz="11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46"/>
          <p:cNvSpPr txBox="1"/>
          <p:nvPr/>
        </p:nvSpPr>
        <p:spPr>
          <a:xfrm>
            <a:off x="1152525" y="4371823"/>
            <a:ext cx="4314900" cy="59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3. LLM 튜닝: "정찰 보고서 및 판단"</a:t>
            </a:r>
            <a:endParaRPr b="1" i="0" sz="14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Llama 3를 파인튜닝하여 군사 표준 양식 및 제어용 JSON 명령어 출력 최적화</a:t>
            </a:r>
            <a:endParaRPr b="0" i="0" sz="11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46"/>
          <p:cNvSpPr txBox="1"/>
          <p:nvPr/>
        </p:nvSpPr>
        <p:spPr>
          <a:xfrm>
            <a:off x="1152525" y="5162398"/>
            <a:ext cx="4314900" cy="7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4. AI Agent: "드론 자율 기동 제어"</a:t>
            </a:r>
            <a:endParaRPr b="1" i="0" sz="14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Flask 서버를 통한 오케스트레이션 및 유니티 클라이언트 드론 물리 제어 구현</a:t>
            </a:r>
            <a:endParaRPr b="0" i="0" sz="11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46"/>
          <p:cNvSpPr txBox="1"/>
          <p:nvPr/>
        </p:nvSpPr>
        <p:spPr>
          <a:xfrm>
            <a:off x="6915150" y="2790673"/>
            <a:ext cx="4314900" cy="62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VLM: Unity 기반 시각 데이터셋 생성</a:t>
            </a:r>
            <a:endParaRPr b="1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C# 스크립트로 험지 지형 및 적 무작위 배치</a:t>
            </a:r>
            <a:endParaRPr b="0" i="0" sz="12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LLaVA 파인튜닝 - Runpod(RTX 4090)</a:t>
            </a:r>
            <a:endParaRPr b="0" i="0" sz="12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46"/>
          <p:cNvSpPr txBox="1"/>
          <p:nvPr/>
        </p:nvSpPr>
        <p:spPr>
          <a:xfrm>
            <a:off x="6915150" y="3695548"/>
            <a:ext cx="4314900" cy="62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RAG: 고성능 하이브리드 검색 설계</a:t>
            </a:r>
            <a:endParaRPr b="1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벡터 DB와 Raw SQL/ERM 기반 정형 데이터 결합</a:t>
            </a:r>
            <a:endParaRPr b="0" i="0" sz="12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VLM 분석 텍스트를 쿼리로 변환해 매뉴얼 매칭</a:t>
            </a:r>
            <a:endParaRPr b="0" i="0" sz="12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46"/>
          <p:cNvSpPr txBox="1"/>
          <p:nvPr/>
        </p:nvSpPr>
        <p:spPr>
          <a:xfrm>
            <a:off x="6915150" y="4600423"/>
            <a:ext cx="4314900" cy="621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Agent: 통합 제어 및 유니티 피드백</a:t>
            </a:r>
            <a:endParaRPr b="1" i="0" sz="120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9-Line MEDEVAC 등 군사용 보고서 자동 생성</a:t>
            </a:r>
            <a:endParaRPr b="0" i="0" sz="12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Arial"/>
              <a:buChar char="●"/>
            </a:pPr>
            <a:r>
              <a:rPr b="0" i="0" lang="en-US" sz="12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JSON 명령어로 드론 기동 및 회귀 로직 구현</a:t>
            </a:r>
            <a:endParaRPr b="0" i="0" sz="1200" u="none" cap="none" strike="noStrike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46"/>
          <p:cNvSpPr txBox="1"/>
          <p:nvPr/>
        </p:nvSpPr>
        <p:spPr>
          <a:xfrm>
            <a:off x="962025" y="2790676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6"/>
          <p:cNvSpPr txBox="1"/>
          <p:nvPr/>
        </p:nvSpPr>
        <p:spPr>
          <a:xfrm>
            <a:off x="962025" y="5162398"/>
            <a:ext cx="666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8"/>
              <a:buFont typeface="Arial"/>
              <a:buNone/>
            </a:pPr>
            <a:r>
              <a:rPr b="1" i="0" lang="en-US" sz="1388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1" i="0" sz="1388" u="none" cap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46"/>
          <p:cNvSpPr txBox="1"/>
          <p:nvPr/>
        </p:nvSpPr>
        <p:spPr>
          <a:xfrm>
            <a:off x="962025" y="3543151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46"/>
          <p:cNvSpPr txBox="1"/>
          <p:nvPr/>
        </p:nvSpPr>
        <p:spPr>
          <a:xfrm>
            <a:off x="962025" y="4295626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46"/>
          <p:cNvSpPr txBox="1"/>
          <p:nvPr/>
        </p:nvSpPr>
        <p:spPr>
          <a:xfrm>
            <a:off x="6724650" y="2790676"/>
            <a:ext cx="66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46"/>
          <p:cNvSpPr txBox="1"/>
          <p:nvPr/>
        </p:nvSpPr>
        <p:spPr>
          <a:xfrm>
            <a:off x="6724650" y="3695548"/>
            <a:ext cx="66600" cy="21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8"/>
              <a:buFont typeface="Arial"/>
              <a:buNone/>
            </a:pPr>
            <a:r>
              <a:rPr b="1" i="0" lang="en-US" sz="1388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1" i="0" sz="1388" u="none" cap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46"/>
          <p:cNvSpPr txBox="1"/>
          <p:nvPr/>
        </p:nvSpPr>
        <p:spPr>
          <a:xfrm>
            <a:off x="6724650" y="4600423"/>
            <a:ext cx="66600" cy="21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8"/>
              <a:buFont typeface="Arial"/>
              <a:buNone/>
            </a:pPr>
            <a:r>
              <a:rPr b="1" i="0" lang="en-US" sz="1388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1" i="0" sz="1388" u="none" cap="none" strike="noStrike">
              <a:solidFill>
                <a:srgbClr val="2563E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46"/>
          <p:cNvSpPr txBox="1"/>
          <p:nvPr/>
        </p:nvSpPr>
        <p:spPr>
          <a:xfrm>
            <a:off x="742950" y="476250"/>
            <a:ext cx="11421300" cy="392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향후 개발 계획</a:t>
            </a:r>
            <a:endParaRPr b="1" i="0" sz="2550" u="none" cap="none" strike="noStrike">
              <a:solidFill>
                <a:srgbClr val="1E29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46"/>
          <p:cNvSpPr/>
          <p:nvPr/>
        </p:nvSpPr>
        <p:spPr>
          <a:xfrm>
            <a:off x="571500" y="476250"/>
            <a:ext cx="57300" cy="4209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46"/>
          <p:cNvSpPr txBox="1"/>
          <p:nvPr/>
        </p:nvSpPr>
        <p:spPr>
          <a:xfrm>
            <a:off x="571500" y="1182881"/>
            <a:ext cx="11049000" cy="300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VLM + RAG + LLM 기반 전술 정찰 에이전트 구축</a:t>
            </a:r>
            <a:endParaRPr b="0" i="0" sz="1950" u="none" cap="none" strike="noStrike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89" name="Google Shape;689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0" name="Google Shape;690;p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54385"/>
            <a:ext cx="5286375" cy="46273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1" name="Google Shape;691;p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754385"/>
            <a:ext cx="5286375" cy="4627364"/>
          </a:xfrm>
          <a:prstGeom prst="rect">
            <a:avLst/>
          </a:prstGeom>
          <a:noFill/>
          <a:ln>
            <a:noFill/>
          </a:ln>
        </p:spPr>
      </p:pic>
      <p:sp>
        <p:nvSpPr>
          <p:cNvPr id="692" name="Google Shape;692;p47"/>
          <p:cNvSpPr txBox="1"/>
          <p:nvPr/>
        </p:nvSpPr>
        <p:spPr>
          <a:xfrm>
            <a:off x="962025" y="2144910"/>
            <a:ext cx="4730591" cy="340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문제 상황: 작은 객체 탐지 한계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47"/>
          <p:cNvSpPr/>
          <p:nvPr/>
        </p:nvSpPr>
        <p:spPr>
          <a:xfrm>
            <a:off x="962025" y="2581126"/>
            <a:ext cx="4505325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47"/>
          <p:cNvSpPr txBox="1"/>
          <p:nvPr/>
        </p:nvSpPr>
        <p:spPr>
          <a:xfrm>
            <a:off x="6724650" y="2144910"/>
            <a:ext cx="4730591" cy="340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해결 방안: 학습/추론 해상도 일치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47"/>
          <p:cNvSpPr/>
          <p:nvPr/>
        </p:nvSpPr>
        <p:spPr>
          <a:xfrm>
            <a:off x="6724650" y="2581126"/>
            <a:ext cx="4505325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47"/>
          <p:cNvSpPr txBox="1"/>
          <p:nvPr/>
        </p:nvSpPr>
        <p:spPr>
          <a:xfrm>
            <a:off x="1152525" y="2790676"/>
            <a:ext cx="43148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2차 프로젝트(Computer Vision) 모델 테스트 진행 중 한계점 발견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47"/>
          <p:cNvSpPr txBox="1"/>
          <p:nvPr/>
        </p:nvSpPr>
        <p:spPr>
          <a:xfrm>
            <a:off x="1152525" y="3543151"/>
            <a:ext cx="43148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카메라와 거리가 멀어 보행자용 신호등의 크기가 화면 내에서 매우 작게 표시될 때, 모델이 객체를 제대로 감지하지 못하는 현상 발생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47"/>
          <p:cNvSpPr txBox="1"/>
          <p:nvPr/>
        </p:nvSpPr>
        <p:spPr>
          <a:xfrm>
            <a:off x="6915150" y="2790676"/>
            <a:ext cx="43149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문제 해결을 위해 관련 논문을 리서치하던 중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"학습 이미지와 추론 이미지의 해상도를 일치시킬 경우 탐지 성능이 향상된다"</a:t>
            </a: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는 논문 발견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47"/>
          <p:cNvSpPr txBox="1"/>
          <p:nvPr/>
        </p:nvSpPr>
        <p:spPr>
          <a:xfrm>
            <a:off x="6915150" y="3847951"/>
            <a:ext cx="43149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이에 따라 기존의 학습용 이미지 데이터를 고해상도 이미지로 변경하여 재학습을 진행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47"/>
          <p:cNvSpPr txBox="1"/>
          <p:nvPr/>
        </p:nvSpPr>
        <p:spPr>
          <a:xfrm>
            <a:off x="6915150" y="4600426"/>
            <a:ext cx="43148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결과적으로 작게 보이는 신호등 객체도 성공적으로 감지해내며 탐지 정확도를 크게 개선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47"/>
          <p:cNvSpPr txBox="1"/>
          <p:nvPr/>
        </p:nvSpPr>
        <p:spPr>
          <a:xfrm>
            <a:off x="962025" y="279067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47"/>
          <p:cNvSpPr txBox="1"/>
          <p:nvPr/>
        </p:nvSpPr>
        <p:spPr>
          <a:xfrm>
            <a:off x="962025" y="3543151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47"/>
          <p:cNvSpPr txBox="1"/>
          <p:nvPr/>
        </p:nvSpPr>
        <p:spPr>
          <a:xfrm>
            <a:off x="6724650" y="279067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47"/>
          <p:cNvSpPr txBox="1"/>
          <p:nvPr/>
        </p:nvSpPr>
        <p:spPr>
          <a:xfrm>
            <a:off x="6724650" y="3847951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47"/>
          <p:cNvSpPr txBox="1"/>
          <p:nvPr/>
        </p:nvSpPr>
        <p:spPr>
          <a:xfrm>
            <a:off x="6724650" y="460042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47"/>
          <p:cNvSpPr txBox="1"/>
          <p:nvPr/>
        </p:nvSpPr>
        <p:spPr>
          <a:xfrm>
            <a:off x="742950" y="476250"/>
            <a:ext cx="11421427" cy="420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프로젝트 수행 소감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7"/>
          <p:cNvSpPr/>
          <p:nvPr/>
        </p:nvSpPr>
        <p:spPr>
          <a:xfrm>
            <a:off x="571500" y="476250"/>
            <a:ext cx="57150" cy="42088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47"/>
          <p:cNvSpPr txBox="1"/>
          <p:nvPr/>
        </p:nvSpPr>
        <p:spPr>
          <a:xfrm>
            <a:off x="571500" y="1182885"/>
            <a:ext cx="110490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어려움과 해결 방안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