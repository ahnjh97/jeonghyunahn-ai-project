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71" r:id="rId15"/>
    <p:sldId id="297" r:id="rId16"/>
    <p:sldId id="298" r:id="rId17"/>
    <p:sldId id="274" r:id="rId18"/>
    <p:sldId id="299" r:id="rId19"/>
    <p:sldId id="300" r:id="rId20"/>
    <p:sldId id="275" r:id="rId21"/>
    <p:sldId id="276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922C4E-FDB1-4B51-AC04-3450D436D0C4}" v="669" dt="2026-06-17T08:55:15.018"/>
    <p1510:client id="{94094412-FA73-4406-8BD4-030F4B241768}" v="10" dt="2026-06-18T04:23:56.056"/>
    <p1510:client id="{95781443-2B36-4131-A9ED-AC675D611816}" v="151" dt="2026-06-18T03:45:17.634"/>
    <p1510:client id="{E88B17D7-CB88-458D-8F16-6403D1109B9E}" v="178" dt="2026-06-17T07:30:05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8EDA-4ABE-B36C-9415-BEBF49114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1C6A9-7386-A086-12E0-8F4F4F15B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6A811-1B4F-5A41-78B7-BDB785100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AB252-060F-4A38-228A-79359C02C6C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4645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71C0-1AEE-E28A-6B3F-E421D65E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84D3C-D59B-48B3-C650-36B0187F0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16D37-03BE-00B1-9DA1-4DDCF9AC4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E412B-AB91-8E64-48BE-389B8D0B64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8981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EE3B1-E2B3-A005-6AF6-E0D1682F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4C9EB-83D3-4CEC-9053-18B1CCE0D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9BEE6-33C3-F0F5-DDCE-41EA4B0A7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6ADE-7CED-86B0-B56D-0C8C5834576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6401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1F04-F2EE-1E8D-E1E9-9EF9507FB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C605B-C472-B3C0-A8BD-7833D027C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13276-E538-2D1B-621D-1CE12C8BC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49FA6-B3E6-98E6-4364-69B9DA978FF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16639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38234EA-8E6E-44DD-A86B-DF2ACEE4B5FA}"/>
              </a:ext>
            </a:extLst>
          </p:cNvPr>
          <p:cNvSpPr>
            <a:spLocks noGrp="1"/>
          </p:cNvSpPr>
          <p:nvPr/>
        </p:nvSpPr>
        <p:spPr>
          <a:xfrm>
            <a:off x="1333500" y="1695450"/>
            <a:ext cx="9525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생성형 AI 기반 서울시 미세먼지 대응</a:t>
            </a:r>
          </a:p>
          <a:p>
            <a:pPr algn="ctr">
              <a:defRPr sz="37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호흡기 건강 예보 서비스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6F2B45-0748-45CF-8625-E1B94C61E49F}"/>
              </a:ext>
            </a:extLst>
          </p:cNvPr>
          <p:cNvSpPr>
            <a:spLocks noGrp="1"/>
          </p:cNvSpPr>
          <p:nvPr/>
        </p:nvSpPr>
        <p:spPr>
          <a:xfrm>
            <a:off x="3048000" y="3219450"/>
            <a:ext cx="6096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프로젝트 수행 결과서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5172E9-1DD9-42CC-92E7-5E49BE942B34}"/>
              </a:ext>
            </a:extLst>
          </p:cNvPr>
          <p:cNvSpPr>
            <a:spLocks noGrp="1"/>
          </p:cNvSpPr>
          <p:nvPr/>
        </p:nvSpPr>
        <p:spPr>
          <a:xfrm>
            <a:off x="4857750" y="4714875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2026/06/23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84DC84-11DA-4643-BD16-30361710B462}"/>
              </a:ext>
            </a:extLst>
          </p:cNvPr>
          <p:cNvSpPr>
            <a:spLocks noGrp="1"/>
          </p:cNvSpPr>
          <p:nvPr/>
        </p:nvSpPr>
        <p:spPr>
          <a:xfrm>
            <a:off x="5095875" y="5191125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안정현</a:t>
            </a:r>
          </a:p>
        </p:txBody>
      </p:sp>
    </p:spTree>
    <p:extLst>
      <p:ext uri="{BB962C8B-B14F-4D97-AF65-F5344CB8AC3E}">
        <p14:creationId xmlns:p14="http://schemas.microsoft.com/office/powerpoint/2010/main" val="1278658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DC5D503-9442-4A12-8818-E502172A0034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CONTENTS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9E11BE-F34F-44A2-A041-0BFFA0F756A5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목차</a:t>
            </a:r>
            <a:endParaRPr lang="ko-KR" sz="2550" b="1" err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7860520-C89C-4CF2-929E-694C1B53343A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7EE505-564E-4237-86C4-68F2F190D3E0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5143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프로젝트</a:t>
            </a: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기획서</a:t>
            </a:r>
            <a:endParaRPr lang="ko-KR" altLang="en-US" sz="1850" b="1" err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사용</a:t>
            </a: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기술</a:t>
            </a:r>
            <a:endParaRPr lang="ko-KR" sz="185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개발</a:t>
            </a: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스케줄</a:t>
            </a: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요구사항</a:t>
            </a: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분석서</a:t>
            </a: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및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명세서</a:t>
            </a: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화면</a:t>
            </a:r>
            <a:r>
              <a:rPr sz="1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850" b="1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설계서</a:t>
            </a: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6.  UML</a:t>
            </a: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7.  ER Diagram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9A7150-4135-4708-B425-2ACBD23894F7}"/>
              </a:ext>
            </a:extLst>
          </p:cNvPr>
          <p:cNvSpPr>
            <a:spLocks noGrp="1"/>
          </p:cNvSpPr>
          <p:nvPr/>
        </p:nvSpPr>
        <p:spPr>
          <a:xfrm>
            <a:off x="6572250" y="2238375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  프로젝트별 주요 기능 및 소스코드</a:t>
            </a: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9.  Software Architecture</a:t>
            </a: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10. 향후 개발 계획</a:t>
            </a:r>
          </a:p>
          <a:p>
            <a:pPr algn="l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11. 프로젝트 수행 소감</a:t>
            </a:r>
          </a:p>
        </p:txBody>
      </p:sp>
    </p:spTree>
    <p:extLst>
      <p:ext uri="{BB962C8B-B14F-4D97-AF65-F5344CB8AC3E}">
        <p14:creationId xmlns:p14="http://schemas.microsoft.com/office/powerpoint/2010/main" val="68232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4D3755-0156-483C-ADA4-D1147A74CE73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프로젝트(Python Full Stack &amp; ML) 기획서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925F24-EA78-4A68-A45E-3E60354F840A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기획 의도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A1E4253-E035-4404-9A62-0BF97F0F7135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281A32-81E6-45E0-A334-1A5C30FC9474}"/>
              </a:ext>
            </a:extLst>
          </p:cNvPr>
          <p:cNvSpPr>
            <a:spLocks noGrp="1"/>
          </p:cNvSpPr>
          <p:nvPr/>
        </p:nvSpPr>
        <p:spPr>
          <a:xfrm>
            <a:off x="589321" y="1915754"/>
            <a:ext cx="5334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서울시 미세먼지·초미세먼지,</a:t>
            </a:r>
          </a:p>
          <a:p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단순 오염이 아닌 '재난'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20298" y="3303824"/>
            <a:ext cx="5066685" cy="1172126"/>
          </a:xfrm>
          <a:prstGeom prst="roundRect">
            <a:avLst>
              <a:gd name="adj" fmla="val 6667"/>
            </a:avLst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81750" y="4721964"/>
            <a:ext cx="4937637" cy="852903"/>
          </a:xfrm>
          <a:prstGeom prst="roundRect">
            <a:avLst>
              <a:gd name="adj" fmla="val 6667"/>
            </a:avLst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751391" y="1712041"/>
            <a:ext cx="4204499" cy="1364224"/>
          </a:xfrm>
          <a:prstGeom prst="roundRect">
            <a:avLst>
              <a:gd name="adj" fmla="val 6667"/>
            </a:avLst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74290" y="3993507"/>
            <a:ext cx="1428750" cy="632190"/>
          </a:xfrm>
          <a:prstGeom prst="roundRect">
            <a:avLst>
              <a:gd name="adj" fmla="val 11111"/>
            </a:avLst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488790" y="4100901"/>
            <a:ext cx="1524000" cy="417401"/>
          </a:xfrm>
          <a:prstGeom prst="roundRect">
            <a:avLst>
              <a:gd name="adj" fmla="val 11111"/>
            </a:avLst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298540" y="4061205"/>
            <a:ext cx="1333500" cy="496794"/>
          </a:xfrm>
          <a:prstGeom prst="roundRect">
            <a:avLst>
              <a:gd name="adj" fmla="val 11111"/>
            </a:avLst>
          </a:prstGeom>
        </p:spPr>
      </p:pic>
    </p:spTree>
    <p:extLst>
      <p:ext uri="{BB962C8B-B14F-4D97-AF65-F5344CB8AC3E}">
        <p14:creationId xmlns:p14="http://schemas.microsoft.com/office/powerpoint/2010/main" val="10562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3289220-AF93-40DE-A392-459DE70A38E2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프로젝트(Python Full Stack &amp; ML) 기획서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6C099D-E754-4833-85B1-D82E43C1C601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기획 의도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B4B4379-2F0C-4954-B9B4-DE886F839F22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079754-B948-4330-B711-5EB4E1C2B0AE}"/>
              </a:ext>
            </a:extLst>
          </p:cNvPr>
          <p:cNvSpPr>
            <a:spLocks noGrp="1"/>
          </p:cNvSpPr>
          <p:nvPr/>
        </p:nvSpPr>
        <p:spPr>
          <a:xfrm>
            <a:off x="723900" y="1718187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미세먼지 발병 시차(Time-Lag)를 고려한</a:t>
            </a:r>
          </a:p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서울시 구별 호흡기 환자 수 예측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882C79-D1F3-4C62-B130-FB5560E40490}"/>
              </a:ext>
            </a:extLst>
          </p:cNvPr>
          <p:cNvSpPr>
            <a:spLocks noGrp="1"/>
          </p:cNvSpPr>
          <p:nvPr/>
        </p:nvSpPr>
        <p:spPr>
          <a:xfrm>
            <a:off x="723900" y="3213919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Why Machine Learning?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EADFD0-037B-4070-8A90-ACE19851DF35}"/>
              </a:ext>
            </a:extLst>
          </p:cNvPr>
          <p:cNvSpPr>
            <a:spLocks noGrp="1"/>
          </p:cNvSpPr>
          <p:nvPr/>
        </p:nvSpPr>
        <p:spPr>
          <a:xfrm>
            <a:off x="742950" y="3690169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뉴스, 미세먼지 예보가 '위험성'을 경고한다면,</a:t>
            </a:r>
          </a:p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머신러닝 기반 예측은 '선제적 대비'를 가능하게 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DEF535-FB23-4009-AD1D-348186418131}"/>
              </a:ext>
            </a:extLst>
          </p:cNvPr>
          <p:cNvSpPr>
            <a:spLocks noGrp="1"/>
          </p:cNvSpPr>
          <p:nvPr/>
        </p:nvSpPr>
        <p:spPr>
          <a:xfrm>
            <a:off x="742950" y="4814119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예측 문제로 확장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00143" y="1590983"/>
            <a:ext cx="3073196" cy="2178459"/>
          </a:xfrm>
          <a:prstGeom prst="roundRect">
            <a:avLst>
              <a:gd name="adj" fmla="val 4706"/>
            </a:avLst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30082" y="4013200"/>
            <a:ext cx="5813321" cy="1703233"/>
          </a:xfrm>
          <a:prstGeom prst="roundRect">
            <a:avLst>
              <a:gd name="adj" fmla="val 4706"/>
            </a:avLst>
          </a:prstGeom>
        </p:spPr>
      </p:pic>
    </p:spTree>
    <p:extLst>
      <p:ext uri="{BB962C8B-B14F-4D97-AF65-F5344CB8AC3E}">
        <p14:creationId xmlns:p14="http://schemas.microsoft.com/office/powerpoint/2010/main" val="135569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87657C2-3B90-451B-9BB9-5440B3D2576B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프로젝트(Python Full Stack &amp; ML) 기획서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3775C9-D337-4FAE-A09E-FB635077529C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개발 목표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278BA4B-333D-4CC7-B09B-F08D670119B2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692E88-E95A-45E4-9A9B-3A07955FB816}"/>
              </a:ext>
            </a:extLst>
          </p:cNvPr>
          <p:cNvSpPr>
            <a:spLocks noGrp="1"/>
          </p:cNvSpPr>
          <p:nvPr/>
        </p:nvSpPr>
        <p:spPr>
          <a:xfrm>
            <a:off x="779821" y="1712656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머신러닝 기반 다중회귀 예측 모델 구축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339722-C85A-4214-BFAD-4AC0B5271D85}"/>
              </a:ext>
            </a:extLst>
          </p:cNvPr>
          <p:cNvSpPr>
            <a:spLocks noGrp="1"/>
          </p:cNvSpPr>
          <p:nvPr/>
        </p:nvSpPr>
        <p:spPr>
          <a:xfrm>
            <a:off x="819150" y="2904510"/>
            <a:ext cx="3057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F2E1D6-B106-4F75-B20B-B3AC35ADDB5F}"/>
              </a:ext>
            </a:extLst>
          </p:cNvPr>
          <p:cNvSpPr>
            <a:spLocks noGrp="1"/>
          </p:cNvSpPr>
          <p:nvPr/>
        </p:nvSpPr>
        <p:spPr>
          <a:xfrm>
            <a:off x="819150" y="3304560"/>
            <a:ext cx="3057525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자치구별 미세먼지 농도</a:t>
            </a:r>
          </a:p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기온, 인구 구조, 지역내총생산</a:t>
            </a:r>
          </a:p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최근 3일 표준편차, 이동평균, 최댓값/최솟값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29408" y="2456529"/>
            <a:ext cx="3155540" cy="3155540"/>
          </a:xfrm>
          <a:prstGeom prst="roundRect">
            <a:avLst>
              <a:gd name="adj" fmla="val 3810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C1A3F23-C640-45BF-BCD7-E2F2D6ECFB05}"/>
              </a:ext>
            </a:extLst>
          </p:cNvPr>
          <p:cNvSpPr>
            <a:spLocks noGrp="1"/>
          </p:cNvSpPr>
          <p:nvPr/>
        </p:nvSpPr>
        <p:spPr>
          <a:xfrm>
            <a:off x="7887929" y="2904510"/>
            <a:ext cx="3343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93E378-9FBD-4A17-AEA6-48C068633D2E}"/>
              </a:ext>
            </a:extLst>
          </p:cNvPr>
          <p:cNvSpPr>
            <a:spLocks noGrp="1"/>
          </p:cNvSpPr>
          <p:nvPr/>
        </p:nvSpPr>
        <p:spPr>
          <a:xfrm>
            <a:off x="7887929" y="3304560"/>
            <a:ext cx="3343275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자치구별 당일 및 향후 3일(D+1~D+3) 예측</a:t>
            </a:r>
          </a:p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호흡기 환자 수 단계구분도</a:t>
            </a:r>
          </a:p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서울시 자치구별 예측값 시각화</a:t>
            </a:r>
          </a:p>
        </p:txBody>
      </p:sp>
    </p:spTree>
    <p:extLst>
      <p:ext uri="{BB962C8B-B14F-4D97-AF65-F5344CB8AC3E}">
        <p14:creationId xmlns:p14="http://schemas.microsoft.com/office/powerpoint/2010/main" val="71144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9288E40-D8E3-4DDE-95A4-6AB7859A5F32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프로젝트(Python Full Stack &amp; ML) 기획서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0B7BFF-E3B9-4130-9AB5-264C494F4A90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개발 목표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B4D5828-99D5-4971-8619-92B0E1F5FCFB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E58C09-89E2-4F3F-B1B5-38FDAC350B57}"/>
              </a:ext>
            </a:extLst>
          </p:cNvPr>
          <p:cNvSpPr>
            <a:spLocks noGrp="1"/>
          </p:cNvSpPr>
          <p:nvPr/>
        </p:nvSpPr>
        <p:spPr>
          <a:xfrm>
            <a:off x="761385" y="1712656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Multi-Step 시계열 예측 시스템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B4F396-A4DF-42DF-ABE0-16008BBC4DAD}"/>
              </a:ext>
            </a:extLst>
          </p:cNvPr>
          <p:cNvSpPr>
            <a:spLocks noGrp="1"/>
          </p:cNvSpPr>
          <p:nvPr/>
        </p:nvSpPr>
        <p:spPr>
          <a:xfrm>
            <a:off x="762000" y="2790825"/>
            <a:ext cx="3676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핵심 목표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A322C4-777C-432E-BED6-C69B7B74149D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36766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향후 3일(D+0~D+3) 내 개인별 증상 발현 확률 제공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향후 3일 환자 수 변화 추이 시각화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급격한 환자 증가 구간의 직관적 시계열 예측 지표 제공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76311" y="2061290"/>
            <a:ext cx="2333625" cy="2987371"/>
          </a:xfrm>
          <a:prstGeom prst="roundRect">
            <a:avLst>
              <a:gd name="adj" fmla="val 3265"/>
            </a:avLst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774434" y="1840476"/>
            <a:ext cx="2309486" cy="3429000"/>
          </a:xfrm>
          <a:prstGeom prst="roundRect">
            <a:avLst>
              <a:gd name="adj" fmla="val 3265"/>
            </a:avLst>
          </a:prstGeom>
        </p:spPr>
      </p:pic>
    </p:spTree>
    <p:extLst>
      <p:ext uri="{BB962C8B-B14F-4D97-AF65-F5344CB8AC3E}">
        <p14:creationId xmlns:p14="http://schemas.microsoft.com/office/powerpoint/2010/main" val="112474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09B0873-54D9-4C83-A92B-9FF4A018ABCF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2차 프로젝트(Computer Vision) 기획서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5F5A67-0025-4A32-AD23-CA43717913FF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YOLO 기반 보행 환경 객체 탐지 및 위험 상황 분석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F8BAA6F6-B127-4081-B901-0A04C5DB31D2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24A8CD-A823-4F82-BAB1-D184ECC6258E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453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기획 의도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074D1B-23A5-4E74-BB61-913435352AA7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45339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보행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환경의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사람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공,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보행자용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신호등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상태를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영상에서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자동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탐지</a:t>
            </a:r>
            <a:endParaRPr lang="ko-KR" altLang="en-US" sz="1350" b="0" err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반복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모니터링의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시간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부담과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주관적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판단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한계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보완</a:t>
            </a:r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보행자용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신호등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빨간불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초록불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상태</a:t>
            </a: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lang="ko-KR" altLang="en-US" sz="1350">
                <a:solidFill>
                  <a:srgbClr val="111827"/>
                </a:solidFill>
                <a:latin typeface="Aptos"/>
                <a:ea typeface="Aptos"/>
                <a:cs typeface="Aptos"/>
              </a:rPr>
              <a:t>판별</a:t>
            </a:r>
            <a:endParaRPr sz="135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79341C-90EB-4471-A8C1-A9625D34767D}"/>
              </a:ext>
            </a:extLst>
          </p:cNvPr>
          <p:cNvSpPr>
            <a:spLocks noGrp="1"/>
          </p:cNvSpPr>
          <p:nvPr/>
        </p:nvSpPr>
        <p:spPr>
          <a:xfrm>
            <a:off x="800100" y="3838575"/>
            <a:ext cx="453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개발 목표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0786F1-B466-461D-8BC3-35E56A5427DE}"/>
              </a:ext>
            </a:extLst>
          </p:cNvPr>
          <p:cNvSpPr>
            <a:spLocks noGrp="1"/>
          </p:cNvSpPr>
          <p:nvPr/>
        </p:nvSpPr>
        <p:spPr>
          <a:xfrm>
            <a:off x="800100" y="4238625"/>
            <a:ext cx="45339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YOLOv11n 기반 객체 탐지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OpenCV 영상 프레임 처리 및 탐지 결과 시각화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사람/공 탐지 여부 기반 위험 확률 계산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Flask-RESTX 영상 스트림 및 위험 데이터 API 제공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15050" y="1627187"/>
            <a:ext cx="4953000" cy="2889250"/>
          </a:xfrm>
          <a:prstGeom prst="roundRect">
            <a:avLst>
              <a:gd name="adj" fmla="val 2623"/>
            </a:avLst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2209CD5-2099-4B57-A946-8B82D0C9915F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객체 탐지 결과를 위험도 계산과 실시간 API 응답으로 연결</a:t>
            </a:r>
          </a:p>
        </p:txBody>
      </p:sp>
    </p:spTree>
    <p:extLst>
      <p:ext uri="{BB962C8B-B14F-4D97-AF65-F5344CB8AC3E}">
        <p14:creationId xmlns:p14="http://schemas.microsoft.com/office/powerpoint/2010/main" val="118693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9D2A8E-48E5-410B-9635-D2923D63E9D0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3차 프로젝트(LLM Fine-Tuning) 기획서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D80E61B-E575-4903-8DB6-8D6D3915BE1B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Unity/GameDev 한국어 LLM 튜터 Fine-Tuning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0567AD4-A5B5-49E5-9309-58F0EC2979F6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71C3CA-2FBE-4185-8457-B9E4B0A5F881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453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기획 의도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9A025F0-3B8F-4640-85BA-8094DB8E9E24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45339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일반 LLM의 게임개발 전문 용어·구현 맥락 한계 보완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Unity 학습자가 한국어로 짧고 정확한 답변을 받는 튜터형 LLM 구축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서비스 응답 형식에 맞는 프롬프트와 후처리 구조 설계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BF1770-08F9-45FF-8C2C-78AFBF8608F1}"/>
              </a:ext>
            </a:extLst>
          </p:cNvPr>
          <p:cNvSpPr>
            <a:spLocks noGrp="1"/>
          </p:cNvSpPr>
          <p:nvPr/>
        </p:nvSpPr>
        <p:spPr>
          <a:xfrm>
            <a:off x="800100" y="3838575"/>
            <a:ext cx="453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개발 목표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441C5A-ACF7-490A-8011-32D58217ABCD}"/>
              </a:ext>
            </a:extLst>
          </p:cNvPr>
          <p:cNvSpPr>
            <a:spLocks noGrp="1"/>
          </p:cNvSpPr>
          <p:nvPr/>
        </p:nvSpPr>
        <p:spPr>
          <a:xfrm>
            <a:off x="800100" y="4238625"/>
            <a:ext cx="45339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KoAlpaca 기반 instruction 데이터셋 활용 및 정제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전문 지식 데이터와 일반 대화 데이터 혼합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Flask-RESTX, MCP, vLLM 연동 추론 API 구현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짧고 정확한 응답 생성을 위한 후처리 로직 구성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15050" y="1627187"/>
            <a:ext cx="4953000" cy="2889250"/>
          </a:xfrm>
          <a:prstGeom prst="roundRect">
            <a:avLst>
              <a:gd name="adj" fmla="val 2623"/>
            </a:avLst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158BFFB-F642-418F-99E4-150F8E19C057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4952999" cy="2556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Fine-Tuning 모델을 MCP Tool과 vLLM 추론 구조로 서비스화</a:t>
            </a:r>
          </a:p>
        </p:txBody>
      </p:sp>
    </p:spTree>
    <p:extLst>
      <p:ext uri="{BB962C8B-B14F-4D97-AF65-F5344CB8AC3E}">
        <p14:creationId xmlns:p14="http://schemas.microsoft.com/office/powerpoint/2010/main" val="33877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A921A6-1F2F-4EDD-B130-82041273B6FA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사용 기술</a:t>
            </a:r>
            <a:endParaRPr lang="ko-KR" altLang="en-US"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8AA0D7-B215-41D7-B17C-D06C7537EF91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사용 기술 목록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A97ECFD-0052-4FFE-9E32-460C80FED7C1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3698C5-BB63-42B7-93F3-2BD82BD6A8AD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Runtime / Web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64FEC3-FDE4-43AD-8DFA-6C6B0E454153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Python 3.11.9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 3.0.3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Werkzeug 3.1.6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Jinja2 3.1.6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requests 2.33.0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Bootstrap 5.3.8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jQuery 3.5.1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2F48F9-A32E-4180-A0A3-6B2DEBE3EC9A}"/>
              </a:ext>
            </a:extLst>
          </p:cNvPr>
          <p:cNvSpPr>
            <a:spLocks noGrp="1"/>
          </p:cNvSpPr>
          <p:nvPr/>
        </p:nvSpPr>
        <p:spPr>
          <a:xfrm>
            <a:off x="4514850" y="1581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2차 Training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6525A0-E3AA-4618-B854-A7E319C0FF1E}"/>
              </a:ext>
            </a:extLst>
          </p:cNvPr>
          <p:cNvSpPr>
            <a:spLocks noGrp="1"/>
          </p:cNvSpPr>
          <p:nvPr/>
        </p:nvSpPr>
        <p:spPr>
          <a:xfrm>
            <a:off x="4514850" y="1981200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Python 3.11.10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CUDA 12.4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GPU RTX 4090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ultralytics 8.4.42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torch 2.4.1+cu124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OpenCV 4.13.0.92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OpenVINO 2024.6.0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568A06-91CC-41D7-BA8B-5ED627535CDC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06B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E06B2F"/>
                </a:solidFill>
                <a:latin typeface="Aptos"/>
                <a:ea typeface="Aptos"/>
                <a:cs typeface="Aptos"/>
              </a:rPr>
              <a:t>3차 Runtime / LLM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247EBB-7B70-4A5E-A6A7-3C42AAF09BF0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Python 3.11.9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 3.0.3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Flask-RESTX 1.3.0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mcp 1.9.4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FastMCP 1.9.4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vLLM 0.8.5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Hugging Face datasets 4.8.5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FF9AC5F-3C30-46F0-9844-8EEC63732B1F}"/>
              </a:ext>
            </a:extLst>
          </p:cNvPr>
          <p:cNvSpPr>
            <a:spLocks noGrp="1"/>
          </p:cNvSpPr>
          <p:nvPr/>
        </p:nvSpPr>
        <p:spPr>
          <a:xfrm>
            <a:off x="742950" y="3895725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DB / ML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22458-04F7-47C3-A655-2B4B161A35B7}"/>
              </a:ext>
            </a:extLst>
          </p:cNvPr>
          <p:cNvSpPr>
            <a:spLocks noGrp="1"/>
          </p:cNvSpPr>
          <p:nvPr/>
        </p:nvSpPr>
        <p:spPr>
          <a:xfrm>
            <a:off x="742950" y="4295775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Oracle DB 11g XE 11.2.0.2.0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oracledb 3.4.2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SQLAlchemy 2.0.21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pandas 3.0.1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numpy 2.4.3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scikit-learn 1.8.0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XGBoost 3.2.0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LightGBM 4.6.0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4DDBDE-E536-436E-A10C-473FB54994CB}"/>
              </a:ext>
            </a:extLst>
          </p:cNvPr>
          <p:cNvSpPr>
            <a:spLocks noGrp="1"/>
          </p:cNvSpPr>
          <p:nvPr/>
        </p:nvSpPr>
        <p:spPr>
          <a:xfrm>
            <a:off x="4514850" y="3895725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2차 API / Tools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57653DD-EC2A-458F-938B-E0D5292DD7A9}"/>
              </a:ext>
            </a:extLst>
          </p:cNvPr>
          <p:cNvSpPr>
            <a:spLocks noGrp="1"/>
          </p:cNvSpPr>
          <p:nvPr/>
        </p:nvSpPr>
        <p:spPr>
          <a:xfrm>
            <a:off x="4514850" y="4295775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 3.0.3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Flask-RESTX 1.3.0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Flask-CORS 4.0.1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roboflow 1.3.3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albumentations 2.0.8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sahi 0.11.36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PyYAML 6.0.3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193DF0-1841-458F-955C-4097C224A6C3}"/>
              </a:ext>
            </a:extLst>
          </p:cNvPr>
          <p:cNvSpPr>
            <a:spLocks noGrp="1"/>
          </p:cNvSpPr>
          <p:nvPr/>
        </p:nvSpPr>
        <p:spPr>
          <a:xfrm>
            <a:off x="8286750" y="3895725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06B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E06B2F"/>
                </a:solidFill>
                <a:latin typeface="Aptos"/>
                <a:ea typeface="Aptos"/>
                <a:cs typeface="Aptos"/>
              </a:rPr>
              <a:t>3차 Config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ADEFF2-1CB4-4751-AA79-B4C925ECDCCA}"/>
              </a:ext>
            </a:extLst>
          </p:cNvPr>
          <p:cNvSpPr>
            <a:spLocks noGrp="1"/>
          </p:cNvSpPr>
          <p:nvPr/>
        </p:nvSpPr>
        <p:spPr>
          <a:xfrm>
            <a:off x="8286750" y="4295775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JSONL Dataset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Instruction Tuning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Model Serving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Prompt Control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Stop Sequence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Answer Postprocess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python-dotenv 1.2.2</a:t>
            </a:r>
          </a:p>
        </p:txBody>
      </p:sp>
    </p:spTree>
    <p:extLst>
      <p:ext uri="{BB962C8B-B14F-4D97-AF65-F5344CB8AC3E}">
        <p14:creationId xmlns:p14="http://schemas.microsoft.com/office/powerpoint/2010/main" val="790014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694103-C186-4E52-8447-7E351245BE35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사용 기술</a:t>
            </a:r>
            <a:endParaRPr lang="ko-KR" altLang="en-US"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DA8644-4BB1-49F4-B9A0-34065DE51BE9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사용 기술 경험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9F98061-DD9A-4B3D-9F8E-C7314874AE45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4074A2-1ECE-479A-9852-5129C88284F3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ML / 예측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A07854-B646-415F-A6F3-19B1B01B32FE}"/>
              </a:ext>
            </a:extLst>
          </p:cNvPr>
          <p:cNvSpPr>
            <a:spLocks noGrp="1"/>
          </p:cNvSpPr>
          <p:nvPr/>
        </p:nvSpPr>
        <p:spPr>
          <a:xfrm>
            <a:off x="742950" y="1981200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RandomForestRegressor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XGBRegressor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LGBMRegressor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MultiOutputRegressor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Multi-Step Prediction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Train/Test Split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R2 Score / MAE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5BC73D-2494-4DBB-8A17-90954467FB56}"/>
              </a:ext>
            </a:extLst>
          </p:cNvPr>
          <p:cNvSpPr>
            <a:spLocks noGrp="1"/>
          </p:cNvSpPr>
          <p:nvPr/>
        </p:nvSpPr>
        <p:spPr>
          <a:xfrm>
            <a:off x="4514850" y="1581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2차 Vision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88D483-C219-4CD0-BD23-DF2160393F5D}"/>
              </a:ext>
            </a:extLst>
          </p:cNvPr>
          <p:cNvSpPr>
            <a:spLocks noGrp="1"/>
          </p:cNvSpPr>
          <p:nvPr/>
        </p:nvSpPr>
        <p:spPr>
          <a:xfrm>
            <a:off x="4514850" y="1981200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Ultralytics YOLO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OpenCV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Object Detection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Bounding Box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Frame Processing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Traffic Light Detection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Red/Green Classification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3E6D4D-70C1-4D38-954A-471F11333465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06B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E06B2F"/>
                </a:solidFill>
                <a:latin typeface="Aptos"/>
                <a:ea typeface="Aptos"/>
                <a:cs typeface="Aptos"/>
              </a:rPr>
              <a:t>3차 LLM / MCP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2EC8C5-D23F-4A10-B9B1-F4BE70E7A2BE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LLM Fine-Tuning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Instruction Dataset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KoAlpaca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MCP Tool Calling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FastMCP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vLLM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Model Serving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4DEB9-D551-4342-AF28-4BCF063361B3}"/>
              </a:ext>
            </a:extLst>
          </p:cNvPr>
          <p:cNvSpPr>
            <a:spLocks noGrp="1"/>
          </p:cNvSpPr>
          <p:nvPr/>
        </p:nvSpPr>
        <p:spPr>
          <a:xfrm>
            <a:off x="742950" y="3895725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1차 Data / Web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40CC91-05F4-4174-91A6-F82F3E99E5D8}"/>
              </a:ext>
            </a:extLst>
          </p:cNvPr>
          <p:cNvSpPr>
            <a:spLocks noGrp="1"/>
          </p:cNvSpPr>
          <p:nvPr/>
        </p:nvSpPr>
        <p:spPr>
          <a:xfrm>
            <a:off x="742950" y="4295775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pandas / numpy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StandardScaler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Time-Lag Features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Moving Average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Oracle DB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SQLAlchemy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390821-DCB8-46D5-8277-ED9ED5288AF9}"/>
              </a:ext>
            </a:extLst>
          </p:cNvPr>
          <p:cNvSpPr>
            <a:spLocks noGrp="1"/>
          </p:cNvSpPr>
          <p:nvPr/>
        </p:nvSpPr>
        <p:spPr>
          <a:xfrm>
            <a:off x="4514850" y="3895725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2차 API / Streaming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8E9161-B48D-4045-9A50-4D2468032C25}"/>
              </a:ext>
            </a:extLst>
          </p:cNvPr>
          <p:cNvSpPr>
            <a:spLocks noGrp="1"/>
          </p:cNvSpPr>
          <p:nvPr/>
        </p:nvSpPr>
        <p:spPr>
          <a:xfrm>
            <a:off x="4514850" y="4295775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Flask-RESTX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Swagger UI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MJPEG Streaming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JSON Response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Risk Probability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roboflow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OpenVINO export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DCDB28-A8EB-4D1F-8228-0A666A45CAE8}"/>
              </a:ext>
            </a:extLst>
          </p:cNvPr>
          <p:cNvSpPr>
            <a:spLocks noGrp="1"/>
          </p:cNvSpPr>
          <p:nvPr/>
        </p:nvSpPr>
        <p:spPr>
          <a:xfrm>
            <a:off x="8286750" y="3895725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06B2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E06B2F"/>
                </a:solidFill>
                <a:latin typeface="Aptos"/>
                <a:ea typeface="Aptos"/>
                <a:cs typeface="Aptos"/>
              </a:rPr>
              <a:t>3차 Prompt / Response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FE2BBF-774E-49F7-9755-69CE73D2F5CD}"/>
              </a:ext>
            </a:extLst>
          </p:cNvPr>
          <p:cNvSpPr>
            <a:spLocks noGrp="1"/>
          </p:cNvSpPr>
          <p:nvPr/>
        </p:nvSpPr>
        <p:spPr>
          <a:xfrm>
            <a:off x="8286750" y="4295775"/>
            <a:ext cx="3162300" cy="1419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Prompt Engineering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Stop Sequence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Answer Postprocessing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JSONL Dataset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csv / json / pkl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try / except</a:t>
            </a:r>
          </a:p>
          <a:p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python-dotenv</a:t>
            </a:r>
          </a:p>
        </p:txBody>
      </p:sp>
    </p:spTree>
    <p:extLst>
      <p:ext uri="{BB962C8B-B14F-4D97-AF65-F5344CB8AC3E}">
        <p14:creationId xmlns:p14="http://schemas.microsoft.com/office/powerpoint/2010/main" val="1309297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A2586F1-FEF4-48E2-A4EA-6DC8F63E088A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개발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스케줄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B44B10-CEDC-43A9-8D04-30FD418C86E7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(Python Full Stack &amp; ML)</a:t>
            </a:r>
            <a:endParaRPr lang="ko-KR" altLang="en-US"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6F045E6-9017-415F-A572-56727AB70804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18A06A-B991-D07F-5020-C9FB0026C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06" y="1373276"/>
            <a:ext cx="11016157" cy="532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44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5C01D46-0BC9-42DB-962E-C42B1D190F3A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개발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스케줄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7A3C335-32E7-4D86-AF74-78C92D2D56E6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(Computer Vision)</a:t>
            </a:r>
            <a:endParaRPr lang="ko-KR" altLang="en-US"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6829C6C-E995-4AC6-8994-867841EB690B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9E96B7-9039-5F38-86FD-45A6E0A5F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06" y="1578060"/>
            <a:ext cx="11009587" cy="43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8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088DEB-66DA-4119-BD2A-66688EE4B975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개발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스케줄</a:t>
            </a:r>
            <a:endParaRPr lang="ko-KR" altLang="en-US" sz="2250" b="1" err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7A92B5A-048A-4E89-B1DA-26561615C7EA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endParaRPr lang="ko-KR" altLang="en-US"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B319DE9-EA79-41EE-B2D6-3F0EADC9789B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6D2708-DE06-5CBA-C9CB-29B73DA49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07" y="1621122"/>
            <a:ext cx="11003018" cy="431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2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D8380D-3B06-48BF-BD4E-1A9CA9C4F6CF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요구사항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분석서</a:t>
            </a:r>
            <a:r>
              <a:rPr 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(1/3)</a:t>
            </a:r>
            <a:endParaRPr lang="ko-KR" altLang="en-US"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3B2C7A-66B0-4A6A-9D51-406D58A2044D}"/>
              </a:ext>
            </a:extLst>
          </p:cNvPr>
          <p:cNvSpPr>
            <a:spLocks noGrp="1"/>
          </p:cNvSpPr>
          <p:nvPr/>
        </p:nvSpPr>
        <p:spPr>
          <a:xfrm>
            <a:off x="590550" y="697625"/>
            <a:ext cx="11029293" cy="5412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en-US" alt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-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 기본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정보 및 비즈니스 요구사항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C3C41D8-828D-4810-B224-F32487316F1F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30769-1E84-369E-7676-09681982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83" b="39337"/>
          <a:stretch>
            <a:fillRect/>
          </a:stretch>
        </p:blipFill>
        <p:spPr>
          <a:xfrm>
            <a:off x="-1" y="2032989"/>
            <a:ext cx="12192023" cy="373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44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13CA9-2537-B72E-4E50-B2265465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FCEF95-0013-DDF0-0121-8385D145BEDD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요구사항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분석서</a:t>
            </a:r>
            <a:r>
              <a:rPr 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(2/3)</a:t>
            </a:r>
            <a:endParaRPr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C40FAA-F76F-F9D9-89FA-513C99C57D95}"/>
              </a:ext>
            </a:extLst>
          </p:cNvPr>
          <p:cNvSpPr>
            <a:spLocks noGrp="1"/>
          </p:cNvSpPr>
          <p:nvPr/>
        </p:nvSpPr>
        <p:spPr>
          <a:xfrm>
            <a:off x="590550" y="697625"/>
            <a:ext cx="10832224" cy="5412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550">
                <a:solidFill>
                  <a:srgbClr val="111827"/>
                </a:solidFill>
                <a:ea typeface="+mn-lt"/>
                <a:cs typeface="+mn-lt"/>
              </a:rPr>
              <a:t>사용자 시나리오 및 기능 요구사항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 </a:t>
            </a:r>
            <a:endParaRPr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554B98B-FBC3-7AD4-AD08-87D87A7D86F8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FEE46F-9CDF-995D-4B04-AC922910D7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33" b="8408"/>
          <a:stretch>
            <a:fillRect/>
          </a:stretch>
        </p:blipFill>
        <p:spPr>
          <a:xfrm>
            <a:off x="781706" y="1357149"/>
            <a:ext cx="10819085" cy="534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17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B91B8-7F35-6B1C-5A17-53D1E61F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6B35C1-DF78-95C1-7361-DAD8F50E66CD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요구사항 분석서</a:t>
            </a:r>
            <a:r>
              <a:rPr 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(3/3)</a:t>
            </a:r>
            <a:endParaRPr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2EDA5F-CDB7-38C7-2535-A8EF49C81892}"/>
              </a:ext>
            </a:extLst>
          </p:cNvPr>
          <p:cNvSpPr>
            <a:spLocks noGrp="1"/>
          </p:cNvSpPr>
          <p:nvPr/>
        </p:nvSpPr>
        <p:spPr>
          <a:xfrm>
            <a:off x="590550" y="697625"/>
            <a:ext cx="10766534" cy="5412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ko-KR" altLang="en-US" sz="2550">
                <a:solidFill>
                  <a:srgbClr val="111827"/>
                </a:solidFill>
                <a:ea typeface="+mn-lt"/>
                <a:cs typeface="+mn-lt"/>
              </a:rPr>
              <a:t>비기능 요구사항 제약사항 추적성</a:t>
            </a:r>
            <a:endParaRPr lang="ko-KR" altLang="en-US"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46C6311-303C-E86E-75ED-611653F4E616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F62CE6-0395-3A1D-7382-ECE728543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72" b="12644"/>
          <a:stretch>
            <a:fillRect/>
          </a:stretch>
        </p:blipFill>
        <p:spPr>
          <a:xfrm>
            <a:off x="289034" y="1399190"/>
            <a:ext cx="11613931" cy="540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58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1870D9F-B3FC-440D-A113-C9796CE4BB6F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기술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명세서</a:t>
            </a:r>
            <a:r>
              <a:rPr 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(1/3)</a:t>
            </a:r>
            <a:endParaRPr lang="ko-KR" altLang="en-US"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B5BE00-D2BC-4E2B-9D9C-A04D0AC8BD13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시스템 구성 및 설계 원칙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BC2F623-67F9-4E96-9D27-475D23BC53F6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39E96A-90E0-EE87-7261-C739592F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22" b="37455"/>
          <a:stretch>
            <a:fillRect/>
          </a:stretch>
        </p:blipFill>
        <p:spPr>
          <a:xfrm>
            <a:off x="0" y="1892095"/>
            <a:ext cx="12192000" cy="383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97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CAE3D-0606-881E-0CB1-35E9F63A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64F8B00-3707-5BCF-9CF2-24761C5CC6ED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기술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명세서</a:t>
            </a:r>
            <a:r>
              <a:rPr 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(2/3)</a:t>
            </a:r>
            <a:endParaRPr lang="ko-KR" altLang="en-US"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0886F1-3AFE-E0F5-1DD2-F3D43E3FE5AE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-  </a:t>
            </a:r>
            <a:r>
              <a:rPr lang="ko-KR" sz="2550" b="1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운영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550" b="1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환경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550" b="1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기술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550" b="1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스택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550" b="1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데이터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명세</a:t>
            </a:r>
            <a:endParaRPr lang="ko-KR" altLang="en-US"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2AC0F924-D779-8C8D-4DEC-491EA12D28BF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8319F4-AF19-3248-5F95-F669F31A2C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30" b="9505"/>
          <a:stretch>
            <a:fillRect/>
          </a:stretch>
        </p:blipFill>
        <p:spPr>
          <a:xfrm>
            <a:off x="430162" y="1261367"/>
            <a:ext cx="11325533" cy="540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6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FA7A5-C612-67DF-8C9F-6D98F960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C0672E3-0BDE-9185-42FE-55A6107A3A15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기술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명세서</a:t>
            </a:r>
            <a:r>
              <a:rPr 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(3/3)</a:t>
            </a:r>
            <a:endParaRPr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E18E04-D059-0CF0-891B-48095E48DFB0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6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lang="ko-KR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 인터페이스 예외처리 </a:t>
            </a:r>
            <a:r>
              <a:rPr lang="ko-KR" altLang="en-US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검수기준</a:t>
            </a:r>
            <a:endParaRPr lang="ko-KR"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B38926ED-0922-6294-1ABC-05B78880B6F6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DE5C20-0BBB-6931-3FC7-FB221EA03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08" b="10027"/>
          <a:stretch>
            <a:fillRect/>
          </a:stretch>
        </p:blipFill>
        <p:spPr>
          <a:xfrm>
            <a:off x="510049" y="1434280"/>
            <a:ext cx="11171904" cy="522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97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FD2F70-B6E9-4122-A0D8-EC07AF856FE6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화면 설계서</a:t>
            </a:r>
            <a:r>
              <a:rPr 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(1/2</a:t>
            </a:r>
            <a:r>
              <a:rPr 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)</a:t>
            </a:r>
            <a:endParaRPr lang="ko-KR"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/>
          <p:cNvPicPr>
            <a:picLocks noChangeAspect="1"/>
          </p:cNvPicPr>
          <p:nvPr/>
        </p:nvPicPr>
        <p:blipFill>
          <a:blip r:embed="rId3"/>
          <a:srcRect l="140" t="5698" r="-559" b="7932"/>
          <a:stretch>
            <a:fillRect/>
          </a:stretch>
        </p:blipFill>
        <p:spPr>
          <a:xfrm>
            <a:off x="593209" y="857457"/>
            <a:ext cx="10968791" cy="5865395"/>
          </a:xfrm>
          <a:prstGeom prst="roundRect">
            <a:avLst>
              <a:gd name="adj" fmla="val 1584"/>
            </a:avLst>
          </a:prstGeom>
        </p:spPr>
      </p:pic>
    </p:spTree>
    <p:extLst>
      <p:ext uri="{BB962C8B-B14F-4D97-AF65-F5344CB8AC3E}">
        <p14:creationId xmlns:p14="http://schemas.microsoft.com/office/powerpoint/2010/main" val="496245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1BC8059-4880-4A12-81A6-44D6A61D70F1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화면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설계서</a:t>
            </a:r>
            <a:r>
              <a:rPr 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(2/2)</a:t>
            </a:r>
          </a:p>
        </p:txBody>
      </p:sp>
      <p:pic>
        <p:nvPicPr>
          <p:cNvPr id="10" name="그림 9" descr="텍스트, 스크린샷, 소프트웨어, 컴퓨터 아이콘이(가) 표시된 사진&#10;&#10;AI 생성 콘텐츠는 정확하지 않을 수 있습니다."/>
          <p:cNvPicPr>
            <a:picLocks noChangeAspect="1"/>
          </p:cNvPicPr>
          <p:nvPr/>
        </p:nvPicPr>
        <p:blipFill>
          <a:blip r:embed="rId3"/>
          <a:srcRect t="5910" r="58" b="4986"/>
          <a:stretch>
            <a:fillRect/>
          </a:stretch>
        </p:blipFill>
        <p:spPr>
          <a:xfrm>
            <a:off x="808925" y="769154"/>
            <a:ext cx="10573733" cy="5931433"/>
          </a:xfrm>
          <a:prstGeom prst="roundRect">
            <a:avLst>
              <a:gd name="adj" fmla="val 1584"/>
            </a:avLst>
          </a:prstGeom>
        </p:spPr>
      </p:pic>
    </p:spTree>
    <p:extLst>
      <p:ext uri="{BB962C8B-B14F-4D97-AF65-F5344CB8AC3E}">
        <p14:creationId xmlns:p14="http://schemas.microsoft.com/office/powerpoint/2010/main" val="319627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2DDD26B-9EDC-4077-A7C6-0FAFC961A4BC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UML</a:t>
            </a:r>
            <a:r>
              <a:rPr lang="ko-KR" alt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230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–</a:t>
            </a:r>
            <a:r>
              <a:rPr 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 </a:t>
            </a:r>
            <a:r>
              <a:rPr lang="en-US" alt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Use Case Diagram</a:t>
            </a:r>
            <a:endParaRPr lang="ko-KR" altLang="en-US"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" name="그림 2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CDCF40-D7E1-2AAB-A684-21B1E0307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22" y="712838"/>
            <a:ext cx="10858500" cy="614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66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8B33A55-56DD-4CD9-839D-EB6A2C1F703E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UML</a:t>
            </a:r>
            <a:r>
              <a:rPr lang="ko-KR" altLang="en-US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– </a:t>
            </a:r>
            <a:r>
              <a:rPr lang="en-US" alt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Sequence Diagram</a:t>
            </a:r>
            <a:endParaRPr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" name="그림 1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A84827-60A8-AE4B-8AD5-120A6421F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6" r="3161" b="6108"/>
          <a:stretch>
            <a:fillRect/>
          </a:stretch>
        </p:blipFill>
        <p:spPr>
          <a:xfrm>
            <a:off x="361293" y="801413"/>
            <a:ext cx="11469145" cy="592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83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D0FF1AE-CD42-4BF7-940E-5EFCCF2BADE2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UML</a:t>
            </a:r>
            <a:r>
              <a:rPr 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–</a:t>
            </a:r>
            <a:r>
              <a:rPr lang="ko-KR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lang="af-ZA"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Class Diagram</a:t>
            </a:r>
            <a:endParaRPr sz="2250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F7BF96-2581-1B32-408E-C8873DD8B0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84" b="4125"/>
          <a:stretch>
            <a:fillRect/>
          </a:stretch>
        </p:blipFill>
        <p:spPr>
          <a:xfrm>
            <a:off x="282677" y="766737"/>
            <a:ext cx="11626658" cy="598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8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FAE0FD9-BF30-4B94-903D-34C8526BA455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ER Diagram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9921D4-59A1-8341-228B-63EE63DB7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25" b="4749"/>
          <a:stretch>
            <a:fillRect/>
          </a:stretch>
        </p:blipFill>
        <p:spPr>
          <a:xfrm>
            <a:off x="276532" y="790228"/>
            <a:ext cx="11645093" cy="585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01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FBC9040-301E-4980-B805-3DA4DC63C8C9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프로젝트별 주요 기능 및 소스코드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2770" y="929986"/>
            <a:ext cx="6950228" cy="5534352"/>
          </a:xfrm>
          <a:prstGeom prst="roundRect">
            <a:avLst>
              <a:gd name="adj" fmla="val 2424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220B03B-D72F-4938-AFD4-2A28A7C4FC23}"/>
              </a:ext>
            </a:extLst>
          </p:cNvPr>
          <p:cNvSpPr>
            <a:spLocks noGrp="1"/>
          </p:cNvSpPr>
          <p:nvPr/>
        </p:nvSpPr>
        <p:spPr>
          <a:xfrm>
            <a:off x="7836776" y="5605660"/>
            <a:ext cx="336987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YOLO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탐지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결과에서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객체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상태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추출</a:t>
            </a:r>
            <a:endParaRPr lang="ko-KR" altLang="en-US" sz="1400" b="0" err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사람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/공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감지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여부로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위험도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계산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베이즈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기반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확률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계산</a:t>
            </a:r>
            <a:r>
              <a:rPr sz="14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적용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B4A04A-D67D-07B4-F835-5B0A09A59F67}"/>
              </a:ext>
            </a:extLst>
          </p:cNvPr>
          <p:cNvSpPr>
            <a:spLocks noGrp="1"/>
          </p:cNvSpPr>
          <p:nvPr/>
        </p:nvSpPr>
        <p:spPr>
          <a:xfrm>
            <a:off x="7776999" y="1716143"/>
            <a:ext cx="3402723" cy="3777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7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객체 탐지 결과 기반 위험도 계산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212AA18B-CB3F-79FA-E67F-6EB863DB32E7}"/>
              </a:ext>
            </a:extLst>
          </p:cNvPr>
          <p:cNvSpPr>
            <a:spLocks noGrp="1"/>
          </p:cNvSpPr>
          <p:nvPr/>
        </p:nvSpPr>
        <p:spPr>
          <a:xfrm>
            <a:off x="7801791" y="1565576"/>
            <a:ext cx="4113487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7A7095-9763-4CD4-BE00-147658E498E5}"/>
              </a:ext>
            </a:extLst>
          </p:cNvPr>
          <p:cNvSpPr>
            <a:spLocks noGrp="1"/>
          </p:cNvSpPr>
          <p:nvPr/>
        </p:nvSpPr>
        <p:spPr>
          <a:xfrm>
            <a:off x="7776999" y="1098331"/>
            <a:ext cx="463112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2차</a:t>
            </a:r>
            <a:r>
              <a:rPr lang="ko-KR"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프로젝트</a:t>
            </a: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(Computer Vision)</a:t>
            </a:r>
            <a:endParaRPr lang="ko-KR" sz="200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491754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4C5484F-1439-4C44-ACFB-210E6952C9E6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프로젝트별 주요 기능 및 소스코드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4DA39E-2AEB-483F-AF0A-9A696BA67540}"/>
              </a:ext>
            </a:extLst>
          </p:cNvPr>
          <p:cNvSpPr>
            <a:spLocks noGrp="1"/>
          </p:cNvSpPr>
          <p:nvPr/>
        </p:nvSpPr>
        <p:spPr>
          <a:xfrm>
            <a:off x="8414188" y="1716143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실시간 탐지 영상 스트리밍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2535" y="1006694"/>
            <a:ext cx="7650188" cy="5481801"/>
          </a:xfrm>
          <a:prstGeom prst="roundRect">
            <a:avLst>
              <a:gd name="adj" fmla="val 2424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C98DD97-86AD-466B-9F68-F63C37CCEC1F}"/>
              </a:ext>
            </a:extLst>
          </p:cNvPr>
          <p:cNvSpPr>
            <a:spLocks noGrp="1"/>
          </p:cNvSpPr>
          <p:nvPr/>
        </p:nvSpPr>
        <p:spPr>
          <a:xfrm>
            <a:off x="8408277" y="5636171"/>
            <a:ext cx="4223844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OpenCV로 영상 프레임 처리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YOLO 추론 결과를 프레임에 시각화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 Response로 실시간 스트리밍 제공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D0F670-0AF5-93F5-A904-D4062DBFD94D}"/>
              </a:ext>
            </a:extLst>
          </p:cNvPr>
          <p:cNvSpPr>
            <a:spLocks noGrp="1"/>
          </p:cNvSpPr>
          <p:nvPr/>
        </p:nvSpPr>
        <p:spPr>
          <a:xfrm>
            <a:off x="8368206" y="1104900"/>
            <a:ext cx="463112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2차</a:t>
            </a:r>
            <a:r>
              <a:rPr lang="ko-KR"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프로젝트</a:t>
            </a: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(Computer Vision)</a:t>
            </a:r>
            <a:endParaRPr lang="ko-KR" sz="200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E310B76E-0C2C-4918-0837-5A22892205A6}"/>
              </a:ext>
            </a:extLst>
          </p:cNvPr>
          <p:cNvSpPr>
            <a:spLocks noGrp="1"/>
          </p:cNvSpPr>
          <p:nvPr/>
        </p:nvSpPr>
        <p:spPr>
          <a:xfrm>
            <a:off x="8407619" y="1584435"/>
            <a:ext cx="3658915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0180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FA484CD-4FA2-479C-A20D-B3B9FA8E4658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프로젝트별 주요 기능 및 소스코드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295819-F855-484F-9707-C539A4A65EEB}"/>
              </a:ext>
            </a:extLst>
          </p:cNvPr>
          <p:cNvSpPr>
            <a:spLocks noGrp="1"/>
          </p:cNvSpPr>
          <p:nvPr/>
        </p:nvSpPr>
        <p:spPr>
          <a:xfrm>
            <a:off x="7474825" y="1330152"/>
            <a:ext cx="4590436" cy="476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000" b="1" dirty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endParaRPr lang="ko-KR" sz="200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A54756-C34F-45DB-935E-1B4C7B18E3E4}"/>
              </a:ext>
            </a:extLst>
          </p:cNvPr>
          <p:cNvSpPr>
            <a:spLocks noGrp="1"/>
          </p:cNvSpPr>
          <p:nvPr/>
        </p:nvSpPr>
        <p:spPr>
          <a:xfrm>
            <a:off x="7474825" y="1946056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Flask API와 MCP Tool 연동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7594" y="983809"/>
            <a:ext cx="6642728" cy="5448955"/>
          </a:xfrm>
          <a:prstGeom prst="roundRect">
            <a:avLst>
              <a:gd name="adj" fmla="val 2424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25931C2-57E4-4485-9A95-995A2C1D0598}"/>
              </a:ext>
            </a:extLst>
          </p:cNvPr>
          <p:cNvSpPr>
            <a:spLocks noGrp="1"/>
          </p:cNvSpPr>
          <p:nvPr/>
        </p:nvSpPr>
        <p:spPr>
          <a:xfrm>
            <a:off x="7580586" y="5477245"/>
            <a:ext cx="437535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REST API 요청을 MCP 도구 호출로 연결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vLLM 서버 정보는 환경변수로 분리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API 계층과 추론 계층을 느슨하게 결합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5EA4BD2C-F01E-E393-0BAF-6AAC7318E242}"/>
              </a:ext>
            </a:extLst>
          </p:cNvPr>
          <p:cNvSpPr>
            <a:spLocks noGrp="1"/>
          </p:cNvSpPr>
          <p:nvPr/>
        </p:nvSpPr>
        <p:spPr>
          <a:xfrm>
            <a:off x="7474826" y="1794642"/>
            <a:ext cx="4573314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2535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1DFDE64-72A8-4936-BC2C-BC65D13A8646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프로젝트별 주요 기능 및 소스코드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0018D-5E2A-42F4-8076-52D1E804B4BC}"/>
              </a:ext>
            </a:extLst>
          </p:cNvPr>
          <p:cNvSpPr>
            <a:spLocks noGrp="1"/>
          </p:cNvSpPr>
          <p:nvPr/>
        </p:nvSpPr>
        <p:spPr>
          <a:xfrm>
            <a:off x="590550" y="803787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endParaRPr lang="ko-KR" altLang="en-US" sz="240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D3493A0-B231-49D9-9856-0D234B249BE0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B77AFE-1D52-43ED-9043-BBA7868B8E78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도메인 프롬프트 제어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7680" y="1835022"/>
            <a:ext cx="10158122" cy="4029422"/>
          </a:xfrm>
          <a:prstGeom prst="roundRect">
            <a:avLst>
              <a:gd name="adj" fmla="val 2424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587F5CF-40C3-4429-9AB1-69A057478261}"/>
              </a:ext>
            </a:extLst>
          </p:cNvPr>
          <p:cNvSpPr>
            <a:spLocks noGrp="1"/>
          </p:cNvSpPr>
          <p:nvPr/>
        </p:nvSpPr>
        <p:spPr>
          <a:xfrm>
            <a:off x="972207" y="6001067"/>
            <a:ext cx="9525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Unity/GameDev 튜터 역할 고정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답변 길이와 코드블록 조건 제한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도메인 외 응답 안정성 보완</a:t>
            </a:r>
          </a:p>
        </p:txBody>
      </p:sp>
    </p:spTree>
    <p:extLst>
      <p:ext uri="{BB962C8B-B14F-4D97-AF65-F5344CB8AC3E}">
        <p14:creationId xmlns:p14="http://schemas.microsoft.com/office/powerpoint/2010/main" val="979531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7E36346-50A8-4DF8-974D-FA5786C2A919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프로젝트별 주요 기능 및 소스코드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309F7F-1493-4803-8CEF-D3F490534D3C}"/>
              </a:ext>
            </a:extLst>
          </p:cNvPr>
          <p:cNvSpPr>
            <a:spLocks noGrp="1"/>
          </p:cNvSpPr>
          <p:nvPr/>
        </p:nvSpPr>
        <p:spPr>
          <a:xfrm>
            <a:off x="7619343" y="1904947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vLLM 추론 요청 구성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1076" y="963254"/>
            <a:ext cx="6897675" cy="5488369"/>
          </a:xfrm>
          <a:prstGeom prst="roundRect">
            <a:avLst>
              <a:gd name="adj" fmla="val 2424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3056D36-02CA-4C53-B9C7-3C46DA759A8B}"/>
              </a:ext>
            </a:extLst>
          </p:cNvPr>
          <p:cNvSpPr>
            <a:spLocks noGrp="1"/>
          </p:cNvSpPr>
          <p:nvPr/>
        </p:nvSpPr>
        <p:spPr>
          <a:xfrm>
            <a:off x="7724468" y="5593580"/>
            <a:ext cx="417871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vLLM 서버로 Fine-Tuning 모델 호출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생성 파라미터와 stop sequence 설정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일관된 튜터 답변을 위한 추론 제어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31E1C66B-ED3F-DA1B-141F-EC903B67ABF4}"/>
              </a:ext>
            </a:extLst>
          </p:cNvPr>
          <p:cNvSpPr>
            <a:spLocks noGrp="1"/>
          </p:cNvSpPr>
          <p:nvPr/>
        </p:nvSpPr>
        <p:spPr>
          <a:xfrm>
            <a:off x="7619343" y="1794642"/>
            <a:ext cx="4390434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88EEC1-EFC6-4D00-58E7-3EA7EE00CCBB}"/>
              </a:ext>
            </a:extLst>
          </p:cNvPr>
          <p:cNvSpPr>
            <a:spLocks noGrp="1"/>
          </p:cNvSpPr>
          <p:nvPr/>
        </p:nvSpPr>
        <p:spPr>
          <a:xfrm>
            <a:off x="7633329" y="1311716"/>
            <a:ext cx="425859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</a:t>
            </a:r>
            <a:r>
              <a:rPr lang="ko-KR"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altLang="en-US"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(LLM Fine-Tuning)</a:t>
            </a:r>
            <a:endParaRPr lang="ko-KR" sz="200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29646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64C52BA-7F84-4E94-9609-410E003E4C78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프로젝트별 주요 기능 및 소스코드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E8A940-659C-4B6A-874A-A4AB77FA7B29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3차(LLM Fine-Tuning)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253A410-D1FD-4001-BBB1-52933C9AA5DD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6A7996-6830-4671-BED7-588750DEBA57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Fine-Tuning 학습 결과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6349" y="1805242"/>
            <a:ext cx="4179157" cy="3799245"/>
          </a:xfrm>
          <a:prstGeom prst="roundRect">
            <a:avLst>
              <a:gd name="adj" fmla="val 2540"/>
            </a:avLst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06092" y="1803605"/>
            <a:ext cx="4181977" cy="3657907"/>
          </a:xfrm>
          <a:prstGeom prst="roundRect">
            <a:avLst>
              <a:gd name="adj" fmla="val 2540"/>
            </a:avLst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C486D5B-A93C-4264-BCF2-D72993C67E2F}"/>
              </a:ext>
            </a:extLst>
          </p:cNvPr>
          <p:cNvSpPr>
            <a:spLocks noGrp="1"/>
          </p:cNvSpPr>
          <p:nvPr/>
        </p:nvSpPr>
        <p:spPr>
          <a:xfrm>
            <a:off x="3951339" y="5805642"/>
            <a:ext cx="5112774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평가 손실 감소 추이와 런타임 변화 확인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학습 step 증가에 따른 모델 수렴 흐름 점검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Fine-Tuning 결과와 훈련 환경 성능 검증 자료로 활용</a:t>
            </a:r>
          </a:p>
        </p:txBody>
      </p:sp>
    </p:spTree>
    <p:extLst>
      <p:ext uri="{BB962C8B-B14F-4D97-AF65-F5344CB8AC3E}">
        <p14:creationId xmlns:p14="http://schemas.microsoft.com/office/powerpoint/2010/main" val="1931785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0EE1E39-36BA-4A67-B424-E74B3169F275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프로젝트별 주요 기능 및 소스코드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238D22-AB52-4A8C-B0D3-E78482D369D7}"/>
              </a:ext>
            </a:extLst>
          </p:cNvPr>
          <p:cNvSpPr>
            <a:spLocks noGrp="1"/>
          </p:cNvSpPr>
          <p:nvPr/>
        </p:nvSpPr>
        <p:spPr>
          <a:xfrm>
            <a:off x="7054412" y="1222082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1차</a:t>
            </a:r>
            <a:r>
              <a:rPr lang="ko-KR"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ko-KR" sz="2000" b="1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프로젝트</a:t>
            </a:r>
            <a:r>
              <a:rPr sz="2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(Python Full Stack &amp; ML)</a:t>
            </a:r>
            <a:endParaRPr lang="ko-KR" altLang="en-US" sz="240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F573CA-AF8F-4308-9CB2-5F89DAC6D9BB}"/>
              </a:ext>
            </a:extLst>
          </p:cNvPr>
          <p:cNvSpPr>
            <a:spLocks noGrp="1"/>
          </p:cNvSpPr>
          <p:nvPr/>
        </p:nvSpPr>
        <p:spPr>
          <a:xfrm>
            <a:off x="7054201" y="1911728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Multi-output XGBoost Training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1206" y="819373"/>
            <a:ext cx="6240938" cy="5699846"/>
          </a:xfrm>
          <a:prstGeom prst="roundRect">
            <a:avLst>
              <a:gd name="adj" fmla="val 2424"/>
            </a:avLst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DBA9441-58B1-48ED-9EE4-59A7562A743A}"/>
              </a:ext>
            </a:extLst>
          </p:cNvPr>
          <p:cNvSpPr>
            <a:spLocks noGrp="1"/>
          </p:cNvSpPr>
          <p:nvPr/>
        </p:nvSpPr>
        <p:spPr>
          <a:xfrm>
            <a:off x="7055281" y="5655667"/>
            <a:ext cx="5057468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감기/천식 예측용 XGBoost 회귀 모델 학습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D0~D+3 다중 날짜 예측</a:t>
            </a:r>
          </a:p>
          <a:p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학습 모델을 Flask 서비스용 pkl로 저장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A2EEFFD-8E62-3232-6066-885120ED97DE}"/>
              </a:ext>
            </a:extLst>
          </p:cNvPr>
          <p:cNvSpPr>
            <a:spLocks noGrp="1"/>
          </p:cNvSpPr>
          <p:nvPr/>
        </p:nvSpPr>
        <p:spPr>
          <a:xfrm>
            <a:off x="7152523" y="1747176"/>
            <a:ext cx="4573314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4368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84818A-8CB1-459E-8618-B644F1B4A654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352B86-99C5-47D8-9EA6-301FD7DD3AC0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2차(Computer Vision)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930E241-01A9-4B81-991E-AD4E919A5A21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B2120F4-39D2-4DCF-89FF-8102D1C07A96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사용자 브라우저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DB15EEC-B9B3-4B83-90D5-CC3D46DFD078}"/>
              </a:ext>
            </a:extLst>
          </p:cNvPr>
          <p:cNvSpPr>
            <a:spLocks noGrp="1"/>
          </p:cNvSpPr>
          <p:nvPr/>
        </p:nvSpPr>
        <p:spPr>
          <a:xfrm>
            <a:off x="250507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Flask/RESTX API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A3F4051-B31F-4A96-A518-F39CF15975BE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OpenCV 영상 처리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057DFA-9EFC-4333-904E-0FFF47DBF50A}"/>
              </a:ext>
            </a:extLst>
          </p:cNvPr>
          <p:cNvSpPr>
            <a:spLocks noGrp="1"/>
          </p:cNvSpPr>
          <p:nvPr/>
        </p:nvSpPr>
        <p:spPr>
          <a:xfrm>
            <a:off x="618172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YOLO 모델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F9A9481-DC10-4F56-82EC-C9914A269844}"/>
              </a:ext>
            </a:extLst>
          </p:cNvPr>
          <p:cNvSpPr>
            <a:spLocks noGrp="1"/>
          </p:cNvSpPr>
          <p:nvPr/>
        </p:nvSpPr>
        <p:spPr>
          <a:xfrm>
            <a:off x="802005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위험도 계산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31390DF-42A6-415D-8525-BD557787859E}"/>
              </a:ext>
            </a:extLst>
          </p:cNvPr>
          <p:cNvSpPr>
            <a:spLocks noGrp="1"/>
          </p:cNvSpPr>
          <p:nvPr/>
        </p:nvSpPr>
        <p:spPr>
          <a:xfrm>
            <a:off x="985837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1F8A5B">
              <a:alpha val="9412"/>
            </a:srgbClr>
          </a:solidFill>
          <a:ln w="9525">
            <a:solidFill>
              <a:srgbClr val="1F8A5B">
                <a:alpha val="50196"/>
              </a:srgbClr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스트리밍/API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4F73D8-0145-4DA8-AC85-2237BA39F072}"/>
              </a:ext>
            </a:extLst>
          </p:cNvPr>
          <p:cNvSpPr>
            <a:spLocks noGrp="1"/>
          </p:cNvSpPr>
          <p:nvPr/>
        </p:nvSpPr>
        <p:spPr>
          <a:xfrm>
            <a:off x="230505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236F99-4AC8-491C-AE6F-1F881A2489D9}"/>
              </a:ext>
            </a:extLst>
          </p:cNvPr>
          <p:cNvSpPr>
            <a:spLocks noGrp="1"/>
          </p:cNvSpPr>
          <p:nvPr/>
        </p:nvSpPr>
        <p:spPr>
          <a:xfrm>
            <a:off x="4143375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B8B0EA-11B5-4493-A51D-93BA1A979D86}"/>
              </a:ext>
            </a:extLst>
          </p:cNvPr>
          <p:cNvSpPr>
            <a:spLocks noGrp="1"/>
          </p:cNvSpPr>
          <p:nvPr/>
        </p:nvSpPr>
        <p:spPr>
          <a:xfrm>
            <a:off x="598170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8418B5-8AD3-469C-ADFE-ECF2B2605D7F}"/>
              </a:ext>
            </a:extLst>
          </p:cNvPr>
          <p:cNvSpPr>
            <a:spLocks noGrp="1"/>
          </p:cNvSpPr>
          <p:nvPr/>
        </p:nvSpPr>
        <p:spPr>
          <a:xfrm>
            <a:off x="7820025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69949A-F834-40FA-9842-2277B6FE02E9}"/>
              </a:ext>
            </a:extLst>
          </p:cNvPr>
          <p:cNvSpPr>
            <a:spLocks noGrp="1"/>
          </p:cNvSpPr>
          <p:nvPr/>
        </p:nvSpPr>
        <p:spPr>
          <a:xfrm>
            <a:off x="965835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26146D-8942-4E84-B3F5-0F4CBC100986}"/>
              </a:ext>
            </a:extLst>
          </p:cNvPr>
          <p:cNvSpPr>
            <a:spLocks noGrp="1"/>
          </p:cNvSpPr>
          <p:nvPr/>
        </p:nvSpPr>
        <p:spPr>
          <a:xfrm>
            <a:off x="4459671" y="3833649"/>
            <a:ext cx="758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핵심 구조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16DEA7-64F7-4CB5-ABC6-2E0B1BA0026A}"/>
              </a:ext>
            </a:extLst>
          </p:cNvPr>
          <p:cNvSpPr>
            <a:spLocks noGrp="1"/>
          </p:cNvSpPr>
          <p:nvPr/>
        </p:nvSpPr>
        <p:spPr>
          <a:xfrm>
            <a:off x="4459671" y="4233699"/>
            <a:ext cx="75819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YOLO 기반 객체 탐지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탐지 결과를 위험도 계산 로직에 반영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DB 없이 영상, 모델, API 중심 구성</a:t>
            </a:r>
          </a:p>
        </p:txBody>
      </p:sp>
    </p:spTree>
    <p:extLst>
      <p:ext uri="{BB962C8B-B14F-4D97-AF65-F5344CB8AC3E}">
        <p14:creationId xmlns:p14="http://schemas.microsoft.com/office/powerpoint/2010/main" val="582622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A49756-3FCE-476F-AC18-A38492F1D841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7A0364-7468-4FAB-A404-78BD18CDC3E6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3차(LLM Fine-Tuning)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4610851-2E47-40C7-B9BC-FB365BE44A51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A2779BF-596C-4DC0-ACA5-9E05D67B9D05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사용자 요청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3D05026-04CF-425F-B12E-15BC669D60A3}"/>
              </a:ext>
            </a:extLst>
          </p:cNvPr>
          <p:cNvSpPr>
            <a:spLocks noGrp="1"/>
          </p:cNvSpPr>
          <p:nvPr/>
        </p:nvSpPr>
        <p:spPr>
          <a:xfrm>
            <a:off x="250507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Flask-RESTX API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B3408D-4B9E-4F46-A6FE-4EFA74634890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Client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00AEFF9-2827-494F-A2DC-9F2354537F0E}"/>
              </a:ext>
            </a:extLst>
          </p:cNvPr>
          <p:cNvSpPr>
            <a:spLocks noGrp="1"/>
          </p:cNvSpPr>
          <p:nvPr/>
        </p:nvSpPr>
        <p:spPr>
          <a:xfrm>
            <a:off x="618172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MCP Server Tool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AB5928D-35D4-42CB-9ECD-3BE57BC04099}"/>
              </a:ext>
            </a:extLst>
          </p:cNvPr>
          <p:cNvSpPr>
            <a:spLocks noGrp="1"/>
          </p:cNvSpPr>
          <p:nvPr/>
        </p:nvSpPr>
        <p:spPr>
          <a:xfrm>
            <a:off x="802005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vLLM 서버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DE57B0-0B38-468F-9C26-A854F2050F14}"/>
              </a:ext>
            </a:extLst>
          </p:cNvPr>
          <p:cNvSpPr>
            <a:spLocks noGrp="1"/>
          </p:cNvSpPr>
          <p:nvPr/>
        </p:nvSpPr>
        <p:spPr>
          <a:xfrm>
            <a:off x="985837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3563E9">
              <a:alpha val="9412"/>
            </a:srgbClr>
          </a:solidFill>
          <a:ln w="9525">
            <a:solidFill>
              <a:srgbClr val="3563E9">
                <a:alpha val="50196"/>
              </a:srgbClr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튜터 응답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AAB8F4-6D98-4D8D-AA85-96796B56FE1C}"/>
              </a:ext>
            </a:extLst>
          </p:cNvPr>
          <p:cNvSpPr>
            <a:spLocks noGrp="1"/>
          </p:cNvSpPr>
          <p:nvPr/>
        </p:nvSpPr>
        <p:spPr>
          <a:xfrm>
            <a:off x="230505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279243-9CCF-4BEA-892D-5E483E74C875}"/>
              </a:ext>
            </a:extLst>
          </p:cNvPr>
          <p:cNvSpPr>
            <a:spLocks noGrp="1"/>
          </p:cNvSpPr>
          <p:nvPr/>
        </p:nvSpPr>
        <p:spPr>
          <a:xfrm>
            <a:off x="4143375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4E8E2F-4F87-4B9C-882C-7F17B93A97FC}"/>
              </a:ext>
            </a:extLst>
          </p:cNvPr>
          <p:cNvSpPr>
            <a:spLocks noGrp="1"/>
          </p:cNvSpPr>
          <p:nvPr/>
        </p:nvSpPr>
        <p:spPr>
          <a:xfrm>
            <a:off x="598170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840CFB-25F5-4B02-83DC-2D0684666170}"/>
              </a:ext>
            </a:extLst>
          </p:cNvPr>
          <p:cNvSpPr>
            <a:spLocks noGrp="1"/>
          </p:cNvSpPr>
          <p:nvPr/>
        </p:nvSpPr>
        <p:spPr>
          <a:xfrm>
            <a:off x="7820025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2EADCF-1BD9-4ACF-968A-57183B7355F8}"/>
              </a:ext>
            </a:extLst>
          </p:cNvPr>
          <p:cNvSpPr>
            <a:spLocks noGrp="1"/>
          </p:cNvSpPr>
          <p:nvPr/>
        </p:nvSpPr>
        <p:spPr>
          <a:xfrm>
            <a:off x="965835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59FCA6-80DD-42CF-B73B-73F9E641D999}"/>
              </a:ext>
            </a:extLst>
          </p:cNvPr>
          <p:cNvSpPr>
            <a:spLocks noGrp="1"/>
          </p:cNvSpPr>
          <p:nvPr/>
        </p:nvSpPr>
        <p:spPr>
          <a:xfrm>
            <a:off x="4091809" y="3899338"/>
            <a:ext cx="758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핵심 구조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5A1972-6131-4B9C-BFB9-BB68F4EDECEA}"/>
              </a:ext>
            </a:extLst>
          </p:cNvPr>
          <p:cNvSpPr>
            <a:spLocks noGrp="1"/>
          </p:cNvSpPr>
          <p:nvPr/>
        </p:nvSpPr>
        <p:spPr>
          <a:xfrm>
            <a:off x="4091809" y="4299388"/>
            <a:ext cx="75819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Fine-Tuning 모델 기반 Unity/GameDev 튜터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API 계층과 추론 계층 분리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응답 후처리로 서비스 응답 정리</a:t>
            </a:r>
          </a:p>
        </p:txBody>
      </p:sp>
    </p:spTree>
    <p:extLst>
      <p:ext uri="{BB962C8B-B14F-4D97-AF65-F5344CB8AC3E}">
        <p14:creationId xmlns:p14="http://schemas.microsoft.com/office/powerpoint/2010/main" val="1730623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B6F1F4-4AF2-45C0-B17F-D34C1344D913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E7A6DF-6D69-4A21-BE0C-1A8418097807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1차(Python Full Stack &amp; ML)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8E94E4D-BFCF-495C-A6E7-6F6114E0D924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6468D10-73F9-4BE2-9650-9C3CFD51923F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사용자 브라우저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3A091B4-14A0-4E45-9BD1-1092D80D9A5C}"/>
              </a:ext>
            </a:extLst>
          </p:cNvPr>
          <p:cNvSpPr>
            <a:spLocks noGrp="1"/>
          </p:cNvSpPr>
          <p:nvPr/>
        </p:nvSpPr>
        <p:spPr>
          <a:xfrm>
            <a:off x="250507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웹 서버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FCE1299-E362-48E8-9FA3-BD3D8307644E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예측/조회 로직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4680915-E801-4351-BAE9-96B900AE9908}"/>
              </a:ext>
            </a:extLst>
          </p:cNvPr>
          <p:cNvSpPr>
            <a:spLocks noGrp="1"/>
          </p:cNvSpPr>
          <p:nvPr/>
        </p:nvSpPr>
        <p:spPr>
          <a:xfrm>
            <a:off x="618172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ML 모델 pkl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22B959C-04A7-406C-94B6-99E93849631B}"/>
              </a:ext>
            </a:extLst>
          </p:cNvPr>
          <p:cNvSpPr>
            <a:spLocks noGrp="1"/>
          </p:cNvSpPr>
          <p:nvPr/>
        </p:nvSpPr>
        <p:spPr>
          <a:xfrm>
            <a:off x="8020050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9525">
            <a:solidFill>
              <a:srgbClr val="DBE3EF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Oracle DB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0505A33-799E-4AA0-AB6D-3839B4366B78}"/>
              </a:ext>
            </a:extLst>
          </p:cNvPr>
          <p:cNvSpPr>
            <a:spLocks noGrp="1"/>
          </p:cNvSpPr>
          <p:nvPr/>
        </p:nvSpPr>
        <p:spPr>
          <a:xfrm>
            <a:off x="9858375" y="2000250"/>
            <a:ext cx="1666875" cy="781050"/>
          </a:xfrm>
          <a:prstGeom prst="roundRect">
            <a:avLst>
              <a:gd name="adj" fmla="val 9756"/>
            </a:avLst>
          </a:prstGeom>
          <a:solidFill>
            <a:srgbClr val="E06B2F">
              <a:alpha val="9412"/>
            </a:srgbClr>
          </a:solidFill>
          <a:ln w="9525">
            <a:solidFill>
              <a:srgbClr val="E06B2F">
                <a:alpha val="50196"/>
              </a:srgbClr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지도/차트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5381B3-8648-4BD2-893E-E34B42EC0524}"/>
              </a:ext>
            </a:extLst>
          </p:cNvPr>
          <p:cNvSpPr>
            <a:spLocks noGrp="1"/>
          </p:cNvSpPr>
          <p:nvPr/>
        </p:nvSpPr>
        <p:spPr>
          <a:xfrm>
            <a:off x="230505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A4875F-73C2-4711-9409-D67070FA0165}"/>
              </a:ext>
            </a:extLst>
          </p:cNvPr>
          <p:cNvSpPr>
            <a:spLocks noGrp="1"/>
          </p:cNvSpPr>
          <p:nvPr/>
        </p:nvSpPr>
        <p:spPr>
          <a:xfrm>
            <a:off x="4143375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D12B74-B9E0-46F5-9E68-066BDA570484}"/>
              </a:ext>
            </a:extLst>
          </p:cNvPr>
          <p:cNvSpPr>
            <a:spLocks noGrp="1"/>
          </p:cNvSpPr>
          <p:nvPr/>
        </p:nvSpPr>
        <p:spPr>
          <a:xfrm>
            <a:off x="598170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C72B2E-D97B-4202-8310-6551797DB69F}"/>
              </a:ext>
            </a:extLst>
          </p:cNvPr>
          <p:cNvSpPr>
            <a:spLocks noGrp="1"/>
          </p:cNvSpPr>
          <p:nvPr/>
        </p:nvSpPr>
        <p:spPr>
          <a:xfrm>
            <a:off x="7820025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A7C500-AAA6-481E-97B9-D132453DE4F7}"/>
              </a:ext>
            </a:extLst>
          </p:cNvPr>
          <p:cNvSpPr>
            <a:spLocks noGrp="1"/>
          </p:cNvSpPr>
          <p:nvPr/>
        </p:nvSpPr>
        <p:spPr>
          <a:xfrm>
            <a:off x="9658350" y="223837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872B57-2D54-44E8-849B-FA0F8EEDFB37}"/>
              </a:ext>
            </a:extLst>
          </p:cNvPr>
          <p:cNvSpPr>
            <a:spLocks noGrp="1"/>
          </p:cNvSpPr>
          <p:nvPr/>
        </p:nvSpPr>
        <p:spPr>
          <a:xfrm>
            <a:off x="4683016" y="3833648"/>
            <a:ext cx="758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E06B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06B2F"/>
                </a:solidFill>
                <a:latin typeface="Aptos"/>
                <a:ea typeface="Aptos"/>
                <a:cs typeface="Aptos"/>
              </a:rPr>
              <a:t>핵심 구조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734E79-5B30-4B1D-9531-FE2C921041F4}"/>
              </a:ext>
            </a:extLst>
          </p:cNvPr>
          <p:cNvSpPr>
            <a:spLocks noGrp="1"/>
          </p:cNvSpPr>
          <p:nvPr/>
        </p:nvSpPr>
        <p:spPr>
          <a:xfrm>
            <a:off x="4683016" y="4233698"/>
            <a:ext cx="75819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Flask 기반 웹 서비스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예측 결과 저장 및 조회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지도/차트 기반 시각화 제공</a:t>
            </a:r>
          </a:p>
        </p:txBody>
      </p:sp>
    </p:spTree>
    <p:extLst>
      <p:ext uri="{BB962C8B-B14F-4D97-AF65-F5344CB8AC3E}">
        <p14:creationId xmlns:p14="http://schemas.microsoft.com/office/powerpoint/2010/main" val="330308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95689BA-E701-4C54-ACA9-70055079434B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향후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개발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계획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6B4C26-512D-4B6B-ABF5-3CBACD2C6656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VLM + AI Agent 기반 게임 QA 자동화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E782C60B-9375-4E8D-A5B9-EFC348AB708A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8B8413-3333-4EF5-A7B9-0191626D1848}"/>
              </a:ext>
            </a:extLst>
          </p:cNvPr>
          <p:cNvSpPr>
            <a:spLocks noGrp="1"/>
          </p:cNvSpPr>
          <p:nvPr/>
        </p:nvSpPr>
        <p:spPr>
          <a:xfrm>
            <a:off x="1066800" y="1922079"/>
            <a:ext cx="405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개발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3FAF05-3A04-4D33-85FC-ED18D47F6AA3}"/>
              </a:ext>
            </a:extLst>
          </p:cNvPr>
          <p:cNvSpPr>
            <a:spLocks noGrp="1"/>
          </p:cNvSpPr>
          <p:nvPr/>
        </p:nvSpPr>
        <p:spPr>
          <a:xfrm>
            <a:off x="1066800" y="2322129"/>
            <a:ext cx="40576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LLM Fine-Tuning 기반 튜터 서비스에서 VLM 기반 분석 시스템으로 확장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게임 플레이 영상, 로그, 기획 문서를 함께 분석하는 QA 보조 도구 개발</a:t>
            </a:r>
          </a:p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AI Agent를 활용해 문제 탐지, 관련 문서 검색, 개선 제안 리포트 자동 생성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805191D-2BDD-409C-BA24-192EFDE223A9}"/>
              </a:ext>
            </a:extLst>
          </p:cNvPr>
          <p:cNvSpPr>
            <a:spLocks noGrp="1"/>
          </p:cNvSpPr>
          <p:nvPr/>
        </p:nvSpPr>
        <p:spPr>
          <a:xfrm>
            <a:off x="6638925" y="1922079"/>
            <a:ext cx="3581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75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600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Workflow</a:t>
            </a:r>
            <a:endParaRPr sz="1575" b="1">
              <a:solidFill>
                <a:srgbClr val="3563E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6C5FBE-E3EF-4710-B0D1-94F5D6029C57}"/>
              </a:ext>
            </a:extLst>
          </p:cNvPr>
          <p:cNvSpPr>
            <a:spLocks noGrp="1"/>
          </p:cNvSpPr>
          <p:nvPr/>
        </p:nvSpPr>
        <p:spPr>
          <a:xfrm>
            <a:off x="6638925" y="2322129"/>
            <a:ext cx="35814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1. 게임 플레이 영상/로그 수집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2. VLM 기반 장면 분석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3. RAG 기반 문서 검색</a:t>
            </a:r>
          </a:p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4. AI Agent 리포트 생성</a:t>
            </a:r>
          </a:p>
        </p:txBody>
      </p:sp>
    </p:spTree>
    <p:extLst>
      <p:ext uri="{BB962C8B-B14F-4D97-AF65-F5344CB8AC3E}">
        <p14:creationId xmlns:p14="http://schemas.microsoft.com/office/powerpoint/2010/main" val="766961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FEE736-4AF1-4A51-89A0-E9CD50A22568}"/>
              </a:ext>
            </a:extLst>
          </p:cNvPr>
          <p:cNvSpPr>
            <a:spLocks noGrp="1"/>
          </p:cNvSpPr>
          <p:nvPr/>
        </p:nvSpPr>
        <p:spPr>
          <a:xfrm>
            <a:off x="590550" y="228600"/>
            <a:ext cx="762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l">
              <a:defRPr sz="2250" b="1">
                <a:solidFill>
                  <a:srgbClr val="3563E9"/>
                </a:solidFill>
                <a:latin typeface="Aptos"/>
                <a:ea typeface="Aptos"/>
                <a:cs typeface="Aptos"/>
              </a:defRPr>
            </a:pP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프로젝트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수행</a:t>
            </a:r>
            <a:r>
              <a:rPr sz="2250" b="1">
                <a:solidFill>
                  <a:srgbClr val="3563E9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err="1">
                <a:solidFill>
                  <a:srgbClr val="3563E9"/>
                </a:solidFill>
                <a:latin typeface="Aptos"/>
                <a:ea typeface="Aptos"/>
                <a:cs typeface="Aptos"/>
              </a:rPr>
              <a:t>소감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3335FB-7794-4BCF-A6B6-6F7366CF389C}"/>
              </a:ext>
            </a:extLst>
          </p:cNvPr>
          <p:cNvSpPr>
            <a:spLocks noGrp="1"/>
          </p:cNvSpPr>
          <p:nvPr/>
        </p:nvSpPr>
        <p:spPr>
          <a:xfrm>
            <a:off x="590550" y="72390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겪은 어려움과 트러블슈팅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24EB8FB-FD70-41AC-A762-E3F7F3473379}"/>
              </a:ext>
            </a:extLst>
          </p:cNvPr>
          <p:cNvSpPr>
            <a:spLocks noGrp="1"/>
          </p:cNvSpPr>
          <p:nvPr/>
        </p:nvSpPr>
        <p:spPr>
          <a:xfrm>
            <a:off x="590550" y="1295400"/>
            <a:ext cx="11010900" cy="0"/>
          </a:xfrm>
          <a:prstGeom prst="line">
            <a:avLst/>
          </a:prstGeom>
          <a:noFill/>
          <a:ln w="9525">
            <a:solidFill>
              <a:srgbClr val="D7DCE5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F960DA-6576-4715-B04F-43E802734009}"/>
              </a:ext>
            </a:extLst>
          </p:cNvPr>
          <p:cNvSpPr>
            <a:spLocks noGrp="1"/>
          </p:cNvSpPr>
          <p:nvPr/>
        </p:nvSpPr>
        <p:spPr>
          <a:xfrm>
            <a:off x="1637643" y="1946713"/>
            <a:ext cx="386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D94F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4F4F"/>
                </a:solidFill>
                <a:latin typeface="Aptos"/>
                <a:ea typeface="Aptos"/>
                <a:cs typeface="Aptos"/>
              </a:rPr>
              <a:t>겪은 어려움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43A017-CDDB-4471-83A9-63F974E48C0C}"/>
              </a:ext>
            </a:extLst>
          </p:cNvPr>
          <p:cNvSpPr>
            <a:spLocks noGrp="1"/>
          </p:cNvSpPr>
          <p:nvPr/>
        </p:nvSpPr>
        <p:spPr>
          <a:xfrm>
            <a:off x="1637643" y="2346763"/>
            <a:ext cx="38671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실시간 영상 처리</a:t>
            </a:r>
          </a:p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객체 탐지 결과 해석</a:t>
            </a:r>
          </a:p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LLM 응답 품질 제어</a:t>
            </a:r>
          </a:p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추론 서버 연동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92B262-A58A-4C4C-B5A3-4E3933EF30F3}"/>
              </a:ext>
            </a:extLst>
          </p:cNvPr>
          <p:cNvSpPr>
            <a:spLocks noGrp="1"/>
          </p:cNvSpPr>
          <p:nvPr/>
        </p:nvSpPr>
        <p:spPr>
          <a:xfrm>
            <a:off x="6687207" y="1959851"/>
            <a:ext cx="3867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8A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8A5B"/>
                </a:solidFill>
                <a:latin typeface="Aptos"/>
                <a:ea typeface="Aptos"/>
                <a:cs typeface="Aptos"/>
              </a:rPr>
              <a:t>배운 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A2F1CE-1065-48E1-8E40-E5911CC05250}"/>
              </a:ext>
            </a:extLst>
          </p:cNvPr>
          <p:cNvSpPr>
            <a:spLocks noGrp="1"/>
          </p:cNvSpPr>
          <p:nvPr/>
        </p:nvSpPr>
        <p:spPr>
          <a:xfrm>
            <a:off x="6687207" y="2359901"/>
            <a:ext cx="38671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모델과 서비스 구조의 연결</a:t>
            </a:r>
          </a:p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데이터 흐름 관리</a:t>
            </a:r>
          </a:p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예외 처리와 후처리의 중요성</a:t>
            </a:r>
          </a:p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안정적인 AI 파이프라인 설계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971FC7-2155-4226-AB1C-A9E37C2DBEFB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서비스는 모델 학습만으로 완성되지 않으며, </a:t>
            </a:r>
            <a:endParaRPr lang="ko-KR" altLang="en-US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API 구조와 데이터 흐름까지 포함한 전체 파이프라인 안정성이 </a:t>
            </a:r>
            <a:r>
              <a:rPr lang="ko-KR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중요</a:t>
            </a:r>
            <a:endParaRPr sz="18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145340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37</Slides>
  <Notes>37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38" baseType="lpstr"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93</cp:revision>
  <dcterms:created xsi:type="dcterms:W3CDTF">2026-06-17T06:28:36Z</dcterms:created>
  <dcterms:modified xsi:type="dcterms:W3CDTF">2026-06-18T04:24:04Z</dcterms:modified>
</cp:coreProperties>
</file>