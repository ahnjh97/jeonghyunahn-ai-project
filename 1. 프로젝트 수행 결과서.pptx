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3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5" r:id="rId10"/>
    <p:sldId id="264" r:id="rId11"/>
    <p:sldId id="266" r:id="rId12"/>
    <p:sldId id="267" r:id="rId13"/>
    <p:sldId id="268" r:id="rId14"/>
    <p:sldId id="271" r:id="rId15"/>
    <p:sldId id="297" r:id="rId16"/>
    <p:sldId id="298" r:id="rId17"/>
    <p:sldId id="274" r:id="rId18"/>
    <p:sldId id="299" r:id="rId19"/>
    <p:sldId id="300" r:id="rId20"/>
    <p:sldId id="275" r:id="rId21"/>
    <p:sldId id="276" r:id="rId22"/>
    <p:sldId id="281" r:id="rId23"/>
    <p:sldId id="282" r:id="rId24"/>
    <p:sldId id="283" r:id="rId25"/>
    <p:sldId id="284" r:id="rId26"/>
    <p:sldId id="285" r:id="rId27"/>
    <p:sldId id="286" r:id="rId28"/>
    <p:sldId id="287" r:id="rId29"/>
    <p:sldId id="288" r:id="rId30"/>
    <p:sldId id="289" r:id="rId31"/>
    <p:sldId id="290" r:id="rId32"/>
    <p:sldId id="291" r:id="rId33"/>
    <p:sldId id="292" r:id="rId34"/>
    <p:sldId id="293" r:id="rId35"/>
    <p:sldId id="294" r:id="rId36"/>
    <p:sldId id="295" r:id="rId37"/>
    <p:sldId id="296" r:id="rId38"/>
  </p:sldIdLst>
  <p:sldSz cx="12192000" cy="6858000"/>
  <p:notesSz cx="6858000" cy="9144000"/>
  <p:defaultTextStyle>
    <a:defPPr>
      <a:defRPr lang="en-US"/>
    </a:defPPr>
    <a:lvl1pPr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24922C4E-FDB1-4B51-AC04-3450D436D0C4}" v="669" dt="2026-06-17T08:55:15.018"/>
    <p1510:client id="{95781443-2B36-4131-A9ED-AC675D611816}" v="151" dt="2026-06-18T03:45:17.634"/>
    <p1510:client id="{E88B17D7-CB88-458D-8F16-6403D1109B9E}" v="178" dt="2026-06-17T07:30:05.826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notesMaster" Target="notesMasters/notesMaster1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microsoft.com/office/2015/10/relationships/revisionInfo" Target="revisionInfo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tableStyles" Target="tableStyle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578EDA-4ABE-B36C-9415-BEBF491145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671C6A9-7386-A086-12E0-8F4F4F15B8A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D86A811-1B4F-5A41-78B7-BDB7851009C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7EAB252-060F-4A38-228A-79359C02C6C5}"/>
              </a:ext>
            </a:extLst>
          </p:cNvPr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594645453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0E71C0-1AEE-E28A-6B3F-E421D65E07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5584D3C-D59B-48B3-C650-36B0187F0E9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D516D37-03BE-00B1-9DA1-4DDCF9AC44E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2BE412B-AB91-8E64-48BE-389B8D0B64B9}"/>
              </a:ext>
            </a:extLst>
          </p:cNvPr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358981995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6EE3B1-E2B3-A005-6AF6-E0D1682FE3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A34C9EB-83D3-4CEC-9053-18B1CCE0D8C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379BEE6-33C3-F0F5-DDCE-41EA4B0A7B9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4A06ADE-7CED-86B0-B56D-0C8C58345767}"/>
              </a:ext>
            </a:extLst>
          </p:cNvPr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476401570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511F04-F2EE-1E8D-E1E9-9EF9507FB2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D9C605B-C472-B3C0-A8BD-7833D027CF0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3613276-E538-2D1B-621D-1CE12C8BC1C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8749FA6-B3E6-98E6-4364-69B9DA978FFF}"/>
              </a:ext>
            </a:extLst>
          </p:cNvPr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4221663975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8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1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5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>
            <a:extLst>
              <a:ext uri="{FF2B5EF4-FFF2-40B4-BE49-F238E27FC236}">
                <a16:creationId xmlns:a16="http://schemas.microsoft.com/office/drawing/2014/main" id="{B38234EA-8E6E-44DD-A86B-DF2ACEE4B5FA}"/>
              </a:ext>
            </a:extLst>
          </p:cNvPr>
          <p:cNvSpPr>
            <a:spLocks noGrp="1"/>
          </p:cNvSpPr>
          <p:nvPr/>
        </p:nvSpPr>
        <p:spPr>
          <a:xfrm>
            <a:off x="1333500" y="1695450"/>
            <a:ext cx="9525000" cy="1352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3750" b="1">
                <a:solidFill>
                  <a:srgbClr val="000000"/>
                </a:solidFill>
                <a:latin typeface="Aptos Display"/>
                <a:ea typeface="Aptos Display"/>
                <a:cs typeface="Aptos Display"/>
              </a:defRPr>
            </a:pPr>
            <a:r>
              <a:rPr sz="3750" b="1">
                <a:solidFill>
                  <a:srgbClr val="000000"/>
                </a:solidFill>
                <a:latin typeface="Aptos Display"/>
                <a:ea typeface="Aptos Display"/>
                <a:cs typeface="Aptos Display"/>
              </a:rPr>
              <a:t>생성형 AI 기반 서울시 미세먼지 대응</a:t>
            </a:r>
          </a:p>
          <a:p>
            <a:pPr algn="ctr">
              <a:defRPr sz="3750" b="1">
                <a:solidFill>
                  <a:srgbClr val="000000"/>
                </a:solidFill>
                <a:latin typeface="Aptos Display"/>
                <a:ea typeface="Aptos Display"/>
                <a:cs typeface="Aptos Display"/>
              </a:defRPr>
            </a:pPr>
            <a:r>
              <a:rPr sz="3750" b="1">
                <a:solidFill>
                  <a:srgbClr val="000000"/>
                </a:solidFill>
                <a:latin typeface="Aptos Display"/>
                <a:ea typeface="Aptos Display"/>
                <a:cs typeface="Aptos Display"/>
              </a:rPr>
              <a:t>호흡기 건강 예보 서비스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206F2B45-0748-45CF-8625-E1B94C61E49F}"/>
              </a:ext>
            </a:extLst>
          </p:cNvPr>
          <p:cNvSpPr>
            <a:spLocks noGrp="1"/>
          </p:cNvSpPr>
          <p:nvPr/>
        </p:nvSpPr>
        <p:spPr>
          <a:xfrm>
            <a:off x="3048000" y="3219450"/>
            <a:ext cx="6096000" cy="647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3300" b="1">
                <a:solidFill>
                  <a:srgbClr val="000000"/>
                </a:solidFill>
                <a:latin typeface="Aptos Display"/>
                <a:ea typeface="Aptos Display"/>
                <a:cs typeface="Aptos Display"/>
              </a:defRPr>
            </a:pPr>
            <a:r>
              <a:rPr sz="3300" b="1">
                <a:solidFill>
                  <a:srgbClr val="000000"/>
                </a:solidFill>
                <a:latin typeface="Aptos Display"/>
                <a:ea typeface="Aptos Display"/>
                <a:cs typeface="Aptos Display"/>
              </a:rPr>
              <a:t>프로젝트 수행 결과서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A65172E9-1DD9-42CC-92E7-5E49BE942B34}"/>
              </a:ext>
            </a:extLst>
          </p:cNvPr>
          <p:cNvSpPr>
            <a:spLocks noGrp="1"/>
          </p:cNvSpPr>
          <p:nvPr/>
        </p:nvSpPr>
        <p:spPr>
          <a:xfrm>
            <a:off x="4857750" y="4714875"/>
            <a:ext cx="24765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875" b="1">
                <a:solidFill>
                  <a:srgbClr val="000000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000000"/>
                </a:solidFill>
                <a:latin typeface="Aptos"/>
                <a:ea typeface="Aptos"/>
                <a:cs typeface="Aptos"/>
              </a:rPr>
              <a:t>2026/06/23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2E84DC84-11DA-4643-BD16-30361710B462}"/>
              </a:ext>
            </a:extLst>
          </p:cNvPr>
          <p:cNvSpPr>
            <a:spLocks noGrp="1"/>
          </p:cNvSpPr>
          <p:nvPr/>
        </p:nvSpPr>
        <p:spPr>
          <a:xfrm>
            <a:off x="5095875" y="5191125"/>
            <a:ext cx="20002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650" b="1">
                <a:solidFill>
                  <a:srgbClr val="000000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000000"/>
                </a:solidFill>
                <a:latin typeface="Aptos"/>
                <a:ea typeface="Aptos"/>
                <a:cs typeface="Aptos"/>
              </a:rPr>
              <a:t>안정현</a:t>
            </a:r>
          </a:p>
        </p:txBody>
      </p:sp>
    </p:spTree>
    <p:extLst>
      <p:ext uri="{BB962C8B-B14F-4D97-AF65-F5344CB8AC3E}">
        <p14:creationId xmlns:p14="http://schemas.microsoft.com/office/powerpoint/2010/main" val="127865847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직사각형 7">
            <a:extLst>
              <a:ext uri="{FF2B5EF4-FFF2-40B4-BE49-F238E27FC236}">
                <a16:creationId xmlns:a16="http://schemas.microsoft.com/office/drawing/2014/main" id="{7DC5D503-9442-4A12-8818-E502172A0034}"/>
              </a:ext>
            </a:extLst>
          </p:cNvPr>
          <p:cNvSpPr>
            <a:spLocks noGrp="1"/>
          </p:cNvSpPr>
          <p:nvPr/>
        </p:nvSpPr>
        <p:spPr>
          <a:xfrm>
            <a:off x="590550" y="228600"/>
            <a:ext cx="762000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250" b="1">
                <a:solidFill>
                  <a:srgbClr val="3563E9"/>
                </a:solidFill>
                <a:latin typeface="Aptos"/>
                <a:ea typeface="Aptos"/>
                <a:cs typeface="Aptos"/>
              </a:defRPr>
            </a:pPr>
            <a:r>
              <a:rPr sz="2250" b="1">
                <a:solidFill>
                  <a:srgbClr val="3563E9"/>
                </a:solidFill>
                <a:latin typeface="Aptos"/>
                <a:ea typeface="Aptos"/>
                <a:cs typeface="Aptos"/>
              </a:rPr>
              <a:t>CONTENTS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5D9E11BE-F34F-44A2-A041-0BFFA0F756A5}"/>
              </a:ext>
            </a:extLst>
          </p:cNvPr>
          <p:cNvSpPr>
            <a:spLocks noGrp="1"/>
          </p:cNvSpPr>
          <p:nvPr/>
        </p:nvSpPr>
        <p:spPr>
          <a:xfrm>
            <a:off x="590550" y="723900"/>
            <a:ext cx="93345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91440" tIns="45720" rIns="91440" bIns="45720" anchor="t"/>
          <a:lstStyle/>
          <a:p>
            <a:pPr algn="l">
              <a:defRPr sz="255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 err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목차</a:t>
            </a:r>
            <a:endParaRPr lang="ko-KR" sz="2550" b="1" err="1">
              <a:solidFill>
                <a:srgbClr val="111827"/>
              </a:solidFill>
              <a:latin typeface="Aptos Display"/>
              <a:ea typeface="Aptos Display"/>
              <a:cs typeface="Aptos Display"/>
            </a:endParaRPr>
          </a:p>
        </p:txBody>
      </p:sp>
      <p:sp>
        <p:nvSpPr>
          <p:cNvPr id="3" name="직선 연결선 2">
            <a:extLst>
              <a:ext uri="{FF2B5EF4-FFF2-40B4-BE49-F238E27FC236}">
                <a16:creationId xmlns:a16="http://schemas.microsoft.com/office/drawing/2014/main" id="{57860520-C89C-4CF2-929E-694C1B53343A}"/>
              </a:ext>
            </a:extLst>
          </p:cNvPr>
          <p:cNvSpPr>
            <a:spLocks noGrp="1"/>
          </p:cNvSpPr>
          <p:nvPr/>
        </p:nvSpPr>
        <p:spPr>
          <a:xfrm>
            <a:off x="590550" y="1295400"/>
            <a:ext cx="11010900" cy="0"/>
          </a:xfrm>
          <a:prstGeom prst="line">
            <a:avLst/>
          </a:prstGeom>
          <a:noFill/>
          <a:ln w="9525">
            <a:solidFill>
              <a:srgbClr val="D7DCE5"/>
            </a:solidFill>
            <a:prstDash val="solid"/>
          </a:ln>
        </p:spPr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407EE505-564E-4237-86C4-68F2F190D3E0}"/>
              </a:ext>
            </a:extLst>
          </p:cNvPr>
          <p:cNvSpPr>
            <a:spLocks noGrp="1"/>
          </p:cNvSpPr>
          <p:nvPr/>
        </p:nvSpPr>
        <p:spPr>
          <a:xfrm>
            <a:off x="876300" y="2238375"/>
            <a:ext cx="5143500" cy="2857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91440" tIns="45720" rIns="91440" bIns="45720" anchor="t"/>
          <a:lstStyle/>
          <a:p>
            <a:pPr algn="l">
              <a:defRPr sz="187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85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1.  </a:t>
            </a:r>
            <a:r>
              <a:rPr sz="1850" b="1" err="1">
                <a:solidFill>
                  <a:srgbClr val="111827"/>
                </a:solidFill>
                <a:latin typeface="Aptos"/>
                <a:ea typeface="Aptos"/>
                <a:cs typeface="Aptos"/>
              </a:rPr>
              <a:t>프로젝트</a:t>
            </a:r>
            <a:r>
              <a:rPr sz="185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 </a:t>
            </a:r>
            <a:r>
              <a:rPr sz="1850" b="1" err="1">
                <a:solidFill>
                  <a:srgbClr val="111827"/>
                </a:solidFill>
                <a:latin typeface="Aptos"/>
                <a:ea typeface="Aptos"/>
                <a:cs typeface="Aptos"/>
              </a:rPr>
              <a:t>기획서</a:t>
            </a:r>
            <a:endParaRPr lang="ko-KR" altLang="en-US" sz="1850" b="1" err="1">
              <a:solidFill>
                <a:srgbClr val="111827"/>
              </a:solidFill>
              <a:latin typeface="Aptos"/>
              <a:ea typeface="Aptos"/>
              <a:cs typeface="Aptos"/>
            </a:endParaRPr>
          </a:p>
          <a:p>
            <a:pPr algn="l">
              <a:defRPr sz="187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85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2.  </a:t>
            </a:r>
            <a:r>
              <a:rPr sz="1850" b="1" err="1">
                <a:solidFill>
                  <a:srgbClr val="111827"/>
                </a:solidFill>
                <a:latin typeface="Aptos"/>
                <a:ea typeface="Aptos"/>
                <a:cs typeface="Aptos"/>
              </a:rPr>
              <a:t>사용</a:t>
            </a:r>
            <a:r>
              <a:rPr sz="185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 </a:t>
            </a:r>
            <a:r>
              <a:rPr lang="ko-KR" altLang="en-US" sz="185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기술</a:t>
            </a:r>
            <a:endParaRPr lang="ko-KR" sz="1850" b="1">
              <a:solidFill>
                <a:srgbClr val="111827"/>
              </a:solidFill>
              <a:latin typeface="Aptos"/>
              <a:ea typeface="Aptos"/>
              <a:cs typeface="Aptos"/>
            </a:endParaRPr>
          </a:p>
          <a:p>
            <a:pPr algn="l">
              <a:defRPr sz="187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85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3.  </a:t>
            </a:r>
            <a:r>
              <a:rPr sz="1850" b="1" err="1">
                <a:solidFill>
                  <a:srgbClr val="111827"/>
                </a:solidFill>
                <a:latin typeface="Aptos"/>
                <a:ea typeface="Aptos"/>
                <a:cs typeface="Aptos"/>
              </a:rPr>
              <a:t>개발</a:t>
            </a:r>
            <a:r>
              <a:rPr sz="185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 </a:t>
            </a:r>
            <a:r>
              <a:rPr sz="1850" b="1" err="1">
                <a:solidFill>
                  <a:srgbClr val="111827"/>
                </a:solidFill>
                <a:latin typeface="Aptos"/>
                <a:ea typeface="Aptos"/>
                <a:cs typeface="Aptos"/>
              </a:rPr>
              <a:t>스케줄</a:t>
            </a:r>
          </a:p>
          <a:p>
            <a:pPr algn="l">
              <a:defRPr sz="187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85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4.  </a:t>
            </a:r>
            <a:r>
              <a:rPr sz="1850" b="1" err="1">
                <a:solidFill>
                  <a:srgbClr val="111827"/>
                </a:solidFill>
                <a:latin typeface="Aptos"/>
                <a:ea typeface="Aptos"/>
                <a:cs typeface="Aptos"/>
              </a:rPr>
              <a:t>요구사항</a:t>
            </a:r>
            <a:r>
              <a:rPr sz="185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 </a:t>
            </a:r>
            <a:r>
              <a:rPr sz="1850" b="1" err="1">
                <a:solidFill>
                  <a:srgbClr val="111827"/>
                </a:solidFill>
                <a:latin typeface="Aptos"/>
                <a:ea typeface="Aptos"/>
                <a:cs typeface="Aptos"/>
              </a:rPr>
              <a:t>분석서</a:t>
            </a:r>
            <a:r>
              <a:rPr sz="185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 및 </a:t>
            </a:r>
            <a:r>
              <a:rPr sz="1850" b="1" err="1">
                <a:solidFill>
                  <a:srgbClr val="111827"/>
                </a:solidFill>
                <a:latin typeface="Aptos"/>
                <a:ea typeface="Aptos"/>
                <a:cs typeface="Aptos"/>
              </a:rPr>
              <a:t>명세서</a:t>
            </a:r>
          </a:p>
          <a:p>
            <a:pPr algn="l">
              <a:defRPr sz="187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85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5.  </a:t>
            </a:r>
            <a:r>
              <a:rPr sz="1850" b="1" err="1">
                <a:solidFill>
                  <a:srgbClr val="111827"/>
                </a:solidFill>
                <a:latin typeface="Aptos"/>
                <a:ea typeface="Aptos"/>
                <a:cs typeface="Aptos"/>
              </a:rPr>
              <a:t>화면</a:t>
            </a:r>
            <a:r>
              <a:rPr sz="185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 </a:t>
            </a:r>
            <a:r>
              <a:rPr sz="1850" b="1" err="1">
                <a:solidFill>
                  <a:srgbClr val="111827"/>
                </a:solidFill>
                <a:latin typeface="Aptos"/>
                <a:ea typeface="Aptos"/>
                <a:cs typeface="Aptos"/>
              </a:rPr>
              <a:t>설계서</a:t>
            </a:r>
          </a:p>
          <a:p>
            <a:pPr algn="l">
              <a:defRPr sz="187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6.  UML</a:t>
            </a:r>
          </a:p>
          <a:p>
            <a:pPr algn="l">
              <a:defRPr sz="187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7.  ER Diagram</a:t>
            </a: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2D9A7150-4135-4708-B425-2ACBD23894F7}"/>
              </a:ext>
            </a:extLst>
          </p:cNvPr>
          <p:cNvSpPr>
            <a:spLocks noGrp="1"/>
          </p:cNvSpPr>
          <p:nvPr/>
        </p:nvSpPr>
        <p:spPr>
          <a:xfrm>
            <a:off x="6572250" y="2238375"/>
            <a:ext cx="4762500" cy="2190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87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8.  프로젝트별 주요 기능 및 소스코드</a:t>
            </a:r>
          </a:p>
          <a:p>
            <a:pPr algn="l">
              <a:defRPr sz="187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9.  Software Architecture</a:t>
            </a:r>
          </a:p>
          <a:p>
            <a:pPr algn="l">
              <a:defRPr sz="187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10. 향후 개발 계획</a:t>
            </a:r>
          </a:p>
          <a:p>
            <a:pPr algn="l">
              <a:defRPr sz="187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11. 프로젝트 수행 소감</a:t>
            </a:r>
          </a:p>
        </p:txBody>
      </p:sp>
    </p:spTree>
    <p:extLst>
      <p:ext uri="{BB962C8B-B14F-4D97-AF65-F5344CB8AC3E}">
        <p14:creationId xmlns:p14="http://schemas.microsoft.com/office/powerpoint/2010/main" val="68232883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>
            <a:extLst>
              <a:ext uri="{FF2B5EF4-FFF2-40B4-BE49-F238E27FC236}">
                <a16:creationId xmlns:a16="http://schemas.microsoft.com/office/drawing/2014/main" id="{794D3755-0156-483C-ADA4-D1147A74CE73}"/>
              </a:ext>
            </a:extLst>
          </p:cNvPr>
          <p:cNvSpPr>
            <a:spLocks noGrp="1"/>
          </p:cNvSpPr>
          <p:nvPr/>
        </p:nvSpPr>
        <p:spPr>
          <a:xfrm>
            <a:off x="590550" y="228600"/>
            <a:ext cx="762000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250" b="1">
                <a:solidFill>
                  <a:srgbClr val="3563E9"/>
                </a:solidFill>
                <a:latin typeface="Aptos"/>
                <a:ea typeface="Aptos"/>
                <a:cs typeface="Aptos"/>
              </a:defRPr>
            </a:pPr>
            <a:r>
              <a:rPr sz="2250" b="1">
                <a:solidFill>
                  <a:srgbClr val="3563E9"/>
                </a:solidFill>
                <a:latin typeface="Aptos"/>
                <a:ea typeface="Aptos"/>
                <a:cs typeface="Aptos"/>
              </a:rPr>
              <a:t>1차 프로젝트(Python Full Stack &amp; ML) 기획서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9E925F24-EA78-4A68-A45E-3E60354F840A}"/>
              </a:ext>
            </a:extLst>
          </p:cNvPr>
          <p:cNvSpPr>
            <a:spLocks noGrp="1"/>
          </p:cNvSpPr>
          <p:nvPr/>
        </p:nvSpPr>
        <p:spPr>
          <a:xfrm>
            <a:off x="590550" y="723900"/>
            <a:ext cx="93345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55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기획 의도</a:t>
            </a:r>
          </a:p>
        </p:txBody>
      </p:sp>
      <p:sp>
        <p:nvSpPr>
          <p:cNvPr id="3" name="직선 연결선 2">
            <a:extLst>
              <a:ext uri="{FF2B5EF4-FFF2-40B4-BE49-F238E27FC236}">
                <a16:creationId xmlns:a16="http://schemas.microsoft.com/office/drawing/2014/main" id="{1A1E4253-E035-4404-9A62-0BF97F0F7135}"/>
              </a:ext>
            </a:extLst>
          </p:cNvPr>
          <p:cNvSpPr>
            <a:spLocks noGrp="1"/>
          </p:cNvSpPr>
          <p:nvPr/>
        </p:nvSpPr>
        <p:spPr>
          <a:xfrm>
            <a:off x="590550" y="1295400"/>
            <a:ext cx="11010900" cy="0"/>
          </a:xfrm>
          <a:prstGeom prst="line">
            <a:avLst/>
          </a:prstGeom>
          <a:noFill/>
          <a:ln w="9525">
            <a:solidFill>
              <a:srgbClr val="D7DCE5"/>
            </a:solidFill>
            <a:prstDash val="solid"/>
          </a:ln>
        </p:spPr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47281A32-81E6-45E0-A334-1A5C30FC9474}"/>
              </a:ext>
            </a:extLst>
          </p:cNvPr>
          <p:cNvSpPr>
            <a:spLocks noGrp="1"/>
          </p:cNvSpPr>
          <p:nvPr/>
        </p:nvSpPr>
        <p:spPr>
          <a:xfrm>
            <a:off x="589321" y="1915754"/>
            <a:ext cx="5334000" cy="1162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315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서울시 미세먼지·초미세먼지,</a:t>
            </a:r>
          </a:p>
          <a:p>
            <a:pPr algn="l">
              <a:defRPr sz="315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단순 오염이 아닌 '재난'</a:t>
            </a:r>
          </a:p>
        </p:txBody>
      </p:sp>
      <p:pic>
        <p:nvPicPr>
          <p:cNvPr id="17" name="그림 16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6320298" y="3303824"/>
            <a:ext cx="5066685" cy="1172126"/>
          </a:xfrm>
          <a:prstGeom prst="roundRect">
            <a:avLst>
              <a:gd name="adj" fmla="val 6667"/>
            </a:avLst>
          </a:prstGeom>
        </p:spPr>
      </p:pic>
      <p:pic>
        <p:nvPicPr>
          <p:cNvPr id="18" name="그림 17"/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6381750" y="4721964"/>
            <a:ext cx="4937637" cy="852903"/>
          </a:xfrm>
          <a:prstGeom prst="roundRect">
            <a:avLst>
              <a:gd name="adj" fmla="val 6667"/>
            </a:avLst>
          </a:prstGeom>
        </p:spPr>
      </p:pic>
      <p:pic>
        <p:nvPicPr>
          <p:cNvPr id="19" name="그림 18"/>
          <p:cNvPicPr>
            <a:picLocks noChangeAspect="1"/>
          </p:cNvPicPr>
          <p:nvPr/>
        </p:nvPicPr>
        <p:blipFill>
          <a:blip r:embed="rId5"/>
          <a:stretch/>
        </p:blipFill>
        <p:spPr>
          <a:xfrm>
            <a:off x="6751391" y="1712041"/>
            <a:ext cx="4204499" cy="1364224"/>
          </a:xfrm>
          <a:prstGeom prst="roundRect">
            <a:avLst>
              <a:gd name="adj" fmla="val 6667"/>
            </a:avLst>
          </a:prstGeom>
        </p:spPr>
      </p:pic>
      <p:pic>
        <p:nvPicPr>
          <p:cNvPr id="20" name="그림 19"/>
          <p:cNvPicPr>
            <a:picLocks noChangeAspect="1"/>
          </p:cNvPicPr>
          <p:nvPr/>
        </p:nvPicPr>
        <p:blipFill>
          <a:blip r:embed="rId6"/>
          <a:stretch/>
        </p:blipFill>
        <p:spPr>
          <a:xfrm>
            <a:off x="774290" y="3993507"/>
            <a:ext cx="1428750" cy="632190"/>
          </a:xfrm>
          <a:prstGeom prst="roundRect">
            <a:avLst>
              <a:gd name="adj" fmla="val 11111"/>
            </a:avLst>
          </a:prstGeom>
        </p:spPr>
      </p:pic>
      <p:pic>
        <p:nvPicPr>
          <p:cNvPr id="21" name="그림 20"/>
          <p:cNvPicPr>
            <a:picLocks noChangeAspect="1"/>
          </p:cNvPicPr>
          <p:nvPr/>
        </p:nvPicPr>
        <p:blipFill>
          <a:blip r:embed="rId7"/>
          <a:stretch/>
        </p:blipFill>
        <p:spPr>
          <a:xfrm>
            <a:off x="2488790" y="4100901"/>
            <a:ext cx="1524000" cy="417401"/>
          </a:xfrm>
          <a:prstGeom prst="roundRect">
            <a:avLst>
              <a:gd name="adj" fmla="val 11111"/>
            </a:avLst>
          </a:prstGeom>
        </p:spPr>
      </p:pic>
      <p:pic>
        <p:nvPicPr>
          <p:cNvPr id="22" name="그림 21"/>
          <p:cNvPicPr>
            <a:picLocks noChangeAspect="1"/>
          </p:cNvPicPr>
          <p:nvPr/>
        </p:nvPicPr>
        <p:blipFill>
          <a:blip r:embed="rId8"/>
          <a:stretch/>
        </p:blipFill>
        <p:spPr>
          <a:xfrm>
            <a:off x="4298540" y="4061205"/>
            <a:ext cx="1333500" cy="496794"/>
          </a:xfrm>
          <a:prstGeom prst="roundRect">
            <a:avLst>
              <a:gd name="adj" fmla="val 11111"/>
            </a:avLst>
          </a:prstGeom>
        </p:spPr>
      </p:pic>
    </p:spTree>
    <p:extLst>
      <p:ext uri="{BB962C8B-B14F-4D97-AF65-F5344CB8AC3E}">
        <p14:creationId xmlns:p14="http://schemas.microsoft.com/office/powerpoint/2010/main" val="10562118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직사각형 7">
            <a:extLst>
              <a:ext uri="{FF2B5EF4-FFF2-40B4-BE49-F238E27FC236}">
                <a16:creationId xmlns:a16="http://schemas.microsoft.com/office/drawing/2014/main" id="{33289220-AF93-40DE-A392-459DE70A38E2}"/>
              </a:ext>
            </a:extLst>
          </p:cNvPr>
          <p:cNvSpPr>
            <a:spLocks noGrp="1"/>
          </p:cNvSpPr>
          <p:nvPr/>
        </p:nvSpPr>
        <p:spPr>
          <a:xfrm>
            <a:off x="590550" y="228600"/>
            <a:ext cx="762000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250" b="1">
                <a:solidFill>
                  <a:srgbClr val="3563E9"/>
                </a:solidFill>
                <a:latin typeface="Aptos"/>
                <a:ea typeface="Aptos"/>
                <a:cs typeface="Aptos"/>
              </a:defRPr>
            </a:pPr>
            <a:r>
              <a:rPr sz="2250" b="1">
                <a:solidFill>
                  <a:srgbClr val="3563E9"/>
                </a:solidFill>
                <a:latin typeface="Aptos"/>
                <a:ea typeface="Aptos"/>
                <a:cs typeface="Aptos"/>
              </a:rPr>
              <a:t>1차 프로젝트(Python Full Stack &amp; ML) 기획서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E96C099D-E754-4833-85B1-D82E43C1C601}"/>
              </a:ext>
            </a:extLst>
          </p:cNvPr>
          <p:cNvSpPr>
            <a:spLocks noGrp="1"/>
          </p:cNvSpPr>
          <p:nvPr/>
        </p:nvSpPr>
        <p:spPr>
          <a:xfrm>
            <a:off x="590550" y="723900"/>
            <a:ext cx="93345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55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기획 의도</a:t>
            </a:r>
          </a:p>
        </p:txBody>
      </p:sp>
      <p:sp>
        <p:nvSpPr>
          <p:cNvPr id="3" name="직선 연결선 2">
            <a:extLst>
              <a:ext uri="{FF2B5EF4-FFF2-40B4-BE49-F238E27FC236}">
                <a16:creationId xmlns:a16="http://schemas.microsoft.com/office/drawing/2014/main" id="{9B4B4379-2F0C-4954-B9B4-DE886F839F22}"/>
              </a:ext>
            </a:extLst>
          </p:cNvPr>
          <p:cNvSpPr>
            <a:spLocks noGrp="1"/>
          </p:cNvSpPr>
          <p:nvPr/>
        </p:nvSpPr>
        <p:spPr>
          <a:xfrm>
            <a:off x="590550" y="1295400"/>
            <a:ext cx="11010900" cy="0"/>
          </a:xfrm>
          <a:prstGeom prst="line">
            <a:avLst/>
          </a:prstGeom>
          <a:noFill/>
          <a:ln w="9525">
            <a:solidFill>
              <a:srgbClr val="D7DCE5"/>
            </a:solidFill>
            <a:prstDash val="solid"/>
          </a:ln>
        </p:spPr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53079754-B948-4330-B711-5EB4E1C2B0AE}"/>
              </a:ext>
            </a:extLst>
          </p:cNvPr>
          <p:cNvSpPr>
            <a:spLocks noGrp="1"/>
          </p:cNvSpPr>
          <p:nvPr/>
        </p:nvSpPr>
        <p:spPr>
          <a:xfrm>
            <a:off x="723900" y="1718187"/>
            <a:ext cx="6858000" cy="876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55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미세먼지 발병 시차(Time-Lag)를 고려한</a:t>
            </a:r>
          </a:p>
          <a:p>
            <a:pPr algn="l">
              <a:defRPr sz="255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서울시 구별 호흡기 환자 수 예측</a:t>
            </a: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29882C79-D1F3-4C62-B130-FB5560E40490}"/>
              </a:ext>
            </a:extLst>
          </p:cNvPr>
          <p:cNvSpPr>
            <a:spLocks noGrp="1"/>
          </p:cNvSpPr>
          <p:nvPr/>
        </p:nvSpPr>
        <p:spPr>
          <a:xfrm>
            <a:off x="723900" y="3213919"/>
            <a:ext cx="36195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100" b="1">
                <a:solidFill>
                  <a:srgbClr val="3563E9"/>
                </a:solidFill>
                <a:latin typeface="Aptos"/>
                <a:ea typeface="Aptos"/>
                <a:cs typeface="Aptos"/>
              </a:defRPr>
            </a:pPr>
            <a:r>
              <a:rPr sz="2100" b="1">
                <a:solidFill>
                  <a:srgbClr val="3563E9"/>
                </a:solidFill>
                <a:latin typeface="Aptos"/>
                <a:ea typeface="Aptos"/>
                <a:cs typeface="Aptos"/>
              </a:rPr>
              <a:t>Why Machine Learning?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30EADFD0-037B-4070-8A90-ACE19851DF35}"/>
              </a:ext>
            </a:extLst>
          </p:cNvPr>
          <p:cNvSpPr>
            <a:spLocks noGrp="1"/>
          </p:cNvSpPr>
          <p:nvPr/>
        </p:nvSpPr>
        <p:spPr>
          <a:xfrm>
            <a:off x="742950" y="3690169"/>
            <a:ext cx="4953000" cy="857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6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뉴스, 미세먼지 예보가 '위험성'을 경고한다면,</a:t>
            </a:r>
          </a:p>
          <a:p>
            <a:pPr algn="l">
              <a:defRPr sz="16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머신러닝 기반 예측은 '선제적 대비'를 가능하게 함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7CDEF535-FB23-4009-AD1D-348186418131}"/>
              </a:ext>
            </a:extLst>
          </p:cNvPr>
          <p:cNvSpPr>
            <a:spLocks noGrp="1"/>
          </p:cNvSpPr>
          <p:nvPr/>
        </p:nvSpPr>
        <p:spPr>
          <a:xfrm>
            <a:off x="742950" y="4814119"/>
            <a:ext cx="34290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950" b="1">
                <a:solidFill>
                  <a:srgbClr val="1F8A5B"/>
                </a:solidFill>
                <a:latin typeface="Aptos"/>
                <a:ea typeface="Aptos"/>
                <a:cs typeface="Aptos"/>
              </a:defRPr>
            </a:pPr>
            <a:r>
              <a:rPr sz="1950" b="1">
                <a:solidFill>
                  <a:srgbClr val="1F8A5B"/>
                </a:solidFill>
                <a:latin typeface="Aptos"/>
                <a:ea typeface="Aptos"/>
                <a:cs typeface="Aptos"/>
              </a:rPr>
              <a:t>예측 문제로 확장</a:t>
            </a:r>
          </a:p>
        </p:txBody>
      </p:sp>
      <p:pic>
        <p:nvPicPr>
          <p:cNvPr id="19" name="그림 18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7300143" y="1590983"/>
            <a:ext cx="3073196" cy="2178459"/>
          </a:xfrm>
          <a:prstGeom prst="roundRect">
            <a:avLst>
              <a:gd name="adj" fmla="val 4706"/>
            </a:avLst>
          </a:prstGeom>
        </p:spPr>
      </p:pic>
      <p:pic>
        <p:nvPicPr>
          <p:cNvPr id="20" name="그림 19"/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5930082" y="4013200"/>
            <a:ext cx="5813321" cy="1703233"/>
          </a:xfrm>
          <a:prstGeom prst="roundRect">
            <a:avLst>
              <a:gd name="adj" fmla="val 4706"/>
            </a:avLst>
          </a:prstGeom>
        </p:spPr>
      </p:pic>
    </p:spTree>
    <p:extLst>
      <p:ext uri="{BB962C8B-B14F-4D97-AF65-F5344CB8AC3E}">
        <p14:creationId xmlns:p14="http://schemas.microsoft.com/office/powerpoint/2010/main" val="13556999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>
            <a:extLst>
              <a:ext uri="{FF2B5EF4-FFF2-40B4-BE49-F238E27FC236}">
                <a16:creationId xmlns:a16="http://schemas.microsoft.com/office/drawing/2014/main" id="{287657C2-3B90-451B-9BB9-5440B3D2576B}"/>
              </a:ext>
            </a:extLst>
          </p:cNvPr>
          <p:cNvSpPr>
            <a:spLocks noGrp="1"/>
          </p:cNvSpPr>
          <p:nvPr/>
        </p:nvSpPr>
        <p:spPr>
          <a:xfrm>
            <a:off x="590550" y="228600"/>
            <a:ext cx="762000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250" b="1">
                <a:solidFill>
                  <a:srgbClr val="3563E9"/>
                </a:solidFill>
                <a:latin typeface="Aptos"/>
                <a:ea typeface="Aptos"/>
                <a:cs typeface="Aptos"/>
              </a:defRPr>
            </a:pPr>
            <a:r>
              <a:rPr sz="2250" b="1">
                <a:solidFill>
                  <a:srgbClr val="3563E9"/>
                </a:solidFill>
                <a:latin typeface="Aptos"/>
                <a:ea typeface="Aptos"/>
                <a:cs typeface="Aptos"/>
              </a:rPr>
              <a:t>1차 프로젝트(Python Full Stack &amp; ML) 기획서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173775C9-D337-4FAE-A09E-FB635077529C}"/>
              </a:ext>
            </a:extLst>
          </p:cNvPr>
          <p:cNvSpPr>
            <a:spLocks noGrp="1"/>
          </p:cNvSpPr>
          <p:nvPr/>
        </p:nvSpPr>
        <p:spPr>
          <a:xfrm>
            <a:off x="590550" y="723900"/>
            <a:ext cx="93345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55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개발 목표</a:t>
            </a:r>
          </a:p>
        </p:txBody>
      </p:sp>
      <p:sp>
        <p:nvSpPr>
          <p:cNvPr id="3" name="직선 연결선 2">
            <a:extLst>
              <a:ext uri="{FF2B5EF4-FFF2-40B4-BE49-F238E27FC236}">
                <a16:creationId xmlns:a16="http://schemas.microsoft.com/office/drawing/2014/main" id="{6278BA4B-333D-4CC7-B09B-F08D670119B2}"/>
              </a:ext>
            </a:extLst>
          </p:cNvPr>
          <p:cNvSpPr>
            <a:spLocks noGrp="1"/>
          </p:cNvSpPr>
          <p:nvPr/>
        </p:nvSpPr>
        <p:spPr>
          <a:xfrm>
            <a:off x="590550" y="1295400"/>
            <a:ext cx="11010900" cy="0"/>
          </a:xfrm>
          <a:prstGeom prst="line">
            <a:avLst/>
          </a:prstGeom>
          <a:noFill/>
          <a:ln w="9525">
            <a:solidFill>
              <a:srgbClr val="D7DCE5"/>
            </a:solidFill>
            <a:prstDash val="solid"/>
          </a:ln>
        </p:spPr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31692E88-E95A-45E4-9A9B-3A07955FB816}"/>
              </a:ext>
            </a:extLst>
          </p:cNvPr>
          <p:cNvSpPr>
            <a:spLocks noGrp="1"/>
          </p:cNvSpPr>
          <p:nvPr/>
        </p:nvSpPr>
        <p:spPr>
          <a:xfrm>
            <a:off x="779821" y="1712656"/>
            <a:ext cx="72390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40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defRPr>
            </a:pPr>
            <a:r>
              <a:rPr sz="240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머신러닝 기반 다중회귀 예측 모델 구축</a:t>
            </a: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92339722-C85A-4214-BFAD-4AC0B5271D85}"/>
              </a:ext>
            </a:extLst>
          </p:cNvPr>
          <p:cNvSpPr>
            <a:spLocks noGrp="1"/>
          </p:cNvSpPr>
          <p:nvPr/>
        </p:nvSpPr>
        <p:spPr>
          <a:xfrm>
            <a:off x="819150" y="2904510"/>
            <a:ext cx="3057525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575" b="1">
                <a:solidFill>
                  <a:srgbClr val="3563E9"/>
                </a:solidFill>
                <a:latin typeface="Aptos"/>
                <a:ea typeface="Aptos"/>
                <a:cs typeface="Aptos"/>
              </a:defRPr>
            </a:pPr>
            <a:r>
              <a:rPr b="1">
                <a:solidFill>
                  <a:srgbClr val="3563E9"/>
                </a:solidFill>
                <a:latin typeface="Aptos"/>
                <a:ea typeface="Aptos"/>
                <a:cs typeface="Aptos"/>
              </a:rPr>
              <a:t>Input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E2F2E1D6-B106-4F75-B20B-B3AC35ADDB5F}"/>
              </a:ext>
            </a:extLst>
          </p:cNvPr>
          <p:cNvSpPr>
            <a:spLocks noGrp="1"/>
          </p:cNvSpPr>
          <p:nvPr/>
        </p:nvSpPr>
        <p:spPr>
          <a:xfrm>
            <a:off x="819150" y="3304560"/>
            <a:ext cx="3057525" cy="15144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2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6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• 자치구별 미세먼지 농도</a:t>
            </a:r>
          </a:p>
          <a:p>
            <a:pPr algn="l">
              <a:defRPr sz="12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6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• 기온, 인구 구조, 지역내총생산</a:t>
            </a:r>
          </a:p>
          <a:p>
            <a:pPr algn="l">
              <a:defRPr sz="12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6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• 최근 3일 표준편차, 이동평균, 최댓값/최솟값</a:t>
            </a:r>
          </a:p>
        </p:txBody>
      </p:sp>
      <p:pic>
        <p:nvPicPr>
          <p:cNvPr id="19" name="그림 18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4229408" y="2456529"/>
            <a:ext cx="3155540" cy="3155540"/>
          </a:xfrm>
          <a:prstGeom prst="roundRect">
            <a:avLst>
              <a:gd name="adj" fmla="val 3810"/>
            </a:avLst>
          </a:prstGeom>
        </p:spPr>
      </p:pic>
      <p:sp>
        <p:nvSpPr>
          <p:cNvPr id="8" name="직사각형 7">
            <a:extLst>
              <a:ext uri="{FF2B5EF4-FFF2-40B4-BE49-F238E27FC236}">
                <a16:creationId xmlns:a16="http://schemas.microsoft.com/office/drawing/2014/main" id="{8C1A3F23-C640-45BF-BCD7-E2F2D6ECFB05}"/>
              </a:ext>
            </a:extLst>
          </p:cNvPr>
          <p:cNvSpPr>
            <a:spLocks noGrp="1"/>
          </p:cNvSpPr>
          <p:nvPr/>
        </p:nvSpPr>
        <p:spPr>
          <a:xfrm>
            <a:off x="7887929" y="2904510"/>
            <a:ext cx="3343275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575" b="1">
                <a:solidFill>
                  <a:srgbClr val="1F8A5B"/>
                </a:solidFill>
                <a:latin typeface="Aptos"/>
                <a:ea typeface="Aptos"/>
                <a:cs typeface="Aptos"/>
              </a:defRPr>
            </a:pPr>
            <a:r>
              <a:rPr b="1">
                <a:solidFill>
                  <a:srgbClr val="1F8A5B"/>
                </a:solidFill>
                <a:latin typeface="Aptos"/>
                <a:ea typeface="Aptos"/>
                <a:cs typeface="Aptos"/>
              </a:rPr>
              <a:t>Output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7F93E378-9FBD-4A17-AEA6-48C068633D2E}"/>
              </a:ext>
            </a:extLst>
          </p:cNvPr>
          <p:cNvSpPr>
            <a:spLocks noGrp="1"/>
          </p:cNvSpPr>
          <p:nvPr/>
        </p:nvSpPr>
        <p:spPr>
          <a:xfrm>
            <a:off x="7887929" y="3304560"/>
            <a:ext cx="3343275" cy="15144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2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6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• 자치구별 당일 및 향후 3일(D+1~D+3) 예측</a:t>
            </a:r>
          </a:p>
          <a:p>
            <a:pPr algn="l">
              <a:defRPr sz="12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6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• 호흡기 환자 수 단계구분도</a:t>
            </a:r>
          </a:p>
          <a:p>
            <a:pPr algn="l">
              <a:defRPr sz="12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6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• 서울시 자치구별 예측값 시각화</a:t>
            </a:r>
          </a:p>
        </p:txBody>
      </p:sp>
    </p:spTree>
    <p:extLst>
      <p:ext uri="{BB962C8B-B14F-4D97-AF65-F5344CB8AC3E}">
        <p14:creationId xmlns:p14="http://schemas.microsoft.com/office/powerpoint/2010/main" val="71144199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직사각형 7">
            <a:extLst>
              <a:ext uri="{FF2B5EF4-FFF2-40B4-BE49-F238E27FC236}">
                <a16:creationId xmlns:a16="http://schemas.microsoft.com/office/drawing/2014/main" id="{69288E40-D8E3-4DDE-95A4-6AB7859A5F32}"/>
              </a:ext>
            </a:extLst>
          </p:cNvPr>
          <p:cNvSpPr>
            <a:spLocks noGrp="1"/>
          </p:cNvSpPr>
          <p:nvPr/>
        </p:nvSpPr>
        <p:spPr>
          <a:xfrm>
            <a:off x="590550" y="228600"/>
            <a:ext cx="762000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250" b="1">
                <a:solidFill>
                  <a:srgbClr val="3563E9"/>
                </a:solidFill>
                <a:latin typeface="Aptos"/>
                <a:ea typeface="Aptos"/>
                <a:cs typeface="Aptos"/>
              </a:defRPr>
            </a:pPr>
            <a:r>
              <a:rPr sz="2250" b="1">
                <a:solidFill>
                  <a:srgbClr val="3563E9"/>
                </a:solidFill>
                <a:latin typeface="Aptos"/>
                <a:ea typeface="Aptos"/>
                <a:cs typeface="Aptos"/>
              </a:rPr>
              <a:t>1차 프로젝트(Python Full Stack &amp; ML) 기획서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EF0B7BFF-E3B9-4130-9AB5-264C494F4A90}"/>
              </a:ext>
            </a:extLst>
          </p:cNvPr>
          <p:cNvSpPr>
            <a:spLocks noGrp="1"/>
          </p:cNvSpPr>
          <p:nvPr/>
        </p:nvSpPr>
        <p:spPr>
          <a:xfrm>
            <a:off x="590550" y="723900"/>
            <a:ext cx="93345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55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개발 목표</a:t>
            </a:r>
          </a:p>
        </p:txBody>
      </p:sp>
      <p:sp>
        <p:nvSpPr>
          <p:cNvPr id="3" name="직선 연결선 2">
            <a:extLst>
              <a:ext uri="{FF2B5EF4-FFF2-40B4-BE49-F238E27FC236}">
                <a16:creationId xmlns:a16="http://schemas.microsoft.com/office/drawing/2014/main" id="{6B4D5828-99D5-4971-8619-92B0E1F5FCFB}"/>
              </a:ext>
            </a:extLst>
          </p:cNvPr>
          <p:cNvSpPr>
            <a:spLocks noGrp="1"/>
          </p:cNvSpPr>
          <p:nvPr/>
        </p:nvSpPr>
        <p:spPr>
          <a:xfrm>
            <a:off x="590550" y="1295400"/>
            <a:ext cx="11010900" cy="0"/>
          </a:xfrm>
          <a:prstGeom prst="line">
            <a:avLst/>
          </a:prstGeom>
          <a:noFill/>
          <a:ln w="9525">
            <a:solidFill>
              <a:srgbClr val="D7DCE5"/>
            </a:solidFill>
            <a:prstDash val="solid"/>
          </a:ln>
        </p:spPr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F7E58C09-89E2-4F3F-B1B5-38FDAC350B57}"/>
              </a:ext>
            </a:extLst>
          </p:cNvPr>
          <p:cNvSpPr>
            <a:spLocks noGrp="1"/>
          </p:cNvSpPr>
          <p:nvPr/>
        </p:nvSpPr>
        <p:spPr>
          <a:xfrm>
            <a:off x="761385" y="1712656"/>
            <a:ext cx="59055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40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defRPr>
            </a:pPr>
            <a:r>
              <a:rPr sz="240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Multi-Step 시계열 예측 시스템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96B4F396-A4DF-42DF-ABE0-16008BBC4DAD}"/>
              </a:ext>
            </a:extLst>
          </p:cNvPr>
          <p:cNvSpPr>
            <a:spLocks noGrp="1"/>
          </p:cNvSpPr>
          <p:nvPr/>
        </p:nvSpPr>
        <p:spPr>
          <a:xfrm>
            <a:off x="762000" y="2790825"/>
            <a:ext cx="36766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575" b="1">
                <a:solidFill>
                  <a:srgbClr val="3563E9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3563E9"/>
                </a:solidFill>
                <a:latin typeface="Aptos"/>
                <a:ea typeface="Aptos"/>
                <a:cs typeface="Aptos"/>
              </a:rPr>
              <a:t>핵심 목표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38A322C4-777C-432E-BED6-C69B7B74149D}"/>
              </a:ext>
            </a:extLst>
          </p:cNvPr>
          <p:cNvSpPr>
            <a:spLocks noGrp="1"/>
          </p:cNvSpPr>
          <p:nvPr/>
        </p:nvSpPr>
        <p:spPr>
          <a:xfrm>
            <a:off x="762000" y="3190875"/>
            <a:ext cx="3676650" cy="1562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• 향후 3일(D+0~D+3) 내 개인별 증상 발현 확률 제공</a:t>
            </a:r>
          </a:p>
          <a:p>
            <a:pPr algn="l"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• 향후 3일 환자 수 변화 추이 시각화</a:t>
            </a:r>
          </a:p>
          <a:p>
            <a:pPr algn="l"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• 급격한 환자 증가 구간의 직관적 시계열 예측 지표 제공</a:t>
            </a:r>
          </a:p>
        </p:txBody>
      </p:sp>
      <p:pic>
        <p:nvPicPr>
          <p:cNvPr id="19" name="그림 18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5876311" y="2061290"/>
            <a:ext cx="2333625" cy="2987371"/>
          </a:xfrm>
          <a:prstGeom prst="roundRect">
            <a:avLst>
              <a:gd name="adj" fmla="val 3265"/>
            </a:avLst>
          </a:prstGeom>
        </p:spPr>
      </p:pic>
      <p:pic>
        <p:nvPicPr>
          <p:cNvPr id="20" name="그림 19"/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8774434" y="1840476"/>
            <a:ext cx="2309486" cy="3429000"/>
          </a:xfrm>
          <a:prstGeom prst="roundRect">
            <a:avLst>
              <a:gd name="adj" fmla="val 3265"/>
            </a:avLst>
          </a:prstGeom>
        </p:spPr>
      </p:pic>
    </p:spTree>
    <p:extLst>
      <p:ext uri="{BB962C8B-B14F-4D97-AF65-F5344CB8AC3E}">
        <p14:creationId xmlns:p14="http://schemas.microsoft.com/office/powerpoint/2010/main" val="11247469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직사각형 7">
            <a:extLst>
              <a:ext uri="{FF2B5EF4-FFF2-40B4-BE49-F238E27FC236}">
                <a16:creationId xmlns:a16="http://schemas.microsoft.com/office/drawing/2014/main" id="{909B0873-54D9-4C83-A92B-9FF4A018ABCF}"/>
              </a:ext>
            </a:extLst>
          </p:cNvPr>
          <p:cNvSpPr>
            <a:spLocks noGrp="1"/>
          </p:cNvSpPr>
          <p:nvPr/>
        </p:nvSpPr>
        <p:spPr>
          <a:xfrm>
            <a:off x="590550" y="228600"/>
            <a:ext cx="762000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250" b="1">
                <a:solidFill>
                  <a:srgbClr val="3563E9"/>
                </a:solidFill>
                <a:latin typeface="Aptos"/>
                <a:ea typeface="Aptos"/>
                <a:cs typeface="Aptos"/>
              </a:defRPr>
            </a:pPr>
            <a:r>
              <a:rPr sz="2250" b="1">
                <a:solidFill>
                  <a:srgbClr val="3563E9"/>
                </a:solidFill>
                <a:latin typeface="Aptos"/>
                <a:ea typeface="Aptos"/>
                <a:cs typeface="Aptos"/>
              </a:rPr>
              <a:t>2차 프로젝트(Computer Vision) 기획서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F85F5A67-0025-4A32-AD23-CA43717913FF}"/>
              </a:ext>
            </a:extLst>
          </p:cNvPr>
          <p:cNvSpPr>
            <a:spLocks noGrp="1"/>
          </p:cNvSpPr>
          <p:nvPr/>
        </p:nvSpPr>
        <p:spPr>
          <a:xfrm>
            <a:off x="590550" y="723900"/>
            <a:ext cx="93345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55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YOLO 기반 보행 환경 객체 탐지 및 위험 상황 분석</a:t>
            </a:r>
          </a:p>
        </p:txBody>
      </p:sp>
      <p:sp>
        <p:nvSpPr>
          <p:cNvPr id="3" name="직선 연결선 2">
            <a:extLst>
              <a:ext uri="{FF2B5EF4-FFF2-40B4-BE49-F238E27FC236}">
                <a16:creationId xmlns:a16="http://schemas.microsoft.com/office/drawing/2014/main" id="{F8BAA6F6-B127-4081-B901-0A04C5DB31D2}"/>
              </a:ext>
            </a:extLst>
          </p:cNvPr>
          <p:cNvSpPr>
            <a:spLocks noGrp="1"/>
          </p:cNvSpPr>
          <p:nvPr/>
        </p:nvSpPr>
        <p:spPr>
          <a:xfrm>
            <a:off x="590550" y="1295400"/>
            <a:ext cx="11010900" cy="0"/>
          </a:xfrm>
          <a:prstGeom prst="line">
            <a:avLst/>
          </a:prstGeom>
          <a:noFill/>
          <a:ln w="9525">
            <a:solidFill>
              <a:srgbClr val="D7DCE5"/>
            </a:solidFill>
            <a:prstDash val="solid"/>
          </a:ln>
        </p:spPr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4824A8CD-A823-4F82-BAB1-D184ECC6258E}"/>
              </a:ext>
            </a:extLst>
          </p:cNvPr>
          <p:cNvSpPr>
            <a:spLocks noGrp="1"/>
          </p:cNvSpPr>
          <p:nvPr/>
        </p:nvSpPr>
        <p:spPr>
          <a:xfrm>
            <a:off x="800100" y="1600200"/>
            <a:ext cx="45339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575" b="1">
                <a:solidFill>
                  <a:srgbClr val="3563E9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3563E9"/>
                </a:solidFill>
                <a:latin typeface="Aptos"/>
                <a:ea typeface="Aptos"/>
                <a:cs typeface="Aptos"/>
              </a:rPr>
              <a:t>기획 의도</a:t>
            </a: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DE074D1B-23A5-4E74-BB61-913435352AA7}"/>
              </a:ext>
            </a:extLst>
          </p:cNvPr>
          <p:cNvSpPr>
            <a:spLocks noGrp="1"/>
          </p:cNvSpPr>
          <p:nvPr/>
        </p:nvSpPr>
        <p:spPr>
          <a:xfrm>
            <a:off x="800100" y="2000250"/>
            <a:ext cx="4533900" cy="1181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91440" tIns="45720" rIns="91440" bIns="45720" anchor="t"/>
          <a:lstStyle/>
          <a:p>
            <a:pPr algn="l"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• </a:t>
            </a:r>
            <a:r>
              <a:rPr sz="1350" b="0" err="1">
                <a:solidFill>
                  <a:srgbClr val="111827"/>
                </a:solidFill>
                <a:latin typeface="Aptos"/>
                <a:ea typeface="Aptos"/>
                <a:cs typeface="Aptos"/>
              </a:rPr>
              <a:t>보행</a:t>
            </a: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 </a:t>
            </a:r>
            <a:r>
              <a:rPr sz="1350" b="0" err="1">
                <a:solidFill>
                  <a:srgbClr val="111827"/>
                </a:solidFill>
                <a:latin typeface="Aptos"/>
                <a:ea typeface="Aptos"/>
                <a:cs typeface="Aptos"/>
              </a:rPr>
              <a:t>환경의</a:t>
            </a: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 </a:t>
            </a:r>
            <a:r>
              <a:rPr sz="1350" b="0" err="1">
                <a:solidFill>
                  <a:srgbClr val="111827"/>
                </a:solidFill>
                <a:latin typeface="Aptos"/>
                <a:ea typeface="Aptos"/>
                <a:cs typeface="Aptos"/>
              </a:rPr>
              <a:t>사람</a:t>
            </a: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, 공, </a:t>
            </a:r>
            <a:r>
              <a:rPr sz="1350" b="0" err="1">
                <a:solidFill>
                  <a:srgbClr val="111827"/>
                </a:solidFill>
                <a:latin typeface="Aptos"/>
                <a:ea typeface="Aptos"/>
                <a:cs typeface="Aptos"/>
              </a:rPr>
              <a:t>보행자용</a:t>
            </a: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 </a:t>
            </a:r>
            <a:r>
              <a:rPr sz="1350" b="0" err="1">
                <a:solidFill>
                  <a:srgbClr val="111827"/>
                </a:solidFill>
                <a:latin typeface="Aptos"/>
                <a:ea typeface="Aptos"/>
                <a:cs typeface="Aptos"/>
              </a:rPr>
              <a:t>신호등</a:t>
            </a: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 </a:t>
            </a:r>
            <a:r>
              <a:rPr sz="1350" b="0" err="1">
                <a:solidFill>
                  <a:srgbClr val="111827"/>
                </a:solidFill>
                <a:latin typeface="Aptos"/>
                <a:ea typeface="Aptos"/>
                <a:cs typeface="Aptos"/>
              </a:rPr>
              <a:t>상태를</a:t>
            </a: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 </a:t>
            </a:r>
            <a:r>
              <a:rPr sz="1350" b="0" err="1">
                <a:solidFill>
                  <a:srgbClr val="111827"/>
                </a:solidFill>
                <a:latin typeface="Aptos"/>
                <a:ea typeface="Aptos"/>
                <a:cs typeface="Aptos"/>
              </a:rPr>
              <a:t>영상에서</a:t>
            </a: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 </a:t>
            </a:r>
            <a:r>
              <a:rPr sz="1350" b="0" err="1">
                <a:solidFill>
                  <a:srgbClr val="111827"/>
                </a:solidFill>
                <a:latin typeface="Aptos"/>
                <a:ea typeface="Aptos"/>
                <a:cs typeface="Aptos"/>
              </a:rPr>
              <a:t>자동</a:t>
            </a: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 </a:t>
            </a:r>
            <a:r>
              <a:rPr sz="1350" b="0" err="1">
                <a:solidFill>
                  <a:srgbClr val="111827"/>
                </a:solidFill>
                <a:latin typeface="Aptos"/>
                <a:ea typeface="Aptos"/>
                <a:cs typeface="Aptos"/>
              </a:rPr>
              <a:t>탐지</a:t>
            </a:r>
            <a:endParaRPr lang="ko-KR" altLang="en-US" sz="1350" b="0" err="1">
              <a:solidFill>
                <a:srgbClr val="111827"/>
              </a:solidFill>
              <a:latin typeface="Aptos"/>
              <a:ea typeface="Aptos"/>
              <a:cs typeface="Aptos"/>
            </a:endParaRPr>
          </a:p>
          <a:p>
            <a:pPr algn="l"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• </a:t>
            </a:r>
            <a:r>
              <a:rPr sz="1350" b="0" err="1">
                <a:solidFill>
                  <a:srgbClr val="111827"/>
                </a:solidFill>
                <a:latin typeface="Aptos"/>
                <a:ea typeface="Aptos"/>
                <a:cs typeface="Aptos"/>
              </a:rPr>
              <a:t>반복</a:t>
            </a: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 </a:t>
            </a:r>
            <a:r>
              <a:rPr sz="1350" b="0" err="1">
                <a:solidFill>
                  <a:srgbClr val="111827"/>
                </a:solidFill>
                <a:latin typeface="Aptos"/>
                <a:ea typeface="Aptos"/>
                <a:cs typeface="Aptos"/>
              </a:rPr>
              <a:t>모니터링의</a:t>
            </a: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 </a:t>
            </a:r>
            <a:r>
              <a:rPr sz="1350" b="0" err="1">
                <a:solidFill>
                  <a:srgbClr val="111827"/>
                </a:solidFill>
                <a:latin typeface="Aptos"/>
                <a:ea typeface="Aptos"/>
                <a:cs typeface="Aptos"/>
              </a:rPr>
              <a:t>시간</a:t>
            </a: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 </a:t>
            </a:r>
            <a:r>
              <a:rPr sz="1350" b="0" err="1">
                <a:solidFill>
                  <a:srgbClr val="111827"/>
                </a:solidFill>
                <a:latin typeface="Aptos"/>
                <a:ea typeface="Aptos"/>
                <a:cs typeface="Aptos"/>
              </a:rPr>
              <a:t>부담과</a:t>
            </a: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 </a:t>
            </a:r>
            <a:r>
              <a:rPr sz="1350" b="0" err="1">
                <a:solidFill>
                  <a:srgbClr val="111827"/>
                </a:solidFill>
                <a:latin typeface="Aptos"/>
                <a:ea typeface="Aptos"/>
                <a:cs typeface="Aptos"/>
              </a:rPr>
              <a:t>주관적</a:t>
            </a: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 </a:t>
            </a:r>
            <a:r>
              <a:rPr sz="1350" b="0" err="1">
                <a:solidFill>
                  <a:srgbClr val="111827"/>
                </a:solidFill>
                <a:latin typeface="Aptos"/>
                <a:ea typeface="Aptos"/>
                <a:cs typeface="Aptos"/>
              </a:rPr>
              <a:t>판단</a:t>
            </a: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 </a:t>
            </a:r>
            <a:r>
              <a:rPr sz="1350" b="0" err="1">
                <a:solidFill>
                  <a:srgbClr val="111827"/>
                </a:solidFill>
                <a:latin typeface="Aptos"/>
                <a:ea typeface="Aptos"/>
                <a:cs typeface="Aptos"/>
              </a:rPr>
              <a:t>한계</a:t>
            </a: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 </a:t>
            </a:r>
            <a:r>
              <a:rPr sz="1350" b="0" err="1">
                <a:solidFill>
                  <a:srgbClr val="111827"/>
                </a:solidFill>
                <a:latin typeface="Aptos"/>
                <a:ea typeface="Aptos"/>
                <a:cs typeface="Aptos"/>
              </a:rPr>
              <a:t>보완</a:t>
            </a:r>
            <a:endParaRPr sz="1350" b="0">
              <a:solidFill>
                <a:srgbClr val="111827"/>
              </a:solidFill>
              <a:latin typeface="Aptos"/>
              <a:ea typeface="Aptos"/>
              <a:cs typeface="Aptos"/>
            </a:endParaRPr>
          </a:p>
          <a:p>
            <a:pPr algn="l"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• </a:t>
            </a:r>
            <a:r>
              <a:rPr sz="1350" b="0" err="1">
                <a:solidFill>
                  <a:srgbClr val="111827"/>
                </a:solidFill>
                <a:latin typeface="Aptos"/>
                <a:ea typeface="Aptos"/>
                <a:cs typeface="Aptos"/>
              </a:rPr>
              <a:t>보행자용</a:t>
            </a: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 </a:t>
            </a:r>
            <a:r>
              <a:rPr sz="1350" b="0" err="1">
                <a:solidFill>
                  <a:srgbClr val="111827"/>
                </a:solidFill>
                <a:latin typeface="Aptos"/>
                <a:ea typeface="Aptos"/>
                <a:cs typeface="Aptos"/>
              </a:rPr>
              <a:t>신호등</a:t>
            </a: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 </a:t>
            </a:r>
            <a:r>
              <a:rPr sz="1350" b="0" err="1">
                <a:solidFill>
                  <a:srgbClr val="111827"/>
                </a:solidFill>
                <a:latin typeface="Aptos"/>
                <a:ea typeface="Aptos"/>
                <a:cs typeface="Aptos"/>
              </a:rPr>
              <a:t>빨간불</a:t>
            </a: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/</a:t>
            </a:r>
            <a:r>
              <a:rPr sz="1350" b="0" err="1">
                <a:solidFill>
                  <a:srgbClr val="111827"/>
                </a:solidFill>
                <a:latin typeface="Aptos"/>
                <a:ea typeface="Aptos"/>
                <a:cs typeface="Aptos"/>
              </a:rPr>
              <a:t>초록불</a:t>
            </a: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 </a:t>
            </a:r>
            <a:r>
              <a:rPr sz="1350" b="0" err="1">
                <a:solidFill>
                  <a:srgbClr val="111827"/>
                </a:solidFill>
                <a:latin typeface="Aptos"/>
                <a:ea typeface="Aptos"/>
                <a:cs typeface="Aptos"/>
              </a:rPr>
              <a:t>상태</a:t>
            </a: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 </a:t>
            </a:r>
            <a:r>
              <a:rPr lang="ko-KR" altLang="en-US" sz="1350">
                <a:solidFill>
                  <a:srgbClr val="111827"/>
                </a:solidFill>
                <a:latin typeface="Aptos"/>
                <a:ea typeface="Aptos"/>
                <a:cs typeface="Aptos"/>
              </a:rPr>
              <a:t>판별</a:t>
            </a:r>
            <a:endParaRPr sz="1350" b="0">
              <a:solidFill>
                <a:srgbClr val="111827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3F79341C-90EB-4471-A8C1-A9625D34767D}"/>
              </a:ext>
            </a:extLst>
          </p:cNvPr>
          <p:cNvSpPr>
            <a:spLocks noGrp="1"/>
          </p:cNvSpPr>
          <p:nvPr/>
        </p:nvSpPr>
        <p:spPr>
          <a:xfrm>
            <a:off x="800100" y="3838575"/>
            <a:ext cx="45339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575" b="1">
                <a:solidFill>
                  <a:srgbClr val="1F8A5B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1F8A5B"/>
                </a:solidFill>
                <a:latin typeface="Aptos"/>
                <a:ea typeface="Aptos"/>
                <a:cs typeface="Aptos"/>
              </a:rPr>
              <a:t>개발 목표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FB0786F1-B466-461D-8BC3-35E56A5427DE}"/>
              </a:ext>
            </a:extLst>
          </p:cNvPr>
          <p:cNvSpPr>
            <a:spLocks noGrp="1"/>
          </p:cNvSpPr>
          <p:nvPr/>
        </p:nvSpPr>
        <p:spPr>
          <a:xfrm>
            <a:off x="800100" y="4238625"/>
            <a:ext cx="4533900" cy="1466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• YOLOv11n 기반 객체 탐지</a:t>
            </a:r>
          </a:p>
          <a:p>
            <a:pPr algn="l"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• OpenCV 영상 프레임 처리 및 탐지 결과 시각화</a:t>
            </a:r>
          </a:p>
          <a:p>
            <a:pPr algn="l"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• 사람/공 탐지 여부 기반 위험 확률 계산</a:t>
            </a:r>
          </a:p>
          <a:p>
            <a:pPr algn="l"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• Flask-RESTX 영상 스트림 및 위험 데이터 API 제공</a:t>
            </a:r>
          </a:p>
        </p:txBody>
      </p:sp>
      <p:pic>
        <p:nvPicPr>
          <p:cNvPr id="19" name="그림 18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6115050" y="1627187"/>
            <a:ext cx="4953000" cy="2889250"/>
          </a:xfrm>
          <a:prstGeom prst="roundRect">
            <a:avLst>
              <a:gd name="adj" fmla="val 2623"/>
            </a:avLst>
          </a:prstGeom>
        </p:spPr>
      </p:pic>
      <p:sp>
        <p:nvSpPr>
          <p:cNvPr id="9" name="직사각형 8">
            <a:extLst>
              <a:ext uri="{FF2B5EF4-FFF2-40B4-BE49-F238E27FC236}">
                <a16:creationId xmlns:a16="http://schemas.microsoft.com/office/drawing/2014/main" id="{E2209CD5-2099-4B57-A946-8B82D0C9915F}"/>
              </a:ext>
            </a:extLst>
          </p:cNvPr>
          <p:cNvSpPr>
            <a:spLocks noGrp="1"/>
          </p:cNvSpPr>
          <p:nvPr/>
        </p:nvSpPr>
        <p:spPr>
          <a:xfrm>
            <a:off x="6286500" y="4762500"/>
            <a:ext cx="45720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35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객체 탐지 결과를 위험도 계산과 실시간 API 응답으로 연결</a:t>
            </a:r>
          </a:p>
        </p:txBody>
      </p:sp>
    </p:spTree>
    <p:extLst>
      <p:ext uri="{BB962C8B-B14F-4D97-AF65-F5344CB8AC3E}">
        <p14:creationId xmlns:p14="http://schemas.microsoft.com/office/powerpoint/2010/main" val="118693218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직사각형 7">
            <a:extLst>
              <a:ext uri="{FF2B5EF4-FFF2-40B4-BE49-F238E27FC236}">
                <a16:creationId xmlns:a16="http://schemas.microsoft.com/office/drawing/2014/main" id="{3C9D2A8E-48E5-410B-9635-D2923D63E9D0}"/>
              </a:ext>
            </a:extLst>
          </p:cNvPr>
          <p:cNvSpPr>
            <a:spLocks noGrp="1"/>
          </p:cNvSpPr>
          <p:nvPr/>
        </p:nvSpPr>
        <p:spPr>
          <a:xfrm>
            <a:off x="590550" y="228600"/>
            <a:ext cx="762000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250" b="1">
                <a:solidFill>
                  <a:srgbClr val="3563E9"/>
                </a:solidFill>
                <a:latin typeface="Aptos"/>
                <a:ea typeface="Aptos"/>
                <a:cs typeface="Aptos"/>
              </a:defRPr>
            </a:pPr>
            <a:r>
              <a:rPr sz="2250" b="1">
                <a:solidFill>
                  <a:srgbClr val="3563E9"/>
                </a:solidFill>
                <a:latin typeface="Aptos"/>
                <a:ea typeface="Aptos"/>
                <a:cs typeface="Aptos"/>
              </a:rPr>
              <a:t>3차 프로젝트(LLM Fine-Tuning) 기획서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9D80E61B-E575-4903-8DB6-8D6D3915BE1B}"/>
              </a:ext>
            </a:extLst>
          </p:cNvPr>
          <p:cNvSpPr>
            <a:spLocks noGrp="1"/>
          </p:cNvSpPr>
          <p:nvPr/>
        </p:nvSpPr>
        <p:spPr>
          <a:xfrm>
            <a:off x="590550" y="723900"/>
            <a:ext cx="93345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55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Unity/GameDev 한국어 LLM 튜터 Fine-Tuning</a:t>
            </a:r>
          </a:p>
        </p:txBody>
      </p:sp>
      <p:sp>
        <p:nvSpPr>
          <p:cNvPr id="3" name="직선 연결선 2">
            <a:extLst>
              <a:ext uri="{FF2B5EF4-FFF2-40B4-BE49-F238E27FC236}">
                <a16:creationId xmlns:a16="http://schemas.microsoft.com/office/drawing/2014/main" id="{90567AD4-A5B5-49E5-9309-58F0EC2979F6}"/>
              </a:ext>
            </a:extLst>
          </p:cNvPr>
          <p:cNvSpPr>
            <a:spLocks noGrp="1"/>
          </p:cNvSpPr>
          <p:nvPr/>
        </p:nvSpPr>
        <p:spPr>
          <a:xfrm>
            <a:off x="590550" y="1295400"/>
            <a:ext cx="11010900" cy="0"/>
          </a:xfrm>
          <a:prstGeom prst="line">
            <a:avLst/>
          </a:prstGeom>
          <a:noFill/>
          <a:ln w="9525">
            <a:solidFill>
              <a:srgbClr val="D7DCE5"/>
            </a:solidFill>
            <a:prstDash val="solid"/>
          </a:ln>
        </p:spPr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2671C3CA-2FBE-4185-8457-B9E4B0A5F881}"/>
              </a:ext>
            </a:extLst>
          </p:cNvPr>
          <p:cNvSpPr>
            <a:spLocks noGrp="1"/>
          </p:cNvSpPr>
          <p:nvPr/>
        </p:nvSpPr>
        <p:spPr>
          <a:xfrm>
            <a:off x="800100" y="1600200"/>
            <a:ext cx="45339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575" b="1">
                <a:solidFill>
                  <a:srgbClr val="3563E9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3563E9"/>
                </a:solidFill>
                <a:latin typeface="Aptos"/>
                <a:ea typeface="Aptos"/>
                <a:cs typeface="Aptos"/>
              </a:rPr>
              <a:t>기획 의도</a:t>
            </a: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49A025F0-3B8F-4640-85BA-8094DB8E9E24}"/>
              </a:ext>
            </a:extLst>
          </p:cNvPr>
          <p:cNvSpPr>
            <a:spLocks noGrp="1"/>
          </p:cNvSpPr>
          <p:nvPr/>
        </p:nvSpPr>
        <p:spPr>
          <a:xfrm>
            <a:off x="800100" y="2000250"/>
            <a:ext cx="4533900" cy="1181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• 일반 LLM의 게임개발 전문 용어·구현 맥락 한계 보완</a:t>
            </a:r>
          </a:p>
          <a:p>
            <a:pPr algn="l"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• Unity 학습자가 한국어로 짧고 정확한 답변을 받는 튜터형 LLM 구축</a:t>
            </a:r>
          </a:p>
          <a:p>
            <a:pPr algn="l"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• 서비스 응답 형식에 맞는 프롬프트와 후처리 구조 설계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6BBF1770-08F9-45FF-8C2C-78AFBF8608F1}"/>
              </a:ext>
            </a:extLst>
          </p:cNvPr>
          <p:cNvSpPr>
            <a:spLocks noGrp="1"/>
          </p:cNvSpPr>
          <p:nvPr/>
        </p:nvSpPr>
        <p:spPr>
          <a:xfrm>
            <a:off x="800100" y="3838575"/>
            <a:ext cx="45339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575" b="1">
                <a:solidFill>
                  <a:srgbClr val="1F8A5B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1F8A5B"/>
                </a:solidFill>
                <a:latin typeface="Aptos"/>
                <a:ea typeface="Aptos"/>
                <a:cs typeface="Aptos"/>
              </a:rPr>
              <a:t>개발 목표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1D441C5A-ACF7-490A-8011-32D58217ABCD}"/>
              </a:ext>
            </a:extLst>
          </p:cNvPr>
          <p:cNvSpPr>
            <a:spLocks noGrp="1"/>
          </p:cNvSpPr>
          <p:nvPr/>
        </p:nvSpPr>
        <p:spPr>
          <a:xfrm>
            <a:off x="800100" y="4238625"/>
            <a:ext cx="4533900" cy="1466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• KoAlpaca 기반 instruction 데이터셋 활용 및 정제</a:t>
            </a:r>
          </a:p>
          <a:p>
            <a:pPr algn="l"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• 전문 지식 데이터와 일반 대화 데이터 혼합</a:t>
            </a:r>
          </a:p>
          <a:p>
            <a:pPr algn="l"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• Flask-RESTX, MCP, vLLM 연동 추론 API 구현</a:t>
            </a:r>
          </a:p>
          <a:p>
            <a:pPr algn="l"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• 짧고 정확한 응답 생성을 위한 후처리 로직 구성</a:t>
            </a:r>
          </a:p>
        </p:txBody>
      </p:sp>
      <p:pic>
        <p:nvPicPr>
          <p:cNvPr id="19" name="그림 18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6115050" y="1627187"/>
            <a:ext cx="4953000" cy="2889250"/>
          </a:xfrm>
          <a:prstGeom prst="roundRect">
            <a:avLst>
              <a:gd name="adj" fmla="val 2623"/>
            </a:avLst>
          </a:prstGeom>
        </p:spPr>
      </p:pic>
      <p:sp>
        <p:nvSpPr>
          <p:cNvPr id="9" name="직사각형 8">
            <a:extLst>
              <a:ext uri="{FF2B5EF4-FFF2-40B4-BE49-F238E27FC236}">
                <a16:creationId xmlns:a16="http://schemas.microsoft.com/office/drawing/2014/main" id="{B158BFFB-F642-418F-99E4-150F8E19C057}"/>
              </a:ext>
            </a:extLst>
          </p:cNvPr>
          <p:cNvSpPr>
            <a:spLocks noGrp="1"/>
          </p:cNvSpPr>
          <p:nvPr/>
        </p:nvSpPr>
        <p:spPr>
          <a:xfrm>
            <a:off x="6286500" y="4762500"/>
            <a:ext cx="4952999" cy="255639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35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Fine-Tuning 모델을 MCP Tool과 vLLM 추론 구조로 서비스화</a:t>
            </a:r>
          </a:p>
        </p:txBody>
      </p:sp>
    </p:spTree>
    <p:extLst>
      <p:ext uri="{BB962C8B-B14F-4D97-AF65-F5344CB8AC3E}">
        <p14:creationId xmlns:p14="http://schemas.microsoft.com/office/powerpoint/2010/main" val="33877034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직사각형 17">
            <a:extLst>
              <a:ext uri="{FF2B5EF4-FFF2-40B4-BE49-F238E27FC236}">
                <a16:creationId xmlns:a16="http://schemas.microsoft.com/office/drawing/2014/main" id="{E2A921A6-1F2F-4EDD-B130-82041273B6FA}"/>
              </a:ext>
            </a:extLst>
          </p:cNvPr>
          <p:cNvSpPr>
            <a:spLocks noGrp="1"/>
          </p:cNvSpPr>
          <p:nvPr/>
        </p:nvSpPr>
        <p:spPr>
          <a:xfrm>
            <a:off x="590550" y="228600"/>
            <a:ext cx="762000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91440" tIns="45720" rIns="91440" bIns="45720" anchor="t"/>
          <a:lstStyle/>
          <a:p>
            <a:pPr algn="l">
              <a:defRPr sz="2250" b="1">
                <a:solidFill>
                  <a:srgbClr val="3563E9"/>
                </a:solidFill>
                <a:latin typeface="Aptos"/>
                <a:ea typeface="Aptos"/>
                <a:cs typeface="Aptos"/>
              </a:defRPr>
            </a:pPr>
            <a:r>
              <a:rPr sz="2250" b="1">
                <a:solidFill>
                  <a:srgbClr val="3563E9"/>
                </a:solidFill>
                <a:latin typeface="Aptos"/>
                <a:ea typeface="Aptos"/>
                <a:cs typeface="Aptos"/>
              </a:rPr>
              <a:t>사용 기술</a:t>
            </a:r>
            <a:endParaRPr lang="ko-KR" altLang="en-US" sz="2250" b="1">
              <a:solidFill>
                <a:srgbClr val="3563E9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D18AA0D7-B215-41D7-B17C-D06C7537EF91}"/>
              </a:ext>
            </a:extLst>
          </p:cNvPr>
          <p:cNvSpPr>
            <a:spLocks noGrp="1"/>
          </p:cNvSpPr>
          <p:nvPr/>
        </p:nvSpPr>
        <p:spPr>
          <a:xfrm>
            <a:off x="590550" y="723900"/>
            <a:ext cx="93345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55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사용 기술 목록</a:t>
            </a:r>
          </a:p>
        </p:txBody>
      </p:sp>
      <p:sp>
        <p:nvSpPr>
          <p:cNvPr id="3" name="직선 연결선 2">
            <a:extLst>
              <a:ext uri="{FF2B5EF4-FFF2-40B4-BE49-F238E27FC236}">
                <a16:creationId xmlns:a16="http://schemas.microsoft.com/office/drawing/2014/main" id="{0A97ECFD-0052-4FFE-9E32-460C80FED7C1}"/>
              </a:ext>
            </a:extLst>
          </p:cNvPr>
          <p:cNvSpPr>
            <a:spLocks noGrp="1"/>
          </p:cNvSpPr>
          <p:nvPr/>
        </p:nvSpPr>
        <p:spPr>
          <a:xfrm>
            <a:off x="590550" y="1295400"/>
            <a:ext cx="11010900" cy="0"/>
          </a:xfrm>
          <a:prstGeom prst="line">
            <a:avLst/>
          </a:prstGeom>
          <a:noFill/>
          <a:ln w="9525">
            <a:solidFill>
              <a:srgbClr val="D7DCE5"/>
            </a:solidFill>
            <a:prstDash val="solid"/>
          </a:ln>
        </p:spPr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EC3698C5-BB63-42B7-93F3-2BD82BD6A8AD}"/>
              </a:ext>
            </a:extLst>
          </p:cNvPr>
          <p:cNvSpPr>
            <a:spLocks noGrp="1"/>
          </p:cNvSpPr>
          <p:nvPr/>
        </p:nvSpPr>
        <p:spPr>
          <a:xfrm>
            <a:off x="742950" y="1581150"/>
            <a:ext cx="31623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1">
                <a:solidFill>
                  <a:srgbClr val="3563E9"/>
                </a:solidFill>
                <a:latin typeface="Aptos"/>
                <a:ea typeface="Aptos"/>
                <a:cs typeface="Aptos"/>
              </a:defRPr>
            </a:pPr>
            <a:r>
              <a:rPr sz="1400" b="1">
                <a:solidFill>
                  <a:srgbClr val="3563E9"/>
                </a:solidFill>
                <a:latin typeface="Aptos"/>
                <a:ea typeface="Aptos"/>
                <a:cs typeface="Aptos"/>
              </a:rPr>
              <a:t>1차 Runtime / Web</a:t>
            </a: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DA64FEC3-FDE4-43AD-8DFA-6C6B0E454153}"/>
              </a:ext>
            </a:extLst>
          </p:cNvPr>
          <p:cNvSpPr>
            <a:spLocks noGrp="1"/>
          </p:cNvSpPr>
          <p:nvPr/>
        </p:nvSpPr>
        <p:spPr>
          <a:xfrm>
            <a:off x="742950" y="1981200"/>
            <a:ext cx="3162300" cy="1419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863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• Python 3.11.9</a:t>
            </a:r>
          </a:p>
          <a:p>
            <a:pPr algn="l">
              <a:defRPr sz="863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• Flask 3.0.3</a:t>
            </a:r>
          </a:p>
          <a:p>
            <a:pPr algn="l">
              <a:defRPr sz="863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• Werkzeug 3.1.6</a:t>
            </a:r>
          </a:p>
          <a:p>
            <a:pPr algn="l">
              <a:defRPr sz="863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• Jinja2 3.1.6</a:t>
            </a:r>
          </a:p>
          <a:p>
            <a:pPr algn="l">
              <a:defRPr sz="863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• requests 2.33.0</a:t>
            </a:r>
          </a:p>
          <a:p>
            <a:pPr algn="l">
              <a:defRPr sz="863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• Bootstrap 5.3.8</a:t>
            </a:r>
          </a:p>
          <a:p>
            <a:pPr algn="l">
              <a:defRPr sz="863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• jQuery 3.5.1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652F48F9-A32E-4180-A0A3-6B2DEBE3EC9A}"/>
              </a:ext>
            </a:extLst>
          </p:cNvPr>
          <p:cNvSpPr>
            <a:spLocks noGrp="1"/>
          </p:cNvSpPr>
          <p:nvPr/>
        </p:nvSpPr>
        <p:spPr>
          <a:xfrm>
            <a:off x="4514850" y="1581150"/>
            <a:ext cx="31623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1">
                <a:solidFill>
                  <a:srgbClr val="1F8A5B"/>
                </a:solidFill>
                <a:latin typeface="Aptos"/>
                <a:ea typeface="Aptos"/>
                <a:cs typeface="Aptos"/>
              </a:defRPr>
            </a:pPr>
            <a:r>
              <a:rPr sz="1400" b="1">
                <a:solidFill>
                  <a:srgbClr val="1F8A5B"/>
                </a:solidFill>
                <a:latin typeface="Aptos"/>
                <a:ea typeface="Aptos"/>
                <a:cs typeface="Aptos"/>
              </a:rPr>
              <a:t>2차 Training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666525A0-E3AA-4618-B854-A7E319C0FF1E}"/>
              </a:ext>
            </a:extLst>
          </p:cNvPr>
          <p:cNvSpPr>
            <a:spLocks noGrp="1"/>
          </p:cNvSpPr>
          <p:nvPr/>
        </p:nvSpPr>
        <p:spPr>
          <a:xfrm>
            <a:off x="4514850" y="1981200"/>
            <a:ext cx="3162300" cy="1419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863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• Python 3.11.10</a:t>
            </a:r>
          </a:p>
          <a:p>
            <a:pPr algn="l">
              <a:defRPr sz="863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• CUDA 12.4</a:t>
            </a:r>
          </a:p>
          <a:p>
            <a:pPr algn="l">
              <a:defRPr sz="863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• GPU RTX 4090</a:t>
            </a:r>
          </a:p>
          <a:p>
            <a:pPr algn="l">
              <a:defRPr sz="863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• ultralytics 8.4.42</a:t>
            </a:r>
          </a:p>
          <a:p>
            <a:pPr algn="l">
              <a:defRPr sz="863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• torch 2.4.1+cu124</a:t>
            </a:r>
          </a:p>
          <a:p>
            <a:pPr algn="l">
              <a:defRPr sz="863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• OpenCV 4.13.0.92</a:t>
            </a:r>
          </a:p>
          <a:p>
            <a:pPr algn="l">
              <a:defRPr sz="863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• OpenVINO 2024.6.0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77568A06-91CC-41D7-BA8B-5ED627535CDC}"/>
              </a:ext>
            </a:extLst>
          </p:cNvPr>
          <p:cNvSpPr>
            <a:spLocks noGrp="1"/>
          </p:cNvSpPr>
          <p:nvPr/>
        </p:nvSpPr>
        <p:spPr>
          <a:xfrm>
            <a:off x="8286750" y="1581150"/>
            <a:ext cx="31623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1">
                <a:solidFill>
                  <a:srgbClr val="E06B2F"/>
                </a:solidFill>
                <a:latin typeface="Aptos"/>
                <a:ea typeface="Aptos"/>
                <a:cs typeface="Aptos"/>
              </a:defRPr>
            </a:pPr>
            <a:r>
              <a:rPr sz="1400" b="1">
                <a:solidFill>
                  <a:srgbClr val="E06B2F"/>
                </a:solidFill>
                <a:latin typeface="Aptos"/>
                <a:ea typeface="Aptos"/>
                <a:cs typeface="Aptos"/>
              </a:rPr>
              <a:t>3차 Runtime / LLM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B6247EBB-7B70-4A5E-A6A7-3C42AAF09BF0}"/>
              </a:ext>
            </a:extLst>
          </p:cNvPr>
          <p:cNvSpPr>
            <a:spLocks noGrp="1"/>
          </p:cNvSpPr>
          <p:nvPr/>
        </p:nvSpPr>
        <p:spPr>
          <a:xfrm>
            <a:off x="8286750" y="1981200"/>
            <a:ext cx="3162300" cy="1419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863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• Python 3.11.9</a:t>
            </a:r>
          </a:p>
          <a:p>
            <a:pPr algn="l">
              <a:defRPr sz="863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• Flask 3.0.3</a:t>
            </a:r>
          </a:p>
          <a:p>
            <a:pPr algn="l">
              <a:defRPr sz="863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• Flask-RESTX 1.3.0</a:t>
            </a:r>
          </a:p>
          <a:p>
            <a:pPr algn="l">
              <a:defRPr sz="863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• mcp 1.9.4</a:t>
            </a:r>
          </a:p>
          <a:p>
            <a:pPr algn="l">
              <a:defRPr sz="863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• FastMCP 1.9.4</a:t>
            </a:r>
          </a:p>
          <a:p>
            <a:pPr algn="l">
              <a:defRPr sz="863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• vLLM 0.8.5</a:t>
            </a:r>
          </a:p>
          <a:p>
            <a:pPr algn="l">
              <a:defRPr sz="863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• Hugging Face datasets 4.8.5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8FF9AC5F-3C30-46F0-9844-8EEC63732B1F}"/>
              </a:ext>
            </a:extLst>
          </p:cNvPr>
          <p:cNvSpPr>
            <a:spLocks noGrp="1"/>
          </p:cNvSpPr>
          <p:nvPr/>
        </p:nvSpPr>
        <p:spPr>
          <a:xfrm>
            <a:off x="742950" y="3895725"/>
            <a:ext cx="31623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1">
                <a:solidFill>
                  <a:srgbClr val="3563E9"/>
                </a:solidFill>
                <a:latin typeface="Aptos"/>
                <a:ea typeface="Aptos"/>
                <a:cs typeface="Aptos"/>
              </a:defRPr>
            </a:pPr>
            <a:r>
              <a:rPr sz="1400" b="1">
                <a:solidFill>
                  <a:srgbClr val="3563E9"/>
                </a:solidFill>
                <a:latin typeface="Aptos"/>
                <a:ea typeface="Aptos"/>
                <a:cs typeface="Aptos"/>
              </a:rPr>
              <a:t>1차 DB / ML</a:t>
            </a: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DDE22458-04F7-47C3-A655-2B4B161A35B7}"/>
              </a:ext>
            </a:extLst>
          </p:cNvPr>
          <p:cNvSpPr>
            <a:spLocks noGrp="1"/>
          </p:cNvSpPr>
          <p:nvPr/>
        </p:nvSpPr>
        <p:spPr>
          <a:xfrm>
            <a:off x="742950" y="4295775"/>
            <a:ext cx="3162300" cy="1419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863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• Oracle DB 11g XE 11.2.0.2.0</a:t>
            </a:r>
          </a:p>
          <a:p>
            <a:pPr algn="l">
              <a:defRPr sz="863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• oracledb 3.4.2</a:t>
            </a:r>
          </a:p>
          <a:p>
            <a:pPr algn="l">
              <a:defRPr sz="863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• SQLAlchemy 2.0.21</a:t>
            </a:r>
          </a:p>
          <a:p>
            <a:pPr algn="l">
              <a:defRPr sz="863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• pandas 3.0.1</a:t>
            </a:r>
          </a:p>
          <a:p>
            <a:pPr algn="l">
              <a:defRPr sz="863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• numpy 2.4.3</a:t>
            </a:r>
          </a:p>
          <a:p>
            <a:pPr algn="l">
              <a:defRPr sz="863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• scikit-learn 1.8.0</a:t>
            </a:r>
          </a:p>
          <a:p>
            <a:pPr algn="l">
              <a:defRPr sz="863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• XGBoost 3.2.0</a:t>
            </a:r>
          </a:p>
          <a:p>
            <a:pPr algn="l">
              <a:defRPr sz="863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• LightGBM 4.6.0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AB4DDBDE-E536-436E-A10C-473FB54994CB}"/>
              </a:ext>
            </a:extLst>
          </p:cNvPr>
          <p:cNvSpPr>
            <a:spLocks noGrp="1"/>
          </p:cNvSpPr>
          <p:nvPr/>
        </p:nvSpPr>
        <p:spPr>
          <a:xfrm>
            <a:off x="4514850" y="3895725"/>
            <a:ext cx="31623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1">
                <a:solidFill>
                  <a:srgbClr val="1F8A5B"/>
                </a:solidFill>
                <a:latin typeface="Aptos"/>
                <a:ea typeface="Aptos"/>
                <a:cs typeface="Aptos"/>
              </a:defRPr>
            </a:pPr>
            <a:r>
              <a:rPr sz="1400" b="1">
                <a:solidFill>
                  <a:srgbClr val="1F8A5B"/>
                </a:solidFill>
                <a:latin typeface="Aptos"/>
                <a:ea typeface="Aptos"/>
                <a:cs typeface="Aptos"/>
              </a:rPr>
              <a:t>2차 API / Tools</a:t>
            </a: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357653DD-EC2A-458F-938B-E0D5292DD7A9}"/>
              </a:ext>
            </a:extLst>
          </p:cNvPr>
          <p:cNvSpPr>
            <a:spLocks noGrp="1"/>
          </p:cNvSpPr>
          <p:nvPr/>
        </p:nvSpPr>
        <p:spPr>
          <a:xfrm>
            <a:off x="4514850" y="4295775"/>
            <a:ext cx="3162300" cy="1419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863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• Flask 3.0.3</a:t>
            </a:r>
          </a:p>
          <a:p>
            <a:pPr algn="l">
              <a:defRPr sz="863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• Flask-RESTX 1.3.0</a:t>
            </a:r>
          </a:p>
          <a:p>
            <a:pPr algn="l">
              <a:defRPr sz="863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• Flask-CORS 4.0.1</a:t>
            </a:r>
          </a:p>
          <a:p>
            <a:pPr algn="l">
              <a:defRPr sz="863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• roboflow 1.3.3</a:t>
            </a:r>
          </a:p>
          <a:p>
            <a:pPr algn="l">
              <a:defRPr sz="863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• albumentations 2.0.8</a:t>
            </a:r>
          </a:p>
          <a:p>
            <a:pPr algn="l">
              <a:defRPr sz="863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• sahi 0.11.36</a:t>
            </a:r>
          </a:p>
          <a:p>
            <a:pPr algn="l">
              <a:defRPr sz="863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• PyYAML 6.0.3</a:t>
            </a: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B1193DF0-1841-458F-955C-4097C224A6C3}"/>
              </a:ext>
            </a:extLst>
          </p:cNvPr>
          <p:cNvSpPr>
            <a:spLocks noGrp="1"/>
          </p:cNvSpPr>
          <p:nvPr/>
        </p:nvSpPr>
        <p:spPr>
          <a:xfrm>
            <a:off x="8286750" y="3895725"/>
            <a:ext cx="31623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1">
                <a:solidFill>
                  <a:srgbClr val="E06B2F"/>
                </a:solidFill>
                <a:latin typeface="Aptos"/>
                <a:ea typeface="Aptos"/>
                <a:cs typeface="Aptos"/>
              </a:defRPr>
            </a:pPr>
            <a:r>
              <a:rPr sz="1400" b="1">
                <a:solidFill>
                  <a:srgbClr val="E06B2F"/>
                </a:solidFill>
                <a:latin typeface="Aptos"/>
                <a:ea typeface="Aptos"/>
                <a:cs typeface="Aptos"/>
              </a:rPr>
              <a:t>3차 Config</a:t>
            </a: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B1ADEFF2-1CB4-4751-AA79-B4C925ECDCCA}"/>
              </a:ext>
            </a:extLst>
          </p:cNvPr>
          <p:cNvSpPr>
            <a:spLocks noGrp="1"/>
          </p:cNvSpPr>
          <p:nvPr/>
        </p:nvSpPr>
        <p:spPr>
          <a:xfrm>
            <a:off x="8286750" y="4295775"/>
            <a:ext cx="3162300" cy="1419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863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• JSONL Dataset</a:t>
            </a:r>
          </a:p>
          <a:p>
            <a:pPr algn="l">
              <a:defRPr sz="863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• Instruction Tuning</a:t>
            </a:r>
          </a:p>
          <a:p>
            <a:pPr algn="l">
              <a:defRPr sz="863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• Model Serving</a:t>
            </a:r>
          </a:p>
          <a:p>
            <a:pPr algn="l">
              <a:defRPr sz="863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• Prompt Control</a:t>
            </a:r>
          </a:p>
          <a:p>
            <a:pPr algn="l">
              <a:defRPr sz="863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• Stop Sequence</a:t>
            </a:r>
          </a:p>
          <a:p>
            <a:pPr algn="l">
              <a:defRPr sz="863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• Answer Postprocess</a:t>
            </a:r>
          </a:p>
          <a:p>
            <a:pPr algn="l">
              <a:defRPr sz="863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• python-dotenv 1.2.2</a:t>
            </a:r>
          </a:p>
        </p:txBody>
      </p:sp>
    </p:spTree>
    <p:extLst>
      <p:ext uri="{BB962C8B-B14F-4D97-AF65-F5344CB8AC3E}">
        <p14:creationId xmlns:p14="http://schemas.microsoft.com/office/powerpoint/2010/main" val="79001444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직사각형 17">
            <a:extLst>
              <a:ext uri="{FF2B5EF4-FFF2-40B4-BE49-F238E27FC236}">
                <a16:creationId xmlns:a16="http://schemas.microsoft.com/office/drawing/2014/main" id="{90694103-C186-4E52-8447-7E351245BE35}"/>
              </a:ext>
            </a:extLst>
          </p:cNvPr>
          <p:cNvSpPr>
            <a:spLocks noGrp="1"/>
          </p:cNvSpPr>
          <p:nvPr/>
        </p:nvSpPr>
        <p:spPr>
          <a:xfrm>
            <a:off x="590550" y="228600"/>
            <a:ext cx="762000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91440" tIns="45720" rIns="91440" bIns="45720" anchor="t"/>
          <a:lstStyle/>
          <a:p>
            <a:pPr algn="l">
              <a:defRPr sz="2250" b="1">
                <a:solidFill>
                  <a:srgbClr val="3563E9"/>
                </a:solidFill>
                <a:latin typeface="Aptos"/>
                <a:ea typeface="Aptos"/>
                <a:cs typeface="Aptos"/>
              </a:defRPr>
            </a:pPr>
            <a:r>
              <a:rPr sz="2250" b="1">
                <a:solidFill>
                  <a:srgbClr val="3563E9"/>
                </a:solidFill>
                <a:latin typeface="Aptos"/>
                <a:ea typeface="Aptos"/>
                <a:cs typeface="Aptos"/>
              </a:rPr>
              <a:t>사용 기술</a:t>
            </a:r>
            <a:endParaRPr lang="ko-KR" altLang="en-US" sz="2250" b="1">
              <a:solidFill>
                <a:srgbClr val="3563E9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F2DA8644-4BB1-49F4-B9A0-34065DE51BE9}"/>
              </a:ext>
            </a:extLst>
          </p:cNvPr>
          <p:cNvSpPr>
            <a:spLocks noGrp="1"/>
          </p:cNvSpPr>
          <p:nvPr/>
        </p:nvSpPr>
        <p:spPr>
          <a:xfrm>
            <a:off x="590550" y="723900"/>
            <a:ext cx="93345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55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사용 기술 경험</a:t>
            </a:r>
          </a:p>
        </p:txBody>
      </p:sp>
      <p:sp>
        <p:nvSpPr>
          <p:cNvPr id="3" name="직선 연결선 2">
            <a:extLst>
              <a:ext uri="{FF2B5EF4-FFF2-40B4-BE49-F238E27FC236}">
                <a16:creationId xmlns:a16="http://schemas.microsoft.com/office/drawing/2014/main" id="{A9F98061-DD9A-4B3D-9F8E-C7314874AE45}"/>
              </a:ext>
            </a:extLst>
          </p:cNvPr>
          <p:cNvSpPr>
            <a:spLocks noGrp="1"/>
          </p:cNvSpPr>
          <p:nvPr/>
        </p:nvSpPr>
        <p:spPr>
          <a:xfrm>
            <a:off x="590550" y="1295400"/>
            <a:ext cx="11010900" cy="0"/>
          </a:xfrm>
          <a:prstGeom prst="line">
            <a:avLst/>
          </a:prstGeom>
          <a:noFill/>
          <a:ln w="9525">
            <a:solidFill>
              <a:srgbClr val="D7DCE5"/>
            </a:solidFill>
            <a:prstDash val="solid"/>
          </a:ln>
        </p:spPr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EE4074A2-1ECE-479A-9852-5129C88284F3}"/>
              </a:ext>
            </a:extLst>
          </p:cNvPr>
          <p:cNvSpPr>
            <a:spLocks noGrp="1"/>
          </p:cNvSpPr>
          <p:nvPr/>
        </p:nvSpPr>
        <p:spPr>
          <a:xfrm>
            <a:off x="742950" y="1581150"/>
            <a:ext cx="31623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1">
                <a:solidFill>
                  <a:srgbClr val="3563E9"/>
                </a:solidFill>
                <a:latin typeface="Aptos"/>
                <a:ea typeface="Aptos"/>
                <a:cs typeface="Aptos"/>
              </a:defRPr>
            </a:pPr>
            <a:r>
              <a:rPr sz="1400" b="1">
                <a:solidFill>
                  <a:srgbClr val="3563E9"/>
                </a:solidFill>
                <a:latin typeface="Aptos"/>
                <a:ea typeface="Aptos"/>
                <a:cs typeface="Aptos"/>
              </a:rPr>
              <a:t>1차 ML / 예측</a:t>
            </a: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1FA07854-B646-415F-A6F3-19B1B01B32FE}"/>
              </a:ext>
            </a:extLst>
          </p:cNvPr>
          <p:cNvSpPr>
            <a:spLocks noGrp="1"/>
          </p:cNvSpPr>
          <p:nvPr/>
        </p:nvSpPr>
        <p:spPr>
          <a:xfrm>
            <a:off x="742950" y="1981200"/>
            <a:ext cx="3162300" cy="1419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863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• RandomForestRegressor</a:t>
            </a:r>
          </a:p>
          <a:p>
            <a:pPr algn="l">
              <a:defRPr sz="863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• XGBRegressor</a:t>
            </a:r>
          </a:p>
          <a:p>
            <a:pPr algn="l">
              <a:defRPr sz="863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• LGBMRegressor</a:t>
            </a:r>
          </a:p>
          <a:p>
            <a:pPr algn="l">
              <a:defRPr sz="863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• MultiOutputRegressor</a:t>
            </a:r>
          </a:p>
          <a:p>
            <a:pPr algn="l">
              <a:defRPr sz="863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• Multi-Step Prediction</a:t>
            </a:r>
          </a:p>
          <a:p>
            <a:pPr algn="l">
              <a:defRPr sz="863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• Train/Test Split</a:t>
            </a:r>
          </a:p>
          <a:p>
            <a:pPr algn="l">
              <a:defRPr sz="863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• R2 Score / MAE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0E5BC73D-2494-4DBB-8A17-90954467FB56}"/>
              </a:ext>
            </a:extLst>
          </p:cNvPr>
          <p:cNvSpPr>
            <a:spLocks noGrp="1"/>
          </p:cNvSpPr>
          <p:nvPr/>
        </p:nvSpPr>
        <p:spPr>
          <a:xfrm>
            <a:off x="4514850" y="1581150"/>
            <a:ext cx="31623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1">
                <a:solidFill>
                  <a:srgbClr val="1F8A5B"/>
                </a:solidFill>
                <a:latin typeface="Aptos"/>
                <a:ea typeface="Aptos"/>
                <a:cs typeface="Aptos"/>
              </a:defRPr>
            </a:pPr>
            <a:r>
              <a:rPr sz="1400" b="1">
                <a:solidFill>
                  <a:srgbClr val="1F8A5B"/>
                </a:solidFill>
                <a:latin typeface="Aptos"/>
                <a:ea typeface="Aptos"/>
                <a:cs typeface="Aptos"/>
              </a:rPr>
              <a:t>2차 Vision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1788D483-C219-4CD0-BD23-DF2160393F5D}"/>
              </a:ext>
            </a:extLst>
          </p:cNvPr>
          <p:cNvSpPr>
            <a:spLocks noGrp="1"/>
          </p:cNvSpPr>
          <p:nvPr/>
        </p:nvSpPr>
        <p:spPr>
          <a:xfrm>
            <a:off x="4514850" y="1981200"/>
            <a:ext cx="3162300" cy="1419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863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• Ultralytics YOLO</a:t>
            </a:r>
          </a:p>
          <a:p>
            <a:pPr algn="l">
              <a:defRPr sz="863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• OpenCV</a:t>
            </a:r>
          </a:p>
          <a:p>
            <a:pPr algn="l">
              <a:defRPr sz="863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• Object Detection</a:t>
            </a:r>
          </a:p>
          <a:p>
            <a:pPr algn="l">
              <a:defRPr sz="863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• Bounding Box</a:t>
            </a:r>
          </a:p>
          <a:p>
            <a:pPr algn="l">
              <a:defRPr sz="863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• Frame Processing</a:t>
            </a:r>
          </a:p>
          <a:p>
            <a:pPr algn="l">
              <a:defRPr sz="863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• Traffic Light Detection</a:t>
            </a:r>
          </a:p>
          <a:p>
            <a:pPr algn="l">
              <a:defRPr sz="863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• Red/Green Classification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383E6D4D-70C1-4D38-954A-471F11333465}"/>
              </a:ext>
            </a:extLst>
          </p:cNvPr>
          <p:cNvSpPr>
            <a:spLocks noGrp="1"/>
          </p:cNvSpPr>
          <p:nvPr/>
        </p:nvSpPr>
        <p:spPr>
          <a:xfrm>
            <a:off x="8286750" y="1581150"/>
            <a:ext cx="31623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1">
                <a:solidFill>
                  <a:srgbClr val="E06B2F"/>
                </a:solidFill>
                <a:latin typeface="Aptos"/>
                <a:ea typeface="Aptos"/>
                <a:cs typeface="Aptos"/>
              </a:defRPr>
            </a:pPr>
            <a:r>
              <a:rPr sz="1400" b="1">
                <a:solidFill>
                  <a:srgbClr val="E06B2F"/>
                </a:solidFill>
                <a:latin typeface="Aptos"/>
                <a:ea typeface="Aptos"/>
                <a:cs typeface="Aptos"/>
              </a:rPr>
              <a:t>3차 LLM / MCP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822EC8C5-D23F-4A10-B9B1-F4BE70E7A2BE}"/>
              </a:ext>
            </a:extLst>
          </p:cNvPr>
          <p:cNvSpPr>
            <a:spLocks noGrp="1"/>
          </p:cNvSpPr>
          <p:nvPr/>
        </p:nvSpPr>
        <p:spPr>
          <a:xfrm>
            <a:off x="8286750" y="1981200"/>
            <a:ext cx="3162300" cy="1419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863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• LLM Fine-Tuning</a:t>
            </a:r>
          </a:p>
          <a:p>
            <a:pPr algn="l">
              <a:defRPr sz="863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• Instruction Dataset</a:t>
            </a:r>
          </a:p>
          <a:p>
            <a:pPr algn="l">
              <a:defRPr sz="863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• KoAlpaca</a:t>
            </a:r>
          </a:p>
          <a:p>
            <a:pPr algn="l">
              <a:defRPr sz="863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• MCP Tool Calling</a:t>
            </a:r>
          </a:p>
          <a:p>
            <a:pPr algn="l">
              <a:defRPr sz="863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• FastMCP</a:t>
            </a:r>
          </a:p>
          <a:p>
            <a:pPr algn="l">
              <a:defRPr sz="863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• vLLM</a:t>
            </a:r>
          </a:p>
          <a:p>
            <a:pPr algn="l">
              <a:defRPr sz="863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• Model Serving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41A4DEB9-D551-4342-AF28-4BCF063361B3}"/>
              </a:ext>
            </a:extLst>
          </p:cNvPr>
          <p:cNvSpPr>
            <a:spLocks noGrp="1"/>
          </p:cNvSpPr>
          <p:nvPr/>
        </p:nvSpPr>
        <p:spPr>
          <a:xfrm>
            <a:off x="742950" y="3895725"/>
            <a:ext cx="31623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1">
                <a:solidFill>
                  <a:srgbClr val="3563E9"/>
                </a:solidFill>
                <a:latin typeface="Aptos"/>
                <a:ea typeface="Aptos"/>
                <a:cs typeface="Aptos"/>
              </a:defRPr>
            </a:pPr>
            <a:r>
              <a:rPr sz="1400" b="1">
                <a:solidFill>
                  <a:srgbClr val="3563E9"/>
                </a:solidFill>
                <a:latin typeface="Aptos"/>
                <a:ea typeface="Aptos"/>
                <a:cs typeface="Aptos"/>
              </a:rPr>
              <a:t>1차 Data / Web</a:t>
            </a: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3E40CC91-05F4-4174-91A6-F82F3E99E5D8}"/>
              </a:ext>
            </a:extLst>
          </p:cNvPr>
          <p:cNvSpPr>
            <a:spLocks noGrp="1"/>
          </p:cNvSpPr>
          <p:nvPr/>
        </p:nvSpPr>
        <p:spPr>
          <a:xfrm>
            <a:off x="742950" y="4295775"/>
            <a:ext cx="3162300" cy="1419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863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• pandas / numpy</a:t>
            </a:r>
          </a:p>
          <a:p>
            <a:pPr algn="l">
              <a:defRPr sz="863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• StandardScaler</a:t>
            </a:r>
          </a:p>
          <a:p>
            <a:pPr algn="l">
              <a:defRPr sz="863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• Time-Lag Features</a:t>
            </a:r>
          </a:p>
          <a:p>
            <a:pPr algn="l">
              <a:defRPr sz="863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• Moving Average</a:t>
            </a:r>
          </a:p>
          <a:p>
            <a:pPr algn="l">
              <a:defRPr sz="863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• Flask</a:t>
            </a:r>
          </a:p>
          <a:p>
            <a:pPr algn="l">
              <a:defRPr sz="863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• Oracle DB</a:t>
            </a:r>
          </a:p>
          <a:p>
            <a:pPr algn="l">
              <a:defRPr sz="863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• SQLAlchemy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FD390821-DCB8-46D5-8277-ED9ED5288AF9}"/>
              </a:ext>
            </a:extLst>
          </p:cNvPr>
          <p:cNvSpPr>
            <a:spLocks noGrp="1"/>
          </p:cNvSpPr>
          <p:nvPr/>
        </p:nvSpPr>
        <p:spPr>
          <a:xfrm>
            <a:off x="4514850" y="3895725"/>
            <a:ext cx="31623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1">
                <a:solidFill>
                  <a:srgbClr val="1F8A5B"/>
                </a:solidFill>
                <a:latin typeface="Aptos"/>
                <a:ea typeface="Aptos"/>
                <a:cs typeface="Aptos"/>
              </a:defRPr>
            </a:pPr>
            <a:r>
              <a:rPr sz="1400" b="1">
                <a:solidFill>
                  <a:srgbClr val="1F8A5B"/>
                </a:solidFill>
                <a:latin typeface="Aptos"/>
                <a:ea typeface="Aptos"/>
                <a:cs typeface="Aptos"/>
              </a:rPr>
              <a:t>2차 API / Streaming</a:t>
            </a: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518E9161-B48D-4045-9A50-4D2468032C25}"/>
              </a:ext>
            </a:extLst>
          </p:cNvPr>
          <p:cNvSpPr>
            <a:spLocks noGrp="1"/>
          </p:cNvSpPr>
          <p:nvPr/>
        </p:nvSpPr>
        <p:spPr>
          <a:xfrm>
            <a:off x="4514850" y="4295775"/>
            <a:ext cx="3162300" cy="1419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863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• Flask-RESTX</a:t>
            </a:r>
          </a:p>
          <a:p>
            <a:pPr algn="l">
              <a:defRPr sz="863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• Swagger UI</a:t>
            </a:r>
          </a:p>
          <a:p>
            <a:pPr algn="l">
              <a:defRPr sz="863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• MJPEG Streaming</a:t>
            </a:r>
          </a:p>
          <a:p>
            <a:pPr algn="l">
              <a:defRPr sz="863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• JSON Response</a:t>
            </a:r>
          </a:p>
          <a:p>
            <a:pPr algn="l">
              <a:defRPr sz="863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• Risk Probability</a:t>
            </a:r>
          </a:p>
          <a:p>
            <a:pPr algn="l">
              <a:defRPr sz="863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• roboflow</a:t>
            </a:r>
          </a:p>
          <a:p>
            <a:pPr algn="l">
              <a:defRPr sz="863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• OpenVINO export</a:t>
            </a: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51DCDB28-A8EB-4D1F-8228-0A666A45CAE8}"/>
              </a:ext>
            </a:extLst>
          </p:cNvPr>
          <p:cNvSpPr>
            <a:spLocks noGrp="1"/>
          </p:cNvSpPr>
          <p:nvPr/>
        </p:nvSpPr>
        <p:spPr>
          <a:xfrm>
            <a:off x="8286750" y="3895725"/>
            <a:ext cx="31623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1">
                <a:solidFill>
                  <a:srgbClr val="E06B2F"/>
                </a:solidFill>
                <a:latin typeface="Aptos"/>
                <a:ea typeface="Aptos"/>
                <a:cs typeface="Aptos"/>
              </a:defRPr>
            </a:pPr>
            <a:r>
              <a:rPr sz="1400" b="1">
                <a:solidFill>
                  <a:srgbClr val="E06B2F"/>
                </a:solidFill>
                <a:latin typeface="Aptos"/>
                <a:ea typeface="Aptos"/>
                <a:cs typeface="Aptos"/>
              </a:rPr>
              <a:t>3차 Prompt / Response</a:t>
            </a: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F9FE2BBF-774E-49F7-9755-69CE73D2F5CD}"/>
              </a:ext>
            </a:extLst>
          </p:cNvPr>
          <p:cNvSpPr>
            <a:spLocks noGrp="1"/>
          </p:cNvSpPr>
          <p:nvPr/>
        </p:nvSpPr>
        <p:spPr>
          <a:xfrm>
            <a:off x="8286750" y="4295775"/>
            <a:ext cx="3162300" cy="1419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863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• Prompt Engineering</a:t>
            </a:r>
          </a:p>
          <a:p>
            <a:pPr algn="l">
              <a:defRPr sz="863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• Stop Sequence</a:t>
            </a:r>
          </a:p>
          <a:p>
            <a:pPr algn="l">
              <a:defRPr sz="863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• Answer Postprocessing</a:t>
            </a:r>
          </a:p>
          <a:p>
            <a:pPr algn="l">
              <a:defRPr sz="863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• JSONL Dataset</a:t>
            </a:r>
          </a:p>
          <a:p>
            <a:pPr algn="l">
              <a:defRPr sz="863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• csv / json / pkl</a:t>
            </a:r>
          </a:p>
          <a:p>
            <a:pPr algn="l">
              <a:defRPr sz="863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• try / except</a:t>
            </a:r>
          </a:p>
          <a:p>
            <a:pPr algn="l">
              <a:defRPr sz="863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• python-dotenv</a:t>
            </a:r>
          </a:p>
        </p:txBody>
      </p:sp>
    </p:spTree>
    <p:extLst>
      <p:ext uri="{BB962C8B-B14F-4D97-AF65-F5344CB8AC3E}">
        <p14:creationId xmlns:p14="http://schemas.microsoft.com/office/powerpoint/2010/main" val="130929772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>
            <a:extLst>
              <a:ext uri="{FF2B5EF4-FFF2-40B4-BE49-F238E27FC236}">
                <a16:creationId xmlns:a16="http://schemas.microsoft.com/office/drawing/2014/main" id="{9A2586F1-FEF4-48E2-A4EA-6DC8F63E088A}"/>
              </a:ext>
            </a:extLst>
          </p:cNvPr>
          <p:cNvSpPr>
            <a:spLocks noGrp="1"/>
          </p:cNvSpPr>
          <p:nvPr/>
        </p:nvSpPr>
        <p:spPr>
          <a:xfrm>
            <a:off x="590550" y="228600"/>
            <a:ext cx="762000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91440" tIns="45720" rIns="91440" bIns="45720" anchor="t"/>
          <a:lstStyle/>
          <a:p>
            <a:pPr algn="l">
              <a:defRPr sz="2250" b="1">
                <a:solidFill>
                  <a:srgbClr val="3563E9"/>
                </a:solidFill>
                <a:latin typeface="Aptos"/>
                <a:ea typeface="Aptos"/>
                <a:cs typeface="Aptos"/>
              </a:defRPr>
            </a:pPr>
            <a:r>
              <a:rPr sz="2250" b="1" err="1">
                <a:solidFill>
                  <a:srgbClr val="3563E9"/>
                </a:solidFill>
                <a:latin typeface="Aptos"/>
                <a:ea typeface="Aptos"/>
                <a:cs typeface="Aptos"/>
              </a:rPr>
              <a:t>개발</a:t>
            </a:r>
            <a:r>
              <a:rPr sz="2250" b="1">
                <a:solidFill>
                  <a:srgbClr val="3563E9"/>
                </a:solidFill>
                <a:latin typeface="Aptos"/>
                <a:ea typeface="Aptos"/>
                <a:cs typeface="Aptos"/>
              </a:rPr>
              <a:t> </a:t>
            </a:r>
            <a:r>
              <a:rPr sz="2250" b="1" err="1">
                <a:solidFill>
                  <a:srgbClr val="3563E9"/>
                </a:solidFill>
                <a:latin typeface="Aptos"/>
                <a:ea typeface="Aptos"/>
                <a:cs typeface="Aptos"/>
              </a:rPr>
              <a:t>스케줄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D8B44B10-CEDC-43A9-8D04-30FD418C86E7}"/>
              </a:ext>
            </a:extLst>
          </p:cNvPr>
          <p:cNvSpPr>
            <a:spLocks noGrp="1"/>
          </p:cNvSpPr>
          <p:nvPr/>
        </p:nvSpPr>
        <p:spPr>
          <a:xfrm>
            <a:off x="590550" y="723900"/>
            <a:ext cx="93345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91440" tIns="45720" rIns="91440" bIns="45720" anchor="t"/>
          <a:lstStyle/>
          <a:p>
            <a:pPr>
              <a:defRPr sz="255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1차</a:t>
            </a:r>
            <a:r>
              <a:rPr lang="ko-KR" sz="255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 </a:t>
            </a:r>
            <a:r>
              <a:rPr lang="ko-KR" altLang="en-US" sz="255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프로젝트</a:t>
            </a:r>
            <a:r>
              <a:rPr sz="255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(Python Full Stack &amp; ML)</a:t>
            </a:r>
            <a:endParaRPr lang="ko-KR" altLang="en-US" sz="2550" b="1">
              <a:solidFill>
                <a:srgbClr val="111827"/>
              </a:solidFill>
              <a:latin typeface="Aptos Display"/>
              <a:ea typeface="Aptos Display"/>
              <a:cs typeface="Aptos Display"/>
            </a:endParaRPr>
          </a:p>
        </p:txBody>
      </p:sp>
      <p:sp>
        <p:nvSpPr>
          <p:cNvPr id="3" name="직선 연결선 2">
            <a:extLst>
              <a:ext uri="{FF2B5EF4-FFF2-40B4-BE49-F238E27FC236}">
                <a16:creationId xmlns:a16="http://schemas.microsoft.com/office/drawing/2014/main" id="{96F045E6-9017-415F-A572-56727AB70804}"/>
              </a:ext>
            </a:extLst>
          </p:cNvPr>
          <p:cNvSpPr>
            <a:spLocks noGrp="1"/>
          </p:cNvSpPr>
          <p:nvPr/>
        </p:nvSpPr>
        <p:spPr>
          <a:xfrm>
            <a:off x="590550" y="1295400"/>
            <a:ext cx="11010900" cy="0"/>
          </a:xfrm>
          <a:prstGeom prst="line">
            <a:avLst/>
          </a:prstGeom>
          <a:noFill/>
          <a:ln w="9525">
            <a:solidFill>
              <a:srgbClr val="D7DCE5"/>
            </a:solidFill>
            <a:prstDash val="solid"/>
          </a:ln>
        </p:spPr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0918A06A-B991-D07F-5020-C9FB0026CE5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206" y="1373276"/>
            <a:ext cx="11016157" cy="53267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4044125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>
            <a:extLst>
              <a:ext uri="{FF2B5EF4-FFF2-40B4-BE49-F238E27FC236}">
                <a16:creationId xmlns:a16="http://schemas.microsoft.com/office/drawing/2014/main" id="{C5C01D46-0BC9-42DB-962E-C42B1D190F3A}"/>
              </a:ext>
            </a:extLst>
          </p:cNvPr>
          <p:cNvSpPr>
            <a:spLocks noGrp="1"/>
          </p:cNvSpPr>
          <p:nvPr/>
        </p:nvSpPr>
        <p:spPr>
          <a:xfrm>
            <a:off x="590550" y="228600"/>
            <a:ext cx="762000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91440" tIns="45720" rIns="91440" bIns="45720" anchor="t"/>
          <a:lstStyle/>
          <a:p>
            <a:pPr algn="l">
              <a:defRPr sz="2250" b="1">
                <a:solidFill>
                  <a:srgbClr val="3563E9"/>
                </a:solidFill>
                <a:latin typeface="Aptos"/>
                <a:ea typeface="Aptos"/>
                <a:cs typeface="Aptos"/>
              </a:defRPr>
            </a:pPr>
            <a:r>
              <a:rPr sz="2250" b="1" err="1">
                <a:solidFill>
                  <a:srgbClr val="3563E9"/>
                </a:solidFill>
                <a:latin typeface="Aptos"/>
                <a:ea typeface="Aptos"/>
                <a:cs typeface="Aptos"/>
              </a:rPr>
              <a:t>개발</a:t>
            </a:r>
            <a:r>
              <a:rPr sz="2250" b="1">
                <a:solidFill>
                  <a:srgbClr val="3563E9"/>
                </a:solidFill>
                <a:latin typeface="Aptos"/>
                <a:ea typeface="Aptos"/>
                <a:cs typeface="Aptos"/>
              </a:rPr>
              <a:t> </a:t>
            </a:r>
            <a:r>
              <a:rPr sz="2250" b="1" err="1">
                <a:solidFill>
                  <a:srgbClr val="3563E9"/>
                </a:solidFill>
                <a:latin typeface="Aptos"/>
                <a:ea typeface="Aptos"/>
                <a:cs typeface="Aptos"/>
              </a:rPr>
              <a:t>스케줄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A7A3C335-32E7-4D86-AF74-78C92D2D56E6}"/>
              </a:ext>
            </a:extLst>
          </p:cNvPr>
          <p:cNvSpPr>
            <a:spLocks noGrp="1"/>
          </p:cNvSpPr>
          <p:nvPr/>
        </p:nvSpPr>
        <p:spPr>
          <a:xfrm>
            <a:off x="590550" y="723900"/>
            <a:ext cx="93345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91440" tIns="45720" rIns="91440" bIns="45720" anchor="t"/>
          <a:lstStyle/>
          <a:p>
            <a:pPr>
              <a:defRPr sz="255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2차</a:t>
            </a:r>
            <a:r>
              <a:rPr lang="ko-KR" sz="255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 </a:t>
            </a:r>
            <a:r>
              <a:rPr lang="ko-KR" altLang="en-US" sz="255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프로젝트</a:t>
            </a:r>
            <a:r>
              <a:rPr sz="255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(Computer Vision)</a:t>
            </a:r>
            <a:endParaRPr lang="ko-KR" altLang="en-US" sz="2550" b="1">
              <a:solidFill>
                <a:srgbClr val="111827"/>
              </a:solidFill>
              <a:latin typeface="Aptos Display"/>
              <a:ea typeface="Aptos Display"/>
              <a:cs typeface="Aptos Display"/>
            </a:endParaRPr>
          </a:p>
        </p:txBody>
      </p:sp>
      <p:sp>
        <p:nvSpPr>
          <p:cNvPr id="3" name="직선 연결선 2">
            <a:extLst>
              <a:ext uri="{FF2B5EF4-FFF2-40B4-BE49-F238E27FC236}">
                <a16:creationId xmlns:a16="http://schemas.microsoft.com/office/drawing/2014/main" id="{C6829C6C-E995-4AC6-8994-867841EB690B}"/>
              </a:ext>
            </a:extLst>
          </p:cNvPr>
          <p:cNvSpPr>
            <a:spLocks noGrp="1"/>
          </p:cNvSpPr>
          <p:nvPr/>
        </p:nvSpPr>
        <p:spPr>
          <a:xfrm>
            <a:off x="590550" y="1295400"/>
            <a:ext cx="11010900" cy="0"/>
          </a:xfrm>
          <a:prstGeom prst="line">
            <a:avLst/>
          </a:prstGeom>
          <a:noFill/>
          <a:ln w="9525">
            <a:solidFill>
              <a:srgbClr val="D7DCE5"/>
            </a:solidFill>
            <a:prstDash val="solid"/>
          </a:ln>
        </p:spPr>
      </p:sp>
      <p:pic>
        <p:nvPicPr>
          <p:cNvPr id="7" name="그림 6" descr="텍스트, 스크린샷, 번호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D39E96B7-9039-5F38-86FD-45A6E0A5FAF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206" y="1578060"/>
            <a:ext cx="11009587" cy="43325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363816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>
            <a:extLst>
              <a:ext uri="{FF2B5EF4-FFF2-40B4-BE49-F238E27FC236}">
                <a16:creationId xmlns:a16="http://schemas.microsoft.com/office/drawing/2014/main" id="{4E088DEB-66DA-4119-BD2A-66688EE4B975}"/>
              </a:ext>
            </a:extLst>
          </p:cNvPr>
          <p:cNvSpPr>
            <a:spLocks noGrp="1"/>
          </p:cNvSpPr>
          <p:nvPr/>
        </p:nvSpPr>
        <p:spPr>
          <a:xfrm>
            <a:off x="590550" y="228600"/>
            <a:ext cx="762000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91440" tIns="45720" rIns="91440" bIns="45720" anchor="t"/>
          <a:lstStyle/>
          <a:p>
            <a:pPr algn="l">
              <a:defRPr sz="2250" b="1">
                <a:solidFill>
                  <a:srgbClr val="3563E9"/>
                </a:solidFill>
                <a:latin typeface="Aptos"/>
                <a:ea typeface="Aptos"/>
                <a:cs typeface="Aptos"/>
              </a:defRPr>
            </a:pPr>
            <a:r>
              <a:rPr sz="2250" b="1">
                <a:solidFill>
                  <a:srgbClr val="3563E9"/>
                </a:solidFill>
                <a:latin typeface="Aptos"/>
                <a:ea typeface="Aptos"/>
                <a:cs typeface="Aptos"/>
              </a:rPr>
              <a:t>개발 </a:t>
            </a:r>
            <a:r>
              <a:rPr sz="2250" b="1" err="1">
                <a:solidFill>
                  <a:srgbClr val="3563E9"/>
                </a:solidFill>
                <a:latin typeface="Aptos"/>
                <a:ea typeface="Aptos"/>
                <a:cs typeface="Aptos"/>
              </a:rPr>
              <a:t>스케줄</a:t>
            </a:r>
            <a:endParaRPr lang="ko-KR" altLang="en-US" sz="2250" b="1" err="1">
              <a:solidFill>
                <a:srgbClr val="3563E9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77A92B5A-048A-4E89-B1DA-26561615C7EA}"/>
              </a:ext>
            </a:extLst>
          </p:cNvPr>
          <p:cNvSpPr>
            <a:spLocks noGrp="1"/>
          </p:cNvSpPr>
          <p:nvPr/>
        </p:nvSpPr>
        <p:spPr>
          <a:xfrm>
            <a:off x="590550" y="723900"/>
            <a:ext cx="93345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91440" tIns="45720" rIns="91440" bIns="45720" anchor="t"/>
          <a:lstStyle/>
          <a:p>
            <a:pPr>
              <a:defRPr sz="255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3차</a:t>
            </a:r>
            <a:r>
              <a:rPr lang="ko-KR" sz="255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 </a:t>
            </a:r>
            <a:r>
              <a:rPr lang="ko-KR" altLang="en-US" sz="255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프로젝트</a:t>
            </a:r>
            <a:r>
              <a:rPr sz="255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(LLM Fine-Tuning)</a:t>
            </a:r>
            <a:endParaRPr lang="ko-KR" altLang="en-US" sz="2550" b="1">
              <a:solidFill>
                <a:srgbClr val="111827"/>
              </a:solidFill>
              <a:latin typeface="Aptos Display"/>
              <a:ea typeface="Aptos Display"/>
              <a:cs typeface="Aptos Display"/>
            </a:endParaRPr>
          </a:p>
        </p:txBody>
      </p:sp>
      <p:sp>
        <p:nvSpPr>
          <p:cNvPr id="3" name="직선 연결선 2">
            <a:extLst>
              <a:ext uri="{FF2B5EF4-FFF2-40B4-BE49-F238E27FC236}">
                <a16:creationId xmlns:a16="http://schemas.microsoft.com/office/drawing/2014/main" id="{1B319DE9-EA79-41EE-B2D6-3F0EADC9789B}"/>
              </a:ext>
            </a:extLst>
          </p:cNvPr>
          <p:cNvSpPr>
            <a:spLocks noGrp="1"/>
          </p:cNvSpPr>
          <p:nvPr/>
        </p:nvSpPr>
        <p:spPr>
          <a:xfrm>
            <a:off x="590550" y="1295400"/>
            <a:ext cx="11010900" cy="0"/>
          </a:xfrm>
          <a:prstGeom prst="line">
            <a:avLst/>
          </a:prstGeom>
          <a:noFill/>
          <a:ln w="9525">
            <a:solidFill>
              <a:srgbClr val="D7DCE5"/>
            </a:solidFill>
            <a:prstDash val="solid"/>
          </a:ln>
        </p:spPr>
      </p:sp>
      <p:pic>
        <p:nvPicPr>
          <p:cNvPr id="7" name="그림 6" descr="텍스트, 스크린샷, 번호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F36D2708-DE06-5CBA-C9CB-29B73DA494E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207" y="1621122"/>
            <a:ext cx="11003018" cy="43120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4972058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직사각형 10">
            <a:extLst>
              <a:ext uri="{FF2B5EF4-FFF2-40B4-BE49-F238E27FC236}">
                <a16:creationId xmlns:a16="http://schemas.microsoft.com/office/drawing/2014/main" id="{75D8380D-3B06-48BF-BD4E-1A9CA9C4F6CF}"/>
              </a:ext>
            </a:extLst>
          </p:cNvPr>
          <p:cNvSpPr>
            <a:spLocks noGrp="1"/>
          </p:cNvSpPr>
          <p:nvPr/>
        </p:nvSpPr>
        <p:spPr>
          <a:xfrm>
            <a:off x="590550" y="228600"/>
            <a:ext cx="762000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91440" tIns="45720" rIns="91440" bIns="45720" anchor="t"/>
          <a:lstStyle/>
          <a:p>
            <a:pPr algn="l">
              <a:defRPr sz="2250" b="1">
                <a:solidFill>
                  <a:srgbClr val="3563E9"/>
                </a:solidFill>
                <a:latin typeface="Aptos"/>
                <a:ea typeface="Aptos"/>
                <a:cs typeface="Aptos"/>
              </a:defRPr>
            </a:pPr>
            <a:r>
              <a:rPr sz="2250" b="1" err="1">
                <a:solidFill>
                  <a:srgbClr val="3563E9"/>
                </a:solidFill>
                <a:latin typeface="Aptos"/>
                <a:ea typeface="Aptos"/>
                <a:cs typeface="Aptos"/>
              </a:rPr>
              <a:t>요구사항</a:t>
            </a:r>
            <a:r>
              <a:rPr sz="2250" b="1">
                <a:solidFill>
                  <a:srgbClr val="3563E9"/>
                </a:solidFill>
                <a:latin typeface="Aptos"/>
                <a:ea typeface="Aptos"/>
                <a:cs typeface="Aptos"/>
              </a:rPr>
              <a:t> </a:t>
            </a:r>
            <a:r>
              <a:rPr sz="2250" b="1" err="1">
                <a:solidFill>
                  <a:srgbClr val="3563E9"/>
                </a:solidFill>
                <a:latin typeface="Aptos"/>
                <a:ea typeface="Aptos"/>
                <a:cs typeface="Aptos"/>
              </a:rPr>
              <a:t>분석서</a:t>
            </a:r>
            <a:r>
              <a:rPr lang="en-US" sz="2250" b="1">
                <a:solidFill>
                  <a:srgbClr val="3563E9"/>
                </a:solidFill>
                <a:latin typeface="Aptos"/>
                <a:ea typeface="Aptos"/>
                <a:cs typeface="Aptos"/>
              </a:rPr>
              <a:t>(1/3)</a:t>
            </a:r>
            <a:endParaRPr lang="ko-KR" altLang="en-US" sz="2250" b="1">
              <a:solidFill>
                <a:srgbClr val="3563E9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5D3B2C7A-66B0-4A6A-9D51-406D58A2044D}"/>
              </a:ext>
            </a:extLst>
          </p:cNvPr>
          <p:cNvSpPr>
            <a:spLocks noGrp="1"/>
          </p:cNvSpPr>
          <p:nvPr/>
        </p:nvSpPr>
        <p:spPr>
          <a:xfrm>
            <a:off x="590550" y="697625"/>
            <a:ext cx="11029293" cy="541281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91440" tIns="45720" rIns="91440" bIns="45720" anchor="t"/>
          <a:lstStyle/>
          <a:p>
            <a:pPr>
              <a:defRPr sz="255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3차</a:t>
            </a:r>
            <a:r>
              <a:rPr lang="ko-KR" sz="255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 </a:t>
            </a:r>
            <a:r>
              <a:rPr lang="ko-KR" altLang="en-US" sz="260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프로젝트</a:t>
            </a:r>
            <a:r>
              <a:rPr sz="255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(LLM Fine-Tuning)</a:t>
            </a:r>
            <a:r>
              <a:rPr lang="ko-KR" sz="255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  </a:t>
            </a:r>
            <a:r>
              <a:rPr lang="en-US" altLang="ko-KR" sz="255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- </a:t>
            </a:r>
            <a:r>
              <a:rPr lang="ko-KR" altLang="en-US" sz="255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 </a:t>
            </a:r>
            <a:r>
              <a:rPr lang="ko-KR" sz="255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프로젝트 기본 </a:t>
            </a:r>
            <a:r>
              <a:rPr lang="ko-KR" altLang="en-US" sz="255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정보 및 비즈니스 요구사항</a:t>
            </a:r>
          </a:p>
        </p:txBody>
      </p:sp>
      <p:sp>
        <p:nvSpPr>
          <p:cNvPr id="3" name="직선 연결선 2">
            <a:extLst>
              <a:ext uri="{FF2B5EF4-FFF2-40B4-BE49-F238E27FC236}">
                <a16:creationId xmlns:a16="http://schemas.microsoft.com/office/drawing/2014/main" id="{9C3C41D8-828D-4810-B224-F32487316F1F}"/>
              </a:ext>
            </a:extLst>
          </p:cNvPr>
          <p:cNvSpPr>
            <a:spLocks noGrp="1"/>
          </p:cNvSpPr>
          <p:nvPr/>
        </p:nvSpPr>
        <p:spPr>
          <a:xfrm>
            <a:off x="590550" y="1295400"/>
            <a:ext cx="11010900" cy="0"/>
          </a:xfrm>
          <a:prstGeom prst="line">
            <a:avLst/>
          </a:prstGeom>
          <a:noFill/>
          <a:ln w="9525">
            <a:solidFill>
              <a:srgbClr val="D7DCE5"/>
            </a:solidFill>
            <a:prstDash val="solid"/>
          </a:ln>
        </p:spPr>
      </p:sp>
      <p:pic>
        <p:nvPicPr>
          <p:cNvPr id="12" name="그림 11" descr="텍스트, 스크린샷, 폰트, 번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2F530769-1E84-369E-7676-0968198216E2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64" b="34738"/>
          <a:stretch>
            <a:fillRect/>
          </a:stretch>
        </p:blipFill>
        <p:spPr>
          <a:xfrm>
            <a:off x="-1" y="1602828"/>
            <a:ext cx="12192011" cy="45348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0404432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1B13CA9-2537-B72E-4E50-B2265465B6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직사각형 10">
            <a:extLst>
              <a:ext uri="{FF2B5EF4-FFF2-40B4-BE49-F238E27FC236}">
                <a16:creationId xmlns:a16="http://schemas.microsoft.com/office/drawing/2014/main" id="{05FCEF95-0013-DDF0-0121-8385D145BEDD}"/>
              </a:ext>
            </a:extLst>
          </p:cNvPr>
          <p:cNvSpPr>
            <a:spLocks noGrp="1"/>
          </p:cNvSpPr>
          <p:nvPr/>
        </p:nvSpPr>
        <p:spPr>
          <a:xfrm>
            <a:off x="590550" y="228600"/>
            <a:ext cx="762000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91440" tIns="45720" rIns="91440" bIns="45720" anchor="t"/>
          <a:lstStyle/>
          <a:p>
            <a:pPr algn="l">
              <a:defRPr sz="2250" b="1">
                <a:solidFill>
                  <a:srgbClr val="3563E9"/>
                </a:solidFill>
                <a:latin typeface="Aptos"/>
                <a:ea typeface="Aptos"/>
                <a:cs typeface="Aptos"/>
              </a:defRPr>
            </a:pPr>
            <a:r>
              <a:rPr sz="2250" b="1" err="1">
                <a:solidFill>
                  <a:srgbClr val="3563E9"/>
                </a:solidFill>
                <a:latin typeface="Aptos"/>
                <a:ea typeface="Aptos"/>
                <a:cs typeface="Aptos"/>
              </a:rPr>
              <a:t>요구사항</a:t>
            </a:r>
            <a:r>
              <a:rPr sz="2250" b="1">
                <a:solidFill>
                  <a:srgbClr val="3563E9"/>
                </a:solidFill>
                <a:latin typeface="Aptos"/>
                <a:ea typeface="Aptos"/>
                <a:cs typeface="Aptos"/>
              </a:rPr>
              <a:t> </a:t>
            </a:r>
            <a:r>
              <a:rPr sz="2250" b="1" err="1">
                <a:solidFill>
                  <a:srgbClr val="3563E9"/>
                </a:solidFill>
                <a:latin typeface="Aptos"/>
                <a:ea typeface="Aptos"/>
                <a:cs typeface="Aptos"/>
              </a:rPr>
              <a:t>분석서</a:t>
            </a:r>
            <a:r>
              <a:rPr lang="en-US" sz="2250" b="1">
                <a:solidFill>
                  <a:srgbClr val="3563E9"/>
                </a:solidFill>
                <a:latin typeface="Aptos"/>
                <a:ea typeface="Aptos"/>
                <a:cs typeface="Aptos"/>
              </a:rPr>
              <a:t>(2/3)</a:t>
            </a:r>
            <a:endParaRPr sz="2250" b="1">
              <a:solidFill>
                <a:srgbClr val="3563E9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A8C40FAA-F76F-F9D9-89FA-513C99C57D95}"/>
              </a:ext>
            </a:extLst>
          </p:cNvPr>
          <p:cNvSpPr>
            <a:spLocks noGrp="1"/>
          </p:cNvSpPr>
          <p:nvPr/>
        </p:nvSpPr>
        <p:spPr>
          <a:xfrm>
            <a:off x="590550" y="697625"/>
            <a:ext cx="10832224" cy="541281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91440" tIns="45720" rIns="91440" bIns="45720" anchor="t"/>
          <a:lstStyle/>
          <a:p>
            <a:pPr>
              <a:defRPr sz="255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3차</a:t>
            </a:r>
            <a:r>
              <a:rPr lang="ko-KR" sz="255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 </a:t>
            </a:r>
            <a:r>
              <a:rPr lang="ko-KR" sz="260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프로젝트</a:t>
            </a:r>
            <a:r>
              <a:rPr sz="255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(LLM Fine-Tuning)</a:t>
            </a:r>
            <a:r>
              <a:rPr lang="ko-KR" sz="255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  </a:t>
            </a:r>
            <a:r>
              <a:rPr lang="en-US" sz="255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-</a:t>
            </a:r>
            <a:r>
              <a:rPr lang="ko-KR" sz="255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 </a:t>
            </a:r>
            <a:r>
              <a:rPr lang="ko-KR" altLang="en-US" sz="2550">
                <a:solidFill>
                  <a:srgbClr val="111827"/>
                </a:solidFill>
                <a:ea typeface="+mn-lt"/>
                <a:cs typeface="+mn-lt"/>
              </a:rPr>
              <a:t>사용자 시나리오 및 기능 요구사항</a:t>
            </a:r>
            <a:r>
              <a:rPr lang="ko-KR" altLang="en-US" sz="255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 </a:t>
            </a:r>
            <a:endParaRPr sz="2550" b="1">
              <a:solidFill>
                <a:srgbClr val="111827"/>
              </a:solidFill>
              <a:latin typeface="Aptos Display"/>
              <a:ea typeface="Aptos Display"/>
              <a:cs typeface="Aptos Display"/>
            </a:endParaRPr>
          </a:p>
        </p:txBody>
      </p:sp>
      <p:sp>
        <p:nvSpPr>
          <p:cNvPr id="3" name="직선 연결선 2">
            <a:extLst>
              <a:ext uri="{FF2B5EF4-FFF2-40B4-BE49-F238E27FC236}">
                <a16:creationId xmlns:a16="http://schemas.microsoft.com/office/drawing/2014/main" id="{5554B98B-FBC3-7AD4-AD08-87D87A7D86F8}"/>
              </a:ext>
            </a:extLst>
          </p:cNvPr>
          <p:cNvSpPr>
            <a:spLocks noGrp="1"/>
          </p:cNvSpPr>
          <p:nvPr/>
        </p:nvSpPr>
        <p:spPr>
          <a:xfrm>
            <a:off x="590550" y="1295400"/>
            <a:ext cx="11010900" cy="0"/>
          </a:xfrm>
          <a:prstGeom prst="line">
            <a:avLst/>
          </a:prstGeom>
          <a:noFill/>
          <a:ln w="9525">
            <a:solidFill>
              <a:srgbClr val="D7DCE5"/>
            </a:solidFill>
            <a:prstDash val="solid"/>
          </a:ln>
        </p:spPr>
      </p:sp>
      <p:pic>
        <p:nvPicPr>
          <p:cNvPr id="5" name="그림 4" descr="텍스트, 스크린샷, 폰트, 번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2DFEE46F-9CDF-995D-4B04-AC922910D772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4933" b="8408"/>
          <a:stretch>
            <a:fillRect/>
          </a:stretch>
        </p:blipFill>
        <p:spPr>
          <a:xfrm>
            <a:off x="781706" y="1357149"/>
            <a:ext cx="10819085" cy="53471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2871775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ACB91B8-7F35-6B1C-5A17-53D1E61F25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직사각형 10">
            <a:extLst>
              <a:ext uri="{FF2B5EF4-FFF2-40B4-BE49-F238E27FC236}">
                <a16:creationId xmlns:a16="http://schemas.microsoft.com/office/drawing/2014/main" id="{486B35C1-DF78-95C1-7361-DAD8F50E66CD}"/>
              </a:ext>
            </a:extLst>
          </p:cNvPr>
          <p:cNvSpPr>
            <a:spLocks noGrp="1"/>
          </p:cNvSpPr>
          <p:nvPr/>
        </p:nvSpPr>
        <p:spPr>
          <a:xfrm>
            <a:off x="590550" y="228600"/>
            <a:ext cx="762000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91440" tIns="45720" rIns="91440" bIns="45720" anchor="t"/>
          <a:lstStyle/>
          <a:p>
            <a:pPr algn="l">
              <a:defRPr sz="2250" b="1">
                <a:solidFill>
                  <a:srgbClr val="3563E9"/>
                </a:solidFill>
                <a:latin typeface="Aptos"/>
                <a:ea typeface="Aptos"/>
                <a:cs typeface="Aptos"/>
              </a:defRPr>
            </a:pPr>
            <a:r>
              <a:rPr sz="2250" b="1">
                <a:solidFill>
                  <a:srgbClr val="3563E9"/>
                </a:solidFill>
                <a:latin typeface="Aptos"/>
                <a:ea typeface="Aptos"/>
                <a:cs typeface="Aptos"/>
              </a:rPr>
              <a:t>요구사항 분석서</a:t>
            </a:r>
            <a:r>
              <a:rPr lang="en-US" sz="2250" b="1">
                <a:solidFill>
                  <a:srgbClr val="3563E9"/>
                </a:solidFill>
                <a:latin typeface="Aptos"/>
                <a:ea typeface="Aptos"/>
                <a:cs typeface="Aptos"/>
              </a:rPr>
              <a:t>(3/3)</a:t>
            </a:r>
            <a:endParaRPr sz="2250" b="1">
              <a:solidFill>
                <a:srgbClr val="3563E9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682EDA5F-CDB7-38C7-2535-A8EF49C81892}"/>
              </a:ext>
            </a:extLst>
          </p:cNvPr>
          <p:cNvSpPr>
            <a:spLocks noGrp="1"/>
          </p:cNvSpPr>
          <p:nvPr/>
        </p:nvSpPr>
        <p:spPr>
          <a:xfrm>
            <a:off x="590550" y="697625"/>
            <a:ext cx="10766534" cy="541281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91440" tIns="45720" rIns="91440" bIns="45720" anchor="t"/>
          <a:lstStyle/>
          <a:p>
            <a:pPr>
              <a:defRPr sz="255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3차</a:t>
            </a:r>
            <a:r>
              <a:rPr lang="ko-KR" sz="255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 </a:t>
            </a:r>
            <a:r>
              <a:rPr lang="ko-KR" altLang="en-US" sz="255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프로젝트</a:t>
            </a:r>
            <a:r>
              <a:rPr sz="255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(LLM Fine-Tuning)</a:t>
            </a:r>
            <a:r>
              <a:rPr lang="ko-KR" sz="255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  </a:t>
            </a:r>
            <a:r>
              <a:rPr lang="en-US" sz="255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-</a:t>
            </a:r>
            <a:r>
              <a:rPr lang="ko-KR" sz="255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  </a:t>
            </a:r>
            <a:r>
              <a:rPr lang="ko-KR" altLang="en-US" sz="2550">
                <a:solidFill>
                  <a:srgbClr val="111827"/>
                </a:solidFill>
                <a:ea typeface="+mn-lt"/>
                <a:cs typeface="+mn-lt"/>
              </a:rPr>
              <a:t>비기능 요구사항 제약사항 추적성</a:t>
            </a:r>
            <a:endParaRPr lang="ko-KR" altLang="en-US" sz="2550" b="1">
              <a:solidFill>
                <a:srgbClr val="111827"/>
              </a:solidFill>
              <a:latin typeface="Aptos Display"/>
              <a:ea typeface="Aptos Display"/>
              <a:cs typeface="Aptos Display"/>
            </a:endParaRPr>
          </a:p>
        </p:txBody>
      </p:sp>
      <p:sp>
        <p:nvSpPr>
          <p:cNvPr id="3" name="직선 연결선 2">
            <a:extLst>
              <a:ext uri="{FF2B5EF4-FFF2-40B4-BE49-F238E27FC236}">
                <a16:creationId xmlns:a16="http://schemas.microsoft.com/office/drawing/2014/main" id="{946C6311-303C-E86E-75ED-611653F4E616}"/>
              </a:ext>
            </a:extLst>
          </p:cNvPr>
          <p:cNvSpPr>
            <a:spLocks noGrp="1"/>
          </p:cNvSpPr>
          <p:nvPr/>
        </p:nvSpPr>
        <p:spPr>
          <a:xfrm>
            <a:off x="590550" y="1295400"/>
            <a:ext cx="11010900" cy="0"/>
          </a:xfrm>
          <a:prstGeom prst="line">
            <a:avLst/>
          </a:prstGeom>
          <a:noFill/>
          <a:ln w="9525">
            <a:solidFill>
              <a:srgbClr val="D7DCE5"/>
            </a:solidFill>
            <a:prstDash val="solid"/>
          </a:ln>
        </p:spPr>
      </p:sp>
      <p:pic>
        <p:nvPicPr>
          <p:cNvPr id="5" name="그림 4" descr="텍스트, 스크린샷, 폰트, 번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ACF62CE6-0395-3A1D-7382-ECE72854370C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5172" b="12644"/>
          <a:stretch>
            <a:fillRect/>
          </a:stretch>
        </p:blipFill>
        <p:spPr>
          <a:xfrm>
            <a:off x="289034" y="1399190"/>
            <a:ext cx="11613931" cy="54062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7745832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직사각형 9">
            <a:extLst>
              <a:ext uri="{FF2B5EF4-FFF2-40B4-BE49-F238E27FC236}">
                <a16:creationId xmlns:a16="http://schemas.microsoft.com/office/drawing/2014/main" id="{61870D9F-B3FC-440D-A113-C9796CE4BB6F}"/>
              </a:ext>
            </a:extLst>
          </p:cNvPr>
          <p:cNvSpPr>
            <a:spLocks noGrp="1"/>
          </p:cNvSpPr>
          <p:nvPr/>
        </p:nvSpPr>
        <p:spPr>
          <a:xfrm>
            <a:off x="590550" y="228600"/>
            <a:ext cx="762000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91440" tIns="45720" rIns="91440" bIns="45720" anchor="t"/>
          <a:lstStyle/>
          <a:p>
            <a:pPr algn="l">
              <a:defRPr sz="2250" b="1">
                <a:solidFill>
                  <a:srgbClr val="3563E9"/>
                </a:solidFill>
                <a:latin typeface="Aptos"/>
                <a:ea typeface="Aptos"/>
                <a:cs typeface="Aptos"/>
              </a:defRPr>
            </a:pPr>
            <a:r>
              <a:rPr sz="2250" b="1" err="1">
                <a:solidFill>
                  <a:srgbClr val="3563E9"/>
                </a:solidFill>
                <a:latin typeface="Aptos"/>
                <a:ea typeface="Aptos"/>
                <a:cs typeface="Aptos"/>
              </a:rPr>
              <a:t>기술</a:t>
            </a:r>
            <a:r>
              <a:rPr sz="2250" b="1">
                <a:solidFill>
                  <a:srgbClr val="3563E9"/>
                </a:solidFill>
                <a:latin typeface="Aptos"/>
                <a:ea typeface="Aptos"/>
                <a:cs typeface="Aptos"/>
              </a:rPr>
              <a:t> </a:t>
            </a:r>
            <a:r>
              <a:rPr sz="2250" b="1" err="1">
                <a:solidFill>
                  <a:srgbClr val="3563E9"/>
                </a:solidFill>
                <a:latin typeface="Aptos"/>
                <a:ea typeface="Aptos"/>
                <a:cs typeface="Aptos"/>
              </a:rPr>
              <a:t>명세서</a:t>
            </a:r>
            <a:r>
              <a:rPr lang="en-US" sz="2250" b="1">
                <a:solidFill>
                  <a:srgbClr val="3563E9"/>
                </a:solidFill>
                <a:latin typeface="Aptos"/>
                <a:ea typeface="Aptos"/>
                <a:cs typeface="Aptos"/>
              </a:rPr>
              <a:t>(1/3)</a:t>
            </a:r>
            <a:endParaRPr lang="ko-KR" altLang="en-US" sz="2250" b="1">
              <a:solidFill>
                <a:srgbClr val="3563E9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50B5BE00-D2BC-4E2B-9D9C-A04D0AC8BD13}"/>
              </a:ext>
            </a:extLst>
          </p:cNvPr>
          <p:cNvSpPr>
            <a:spLocks noGrp="1"/>
          </p:cNvSpPr>
          <p:nvPr/>
        </p:nvSpPr>
        <p:spPr>
          <a:xfrm>
            <a:off x="590550" y="723900"/>
            <a:ext cx="93345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91440" tIns="45720" rIns="91440" bIns="45720" anchor="t"/>
          <a:lstStyle/>
          <a:p>
            <a:pPr>
              <a:defRPr sz="255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3차</a:t>
            </a:r>
            <a:r>
              <a:rPr lang="ko-KR" sz="255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 </a:t>
            </a:r>
            <a:r>
              <a:rPr lang="ko-KR" altLang="en-US" sz="260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프로젝트</a:t>
            </a:r>
            <a:r>
              <a:rPr sz="255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(LLM Fine-Tuning)</a:t>
            </a:r>
            <a:r>
              <a:rPr lang="ko-KR" sz="255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  </a:t>
            </a:r>
            <a:r>
              <a:rPr lang="en-US" sz="255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-</a:t>
            </a:r>
            <a:r>
              <a:rPr lang="ko-KR" sz="255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  </a:t>
            </a:r>
            <a:r>
              <a:rPr lang="ko-KR" altLang="en-US" sz="255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시스템 구성 및 설계 원칙</a:t>
            </a:r>
          </a:p>
        </p:txBody>
      </p:sp>
      <p:sp>
        <p:nvSpPr>
          <p:cNvPr id="3" name="직선 연결선 2">
            <a:extLst>
              <a:ext uri="{FF2B5EF4-FFF2-40B4-BE49-F238E27FC236}">
                <a16:creationId xmlns:a16="http://schemas.microsoft.com/office/drawing/2014/main" id="{ABC2F623-67F9-4E96-9D27-475D23BC53F6}"/>
              </a:ext>
            </a:extLst>
          </p:cNvPr>
          <p:cNvSpPr>
            <a:spLocks noGrp="1"/>
          </p:cNvSpPr>
          <p:nvPr/>
        </p:nvSpPr>
        <p:spPr>
          <a:xfrm>
            <a:off x="590550" y="1295400"/>
            <a:ext cx="11010900" cy="0"/>
          </a:xfrm>
          <a:prstGeom prst="line">
            <a:avLst/>
          </a:prstGeom>
          <a:noFill/>
          <a:ln w="9525">
            <a:solidFill>
              <a:srgbClr val="D7DCE5"/>
            </a:solidFill>
            <a:prstDash val="solid"/>
          </a:ln>
        </p:spPr>
      </p:sp>
      <p:pic>
        <p:nvPicPr>
          <p:cNvPr id="11" name="그림 10" descr="텍스트, 스크린샷, 폰트, 번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5939E96A-90E0-EE87-7261-C739592F1DEC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6622" b="37455"/>
          <a:stretch>
            <a:fillRect/>
          </a:stretch>
        </p:blipFill>
        <p:spPr>
          <a:xfrm>
            <a:off x="0" y="1892095"/>
            <a:ext cx="12192000" cy="38352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2829715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AFCAE3D-0606-881E-0CB1-35E9F63A68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직사각형 9">
            <a:extLst>
              <a:ext uri="{FF2B5EF4-FFF2-40B4-BE49-F238E27FC236}">
                <a16:creationId xmlns:a16="http://schemas.microsoft.com/office/drawing/2014/main" id="{464F8B00-3707-5BCF-9CF2-24761C5CC6ED}"/>
              </a:ext>
            </a:extLst>
          </p:cNvPr>
          <p:cNvSpPr>
            <a:spLocks noGrp="1"/>
          </p:cNvSpPr>
          <p:nvPr/>
        </p:nvSpPr>
        <p:spPr>
          <a:xfrm>
            <a:off x="590550" y="228600"/>
            <a:ext cx="762000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91440" tIns="45720" rIns="91440" bIns="45720" anchor="t"/>
          <a:lstStyle/>
          <a:p>
            <a:pPr algn="l">
              <a:defRPr sz="2250" b="1">
                <a:solidFill>
                  <a:srgbClr val="3563E9"/>
                </a:solidFill>
                <a:latin typeface="Aptos"/>
                <a:ea typeface="Aptos"/>
                <a:cs typeface="Aptos"/>
              </a:defRPr>
            </a:pPr>
            <a:r>
              <a:rPr sz="2250" b="1" err="1">
                <a:solidFill>
                  <a:srgbClr val="3563E9"/>
                </a:solidFill>
                <a:latin typeface="Aptos"/>
                <a:ea typeface="Aptos"/>
                <a:cs typeface="Aptos"/>
              </a:rPr>
              <a:t>기술</a:t>
            </a:r>
            <a:r>
              <a:rPr sz="2250" b="1">
                <a:solidFill>
                  <a:srgbClr val="3563E9"/>
                </a:solidFill>
                <a:latin typeface="Aptos"/>
                <a:ea typeface="Aptos"/>
                <a:cs typeface="Aptos"/>
              </a:rPr>
              <a:t> </a:t>
            </a:r>
            <a:r>
              <a:rPr sz="2250" b="1" err="1">
                <a:solidFill>
                  <a:srgbClr val="3563E9"/>
                </a:solidFill>
                <a:latin typeface="Aptos"/>
                <a:ea typeface="Aptos"/>
                <a:cs typeface="Aptos"/>
              </a:rPr>
              <a:t>명세서</a:t>
            </a:r>
            <a:r>
              <a:rPr lang="en-US" sz="2250" b="1">
                <a:solidFill>
                  <a:srgbClr val="3563E9"/>
                </a:solidFill>
                <a:latin typeface="Aptos"/>
                <a:ea typeface="Aptos"/>
                <a:cs typeface="Aptos"/>
              </a:rPr>
              <a:t>(2/3)</a:t>
            </a:r>
            <a:endParaRPr lang="ko-KR" altLang="en-US" sz="2250" b="1">
              <a:solidFill>
                <a:srgbClr val="3563E9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AF0886F1-3AFE-E0F5-1DD2-F3D43E3FE5AE}"/>
              </a:ext>
            </a:extLst>
          </p:cNvPr>
          <p:cNvSpPr>
            <a:spLocks noGrp="1"/>
          </p:cNvSpPr>
          <p:nvPr/>
        </p:nvSpPr>
        <p:spPr>
          <a:xfrm>
            <a:off x="590550" y="723900"/>
            <a:ext cx="93345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91440" tIns="45720" rIns="91440" bIns="45720" anchor="t"/>
          <a:lstStyle/>
          <a:p>
            <a:pPr>
              <a:defRPr sz="255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3차</a:t>
            </a:r>
            <a:r>
              <a:rPr lang="ko-KR" sz="255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 </a:t>
            </a:r>
            <a:r>
              <a:rPr lang="ko-KR" sz="260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프로젝트</a:t>
            </a:r>
            <a:r>
              <a:rPr sz="255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(LLM Fine-Tuning)</a:t>
            </a:r>
            <a:r>
              <a:rPr lang="ko-KR" sz="255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  </a:t>
            </a:r>
            <a:r>
              <a:rPr lang="en-US" sz="255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-  </a:t>
            </a:r>
            <a:r>
              <a:rPr lang="ko-KR" sz="2550" b="1" err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운영</a:t>
            </a:r>
            <a:r>
              <a:rPr lang="ko-KR" sz="255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 </a:t>
            </a:r>
            <a:r>
              <a:rPr lang="ko-KR" sz="2550" b="1" err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환경</a:t>
            </a:r>
            <a:r>
              <a:rPr lang="ko-KR" sz="255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 </a:t>
            </a:r>
            <a:r>
              <a:rPr lang="ko-KR" sz="2550" b="1" err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기술</a:t>
            </a:r>
            <a:r>
              <a:rPr lang="ko-KR" sz="255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 </a:t>
            </a:r>
            <a:r>
              <a:rPr lang="ko-KR" sz="2550" b="1" err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스택</a:t>
            </a:r>
            <a:r>
              <a:rPr lang="ko-KR" sz="255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 </a:t>
            </a:r>
            <a:r>
              <a:rPr lang="ko-KR" sz="2550" b="1" err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데이터</a:t>
            </a:r>
            <a:r>
              <a:rPr lang="ko-KR" sz="255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 명세</a:t>
            </a:r>
            <a:endParaRPr lang="ko-KR" altLang="en-US" sz="2550" b="1">
              <a:solidFill>
                <a:srgbClr val="111827"/>
              </a:solidFill>
              <a:latin typeface="Aptos Display"/>
              <a:ea typeface="Aptos Display"/>
              <a:cs typeface="Aptos Display"/>
            </a:endParaRPr>
          </a:p>
        </p:txBody>
      </p:sp>
      <p:sp>
        <p:nvSpPr>
          <p:cNvPr id="3" name="직선 연결선 2">
            <a:extLst>
              <a:ext uri="{FF2B5EF4-FFF2-40B4-BE49-F238E27FC236}">
                <a16:creationId xmlns:a16="http://schemas.microsoft.com/office/drawing/2014/main" id="{2AC0F924-D779-8C8D-4DEC-491EA12D28BF}"/>
              </a:ext>
            </a:extLst>
          </p:cNvPr>
          <p:cNvSpPr>
            <a:spLocks noGrp="1"/>
          </p:cNvSpPr>
          <p:nvPr/>
        </p:nvSpPr>
        <p:spPr>
          <a:xfrm>
            <a:off x="590550" y="1295400"/>
            <a:ext cx="11010900" cy="0"/>
          </a:xfrm>
          <a:prstGeom prst="line">
            <a:avLst/>
          </a:prstGeom>
          <a:noFill/>
          <a:ln w="9525">
            <a:solidFill>
              <a:srgbClr val="D7DCE5"/>
            </a:solidFill>
            <a:prstDash val="solid"/>
          </a:ln>
        </p:spPr>
      </p:sp>
      <p:pic>
        <p:nvPicPr>
          <p:cNvPr id="4" name="그림 3" descr="텍스트, 스크린샷, 폰트, 번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4F8319F4-AF19-3248-5F95-F669F31A2CC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6263" b="10206"/>
          <a:stretch>
            <a:fillRect/>
          </a:stretch>
        </p:blipFill>
        <p:spPr>
          <a:xfrm>
            <a:off x="430162" y="1382048"/>
            <a:ext cx="11325533" cy="53905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529660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D4FA7A5-C612-67DF-8C9F-6D98F96021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직사각형 9">
            <a:extLst>
              <a:ext uri="{FF2B5EF4-FFF2-40B4-BE49-F238E27FC236}">
                <a16:creationId xmlns:a16="http://schemas.microsoft.com/office/drawing/2014/main" id="{1C0672E3-0BDE-9185-42FE-55A6107A3A15}"/>
              </a:ext>
            </a:extLst>
          </p:cNvPr>
          <p:cNvSpPr>
            <a:spLocks noGrp="1"/>
          </p:cNvSpPr>
          <p:nvPr/>
        </p:nvSpPr>
        <p:spPr>
          <a:xfrm>
            <a:off x="590550" y="228600"/>
            <a:ext cx="762000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91440" tIns="45720" rIns="91440" bIns="45720" anchor="t"/>
          <a:lstStyle/>
          <a:p>
            <a:pPr algn="l">
              <a:defRPr sz="2250" b="1">
                <a:solidFill>
                  <a:srgbClr val="3563E9"/>
                </a:solidFill>
                <a:latin typeface="Aptos"/>
                <a:ea typeface="Aptos"/>
                <a:cs typeface="Aptos"/>
              </a:defRPr>
            </a:pPr>
            <a:r>
              <a:rPr sz="2250" b="1" err="1">
                <a:solidFill>
                  <a:srgbClr val="3563E9"/>
                </a:solidFill>
                <a:latin typeface="Aptos"/>
                <a:ea typeface="Aptos"/>
                <a:cs typeface="Aptos"/>
              </a:rPr>
              <a:t>기술</a:t>
            </a:r>
            <a:r>
              <a:rPr sz="2250" b="1">
                <a:solidFill>
                  <a:srgbClr val="3563E9"/>
                </a:solidFill>
                <a:latin typeface="Aptos"/>
                <a:ea typeface="Aptos"/>
                <a:cs typeface="Aptos"/>
              </a:rPr>
              <a:t> </a:t>
            </a:r>
            <a:r>
              <a:rPr sz="2250" b="1" err="1">
                <a:solidFill>
                  <a:srgbClr val="3563E9"/>
                </a:solidFill>
                <a:latin typeface="Aptos"/>
                <a:ea typeface="Aptos"/>
                <a:cs typeface="Aptos"/>
              </a:rPr>
              <a:t>명세서</a:t>
            </a:r>
            <a:r>
              <a:rPr lang="en-US" sz="2250" b="1">
                <a:solidFill>
                  <a:srgbClr val="3563E9"/>
                </a:solidFill>
                <a:latin typeface="Aptos"/>
                <a:ea typeface="Aptos"/>
                <a:cs typeface="Aptos"/>
              </a:rPr>
              <a:t>(3/3)</a:t>
            </a:r>
            <a:endParaRPr sz="2250" b="1">
              <a:solidFill>
                <a:srgbClr val="3563E9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3DE18E04-D059-0CF0-891B-48095E48DFB0}"/>
              </a:ext>
            </a:extLst>
          </p:cNvPr>
          <p:cNvSpPr>
            <a:spLocks noGrp="1"/>
          </p:cNvSpPr>
          <p:nvPr/>
        </p:nvSpPr>
        <p:spPr>
          <a:xfrm>
            <a:off x="590550" y="723900"/>
            <a:ext cx="93345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91440" tIns="45720" rIns="91440" bIns="45720" anchor="t"/>
          <a:lstStyle/>
          <a:p>
            <a:pPr>
              <a:defRPr sz="255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3차</a:t>
            </a:r>
            <a:r>
              <a:rPr lang="ko-KR" sz="255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 </a:t>
            </a:r>
            <a:r>
              <a:rPr lang="ko-KR" sz="260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프로젝트</a:t>
            </a:r>
            <a:r>
              <a:rPr sz="255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(LLM Fine-Tuning)</a:t>
            </a:r>
            <a:r>
              <a:rPr lang="ko-KR" sz="255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  </a:t>
            </a:r>
            <a:r>
              <a:rPr lang="en-US" sz="255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-</a:t>
            </a:r>
            <a:r>
              <a:rPr lang="ko-KR" sz="255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  인터페이스 예외처리 </a:t>
            </a:r>
            <a:r>
              <a:rPr lang="ko-KR" altLang="en-US" sz="255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검수기준</a:t>
            </a:r>
            <a:endParaRPr lang="ko-KR" sz="2550" b="1">
              <a:solidFill>
                <a:srgbClr val="111827"/>
              </a:solidFill>
              <a:latin typeface="Aptos Display"/>
              <a:ea typeface="Aptos Display"/>
              <a:cs typeface="Aptos Display"/>
            </a:endParaRPr>
          </a:p>
        </p:txBody>
      </p:sp>
      <p:sp>
        <p:nvSpPr>
          <p:cNvPr id="3" name="직선 연결선 2">
            <a:extLst>
              <a:ext uri="{FF2B5EF4-FFF2-40B4-BE49-F238E27FC236}">
                <a16:creationId xmlns:a16="http://schemas.microsoft.com/office/drawing/2014/main" id="{B38926ED-0922-6294-1ABC-05B78880B6F6}"/>
              </a:ext>
            </a:extLst>
          </p:cNvPr>
          <p:cNvSpPr>
            <a:spLocks noGrp="1"/>
          </p:cNvSpPr>
          <p:nvPr/>
        </p:nvSpPr>
        <p:spPr>
          <a:xfrm>
            <a:off x="590550" y="1295400"/>
            <a:ext cx="11010900" cy="0"/>
          </a:xfrm>
          <a:prstGeom prst="line">
            <a:avLst/>
          </a:prstGeom>
          <a:noFill/>
          <a:ln w="9525">
            <a:solidFill>
              <a:srgbClr val="D7DCE5"/>
            </a:solidFill>
            <a:prstDash val="solid"/>
          </a:ln>
        </p:spPr>
      </p:sp>
      <p:pic>
        <p:nvPicPr>
          <p:cNvPr id="4" name="그림 3" descr="텍스트, 스크린샷, 폰트, 번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29DE5C20-0BBB-6931-3FC7-FB221EA03FBC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6308" b="10027"/>
          <a:stretch>
            <a:fillRect/>
          </a:stretch>
        </p:blipFill>
        <p:spPr>
          <a:xfrm>
            <a:off x="510049" y="1434280"/>
            <a:ext cx="11171904" cy="52276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9999788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>
            <a:extLst>
              <a:ext uri="{FF2B5EF4-FFF2-40B4-BE49-F238E27FC236}">
                <a16:creationId xmlns:a16="http://schemas.microsoft.com/office/drawing/2014/main" id="{B9FD2F70-B6E9-4122-A0D8-EC07AF856FE6}"/>
              </a:ext>
            </a:extLst>
          </p:cNvPr>
          <p:cNvSpPr>
            <a:spLocks noGrp="1"/>
          </p:cNvSpPr>
          <p:nvPr/>
        </p:nvSpPr>
        <p:spPr>
          <a:xfrm>
            <a:off x="590550" y="228600"/>
            <a:ext cx="762000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91440" tIns="45720" rIns="91440" bIns="45720" anchor="t"/>
          <a:lstStyle/>
          <a:p>
            <a:pPr>
              <a:defRPr sz="2250" b="1">
                <a:solidFill>
                  <a:srgbClr val="3563E9"/>
                </a:solidFill>
                <a:latin typeface="Aptos"/>
                <a:ea typeface="Aptos"/>
                <a:cs typeface="Aptos"/>
              </a:defRPr>
            </a:pPr>
            <a:r>
              <a:rPr sz="2250" b="1">
                <a:solidFill>
                  <a:srgbClr val="3563E9"/>
                </a:solidFill>
                <a:latin typeface="Aptos"/>
                <a:ea typeface="Aptos"/>
                <a:cs typeface="Aptos"/>
              </a:rPr>
              <a:t>화면 설계서</a:t>
            </a:r>
            <a:r>
              <a:rPr lang="ko-KR" sz="2250" b="1">
                <a:solidFill>
                  <a:srgbClr val="3563E9"/>
                </a:solidFill>
                <a:latin typeface="Aptos"/>
                <a:ea typeface="Aptos"/>
                <a:cs typeface="Aptos"/>
              </a:rPr>
              <a:t> </a:t>
            </a:r>
            <a:r>
              <a:rPr lang="en-US" altLang="ko-KR" sz="2250" b="1">
                <a:solidFill>
                  <a:srgbClr val="3563E9"/>
                </a:solidFill>
                <a:latin typeface="Aptos"/>
                <a:ea typeface="Aptos"/>
                <a:cs typeface="Aptos"/>
              </a:rPr>
              <a:t>(1/2</a:t>
            </a:r>
            <a:r>
              <a:rPr lang="en-US" sz="2250" b="1">
                <a:solidFill>
                  <a:srgbClr val="3563E9"/>
                </a:solidFill>
                <a:latin typeface="Aptos"/>
                <a:ea typeface="Aptos"/>
                <a:cs typeface="Aptos"/>
              </a:rPr>
              <a:t>)</a:t>
            </a:r>
            <a:endParaRPr lang="ko-KR" sz="2250" b="1">
              <a:solidFill>
                <a:srgbClr val="3563E9"/>
              </a:solidFill>
              <a:latin typeface="Aptos"/>
              <a:ea typeface="Aptos"/>
              <a:cs typeface="Aptos"/>
            </a:endParaRPr>
          </a:p>
        </p:txBody>
      </p:sp>
      <p:pic>
        <p:nvPicPr>
          <p:cNvPr id="10" name="그림 9" descr="텍스트, 스크린샷, 디스플레이, 소프트웨어이(가) 표시된 사진&#10;&#10;AI 생성 콘텐츠는 정확하지 않을 수 있습니다."/>
          <p:cNvPicPr>
            <a:picLocks noChangeAspect="1"/>
          </p:cNvPicPr>
          <p:nvPr/>
        </p:nvPicPr>
        <p:blipFill>
          <a:blip r:embed="rId3"/>
          <a:srcRect l="140" t="5698" r="-559" b="7932"/>
          <a:stretch>
            <a:fillRect/>
          </a:stretch>
        </p:blipFill>
        <p:spPr>
          <a:xfrm>
            <a:off x="593209" y="857457"/>
            <a:ext cx="10968791" cy="5865395"/>
          </a:xfrm>
          <a:prstGeom prst="roundRect">
            <a:avLst>
              <a:gd name="adj" fmla="val 1584"/>
            </a:avLst>
          </a:prstGeom>
        </p:spPr>
      </p:pic>
    </p:spTree>
    <p:extLst>
      <p:ext uri="{BB962C8B-B14F-4D97-AF65-F5344CB8AC3E}">
        <p14:creationId xmlns:p14="http://schemas.microsoft.com/office/powerpoint/2010/main" val="49624513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>
            <a:extLst>
              <a:ext uri="{FF2B5EF4-FFF2-40B4-BE49-F238E27FC236}">
                <a16:creationId xmlns:a16="http://schemas.microsoft.com/office/drawing/2014/main" id="{51BC8059-4880-4A12-81A6-44D6A61D70F1}"/>
              </a:ext>
            </a:extLst>
          </p:cNvPr>
          <p:cNvSpPr>
            <a:spLocks noGrp="1"/>
          </p:cNvSpPr>
          <p:nvPr/>
        </p:nvSpPr>
        <p:spPr>
          <a:xfrm>
            <a:off x="590550" y="228600"/>
            <a:ext cx="762000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91440" tIns="45720" rIns="91440" bIns="45720" anchor="t"/>
          <a:lstStyle/>
          <a:p>
            <a:pPr>
              <a:defRPr sz="2250" b="1">
                <a:solidFill>
                  <a:srgbClr val="3563E9"/>
                </a:solidFill>
                <a:latin typeface="Aptos"/>
                <a:ea typeface="Aptos"/>
                <a:cs typeface="Aptos"/>
              </a:defRPr>
            </a:pPr>
            <a:r>
              <a:rPr sz="2250" b="1" err="1">
                <a:solidFill>
                  <a:srgbClr val="3563E9"/>
                </a:solidFill>
                <a:latin typeface="Aptos"/>
                <a:ea typeface="Aptos"/>
                <a:cs typeface="Aptos"/>
              </a:rPr>
              <a:t>화면</a:t>
            </a:r>
            <a:r>
              <a:rPr sz="2250" b="1">
                <a:solidFill>
                  <a:srgbClr val="3563E9"/>
                </a:solidFill>
                <a:latin typeface="Aptos"/>
                <a:ea typeface="Aptos"/>
                <a:cs typeface="Aptos"/>
              </a:rPr>
              <a:t> </a:t>
            </a:r>
            <a:r>
              <a:rPr sz="2250" b="1" err="1">
                <a:solidFill>
                  <a:srgbClr val="3563E9"/>
                </a:solidFill>
                <a:latin typeface="Aptos"/>
                <a:ea typeface="Aptos"/>
                <a:cs typeface="Aptos"/>
              </a:rPr>
              <a:t>설계서</a:t>
            </a:r>
            <a:r>
              <a:rPr lang="ko-KR" sz="2250" b="1">
                <a:solidFill>
                  <a:srgbClr val="3563E9"/>
                </a:solidFill>
                <a:latin typeface="Aptos"/>
                <a:ea typeface="Aptos"/>
                <a:cs typeface="Aptos"/>
              </a:rPr>
              <a:t> </a:t>
            </a:r>
            <a:r>
              <a:rPr lang="en-US" altLang="ko-KR" sz="2250" b="1">
                <a:solidFill>
                  <a:srgbClr val="3563E9"/>
                </a:solidFill>
                <a:latin typeface="Aptos"/>
                <a:ea typeface="Aptos"/>
                <a:cs typeface="Aptos"/>
              </a:rPr>
              <a:t>(2/2)</a:t>
            </a:r>
          </a:p>
        </p:txBody>
      </p:sp>
      <p:pic>
        <p:nvPicPr>
          <p:cNvPr id="10" name="그림 9" descr="텍스트, 스크린샷, 소프트웨어, 컴퓨터 아이콘이(가) 표시된 사진&#10;&#10;AI 생성 콘텐츠는 정확하지 않을 수 있습니다."/>
          <p:cNvPicPr>
            <a:picLocks noChangeAspect="1"/>
          </p:cNvPicPr>
          <p:nvPr/>
        </p:nvPicPr>
        <p:blipFill>
          <a:blip r:embed="rId3"/>
          <a:srcRect t="5910" r="58" b="4986"/>
          <a:stretch>
            <a:fillRect/>
          </a:stretch>
        </p:blipFill>
        <p:spPr>
          <a:xfrm>
            <a:off x="808925" y="769154"/>
            <a:ext cx="10573733" cy="5931433"/>
          </a:xfrm>
          <a:prstGeom prst="roundRect">
            <a:avLst>
              <a:gd name="adj" fmla="val 1584"/>
            </a:avLst>
          </a:prstGeom>
        </p:spPr>
      </p:pic>
    </p:spTree>
    <p:extLst>
      <p:ext uri="{BB962C8B-B14F-4D97-AF65-F5344CB8AC3E}">
        <p14:creationId xmlns:p14="http://schemas.microsoft.com/office/powerpoint/2010/main" val="31962744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>
            <a:extLst>
              <a:ext uri="{FF2B5EF4-FFF2-40B4-BE49-F238E27FC236}">
                <a16:creationId xmlns:a16="http://schemas.microsoft.com/office/drawing/2014/main" id="{32DDD26B-9EDC-4077-A7C6-0FAFC961A4BC}"/>
              </a:ext>
            </a:extLst>
          </p:cNvPr>
          <p:cNvSpPr>
            <a:spLocks noGrp="1"/>
          </p:cNvSpPr>
          <p:nvPr/>
        </p:nvSpPr>
        <p:spPr>
          <a:xfrm>
            <a:off x="590550" y="228600"/>
            <a:ext cx="762000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91440" tIns="45720" rIns="91440" bIns="45720" anchor="t"/>
          <a:lstStyle/>
          <a:p>
            <a:pPr>
              <a:defRPr sz="2250" b="1">
                <a:solidFill>
                  <a:srgbClr val="3563E9"/>
                </a:solidFill>
                <a:latin typeface="Aptos"/>
                <a:ea typeface="Aptos"/>
                <a:cs typeface="Aptos"/>
              </a:defRPr>
            </a:pPr>
            <a:r>
              <a:rPr sz="2250" b="1">
                <a:solidFill>
                  <a:srgbClr val="3563E9"/>
                </a:solidFill>
                <a:latin typeface="Aptos"/>
                <a:ea typeface="Aptos"/>
                <a:cs typeface="Aptos"/>
              </a:rPr>
              <a:t>UML</a:t>
            </a:r>
            <a:r>
              <a:rPr lang="ko-KR" altLang="en-US" sz="2250" b="1">
                <a:solidFill>
                  <a:srgbClr val="3563E9"/>
                </a:solidFill>
                <a:latin typeface="Aptos"/>
                <a:ea typeface="Aptos"/>
                <a:cs typeface="Aptos"/>
              </a:rPr>
              <a:t> </a:t>
            </a:r>
            <a:r>
              <a:rPr lang="en-US" altLang="ko-KR" sz="2300" b="1">
                <a:solidFill>
                  <a:srgbClr val="3563E9"/>
                </a:solidFill>
                <a:latin typeface="Aptos"/>
                <a:ea typeface="Aptos"/>
                <a:cs typeface="Aptos"/>
              </a:rPr>
              <a:t>–</a:t>
            </a:r>
            <a:r>
              <a:rPr lang="ko-KR" sz="2250" b="1">
                <a:solidFill>
                  <a:srgbClr val="3563E9"/>
                </a:solidFill>
                <a:latin typeface="Aptos"/>
                <a:ea typeface="Aptos"/>
                <a:cs typeface="Aptos"/>
              </a:rPr>
              <a:t> </a:t>
            </a:r>
            <a:r>
              <a:rPr lang="en-US" altLang="ko-KR" sz="2250" b="1">
                <a:solidFill>
                  <a:srgbClr val="3563E9"/>
                </a:solidFill>
                <a:latin typeface="Aptos"/>
                <a:ea typeface="Aptos"/>
                <a:cs typeface="Aptos"/>
              </a:rPr>
              <a:t>Use Case Diagram</a:t>
            </a:r>
            <a:endParaRPr lang="ko-KR" altLang="en-US" sz="2250" b="1">
              <a:solidFill>
                <a:srgbClr val="3563E9"/>
              </a:solidFill>
              <a:latin typeface="Aptos"/>
              <a:ea typeface="Aptos"/>
              <a:cs typeface="Aptos"/>
            </a:endParaRPr>
          </a:p>
        </p:txBody>
      </p:sp>
      <p:pic>
        <p:nvPicPr>
          <p:cNvPr id="3" name="그림 2" descr="텍스트, 도표, 스크린샷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F7CDCF40-D7E1-2AAB-A684-21B1E0307EC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9822" y="712838"/>
            <a:ext cx="10858500" cy="61451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3106605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>
            <a:extLst>
              <a:ext uri="{FF2B5EF4-FFF2-40B4-BE49-F238E27FC236}">
                <a16:creationId xmlns:a16="http://schemas.microsoft.com/office/drawing/2014/main" id="{F8B33A55-56DD-4CD9-839D-EB6A2C1F703E}"/>
              </a:ext>
            </a:extLst>
          </p:cNvPr>
          <p:cNvSpPr>
            <a:spLocks noGrp="1"/>
          </p:cNvSpPr>
          <p:nvPr/>
        </p:nvSpPr>
        <p:spPr>
          <a:xfrm>
            <a:off x="590550" y="228600"/>
            <a:ext cx="762000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91440" tIns="45720" rIns="91440" bIns="45720" anchor="t"/>
          <a:lstStyle/>
          <a:p>
            <a:pPr>
              <a:defRPr sz="2250" b="1">
                <a:solidFill>
                  <a:srgbClr val="3563E9"/>
                </a:solidFill>
                <a:latin typeface="Aptos"/>
                <a:ea typeface="Aptos"/>
                <a:cs typeface="Aptos"/>
              </a:defRPr>
            </a:pPr>
            <a:r>
              <a:rPr sz="2250" b="1">
                <a:solidFill>
                  <a:srgbClr val="3563E9"/>
                </a:solidFill>
                <a:latin typeface="Aptos"/>
                <a:ea typeface="Aptos"/>
                <a:cs typeface="Aptos"/>
              </a:rPr>
              <a:t>UML</a:t>
            </a:r>
            <a:r>
              <a:rPr lang="ko-KR" altLang="en-US" sz="2250" b="1">
                <a:solidFill>
                  <a:srgbClr val="3563E9"/>
                </a:solidFill>
                <a:latin typeface="Aptos"/>
                <a:ea typeface="Aptos"/>
                <a:cs typeface="Aptos"/>
              </a:rPr>
              <a:t> – </a:t>
            </a:r>
            <a:r>
              <a:rPr lang="en-US" altLang="ko-KR" sz="2250" b="1">
                <a:solidFill>
                  <a:srgbClr val="3563E9"/>
                </a:solidFill>
                <a:latin typeface="Aptos"/>
                <a:ea typeface="Aptos"/>
                <a:cs typeface="Aptos"/>
              </a:rPr>
              <a:t>Sequence Diagram</a:t>
            </a:r>
            <a:endParaRPr sz="2250" b="1">
              <a:solidFill>
                <a:srgbClr val="3563E9"/>
              </a:solidFill>
              <a:latin typeface="Aptos"/>
              <a:ea typeface="Aptos"/>
              <a:cs typeface="Aptos"/>
            </a:endParaRPr>
          </a:p>
        </p:txBody>
      </p:sp>
      <p:pic>
        <p:nvPicPr>
          <p:cNvPr id="2" name="그림 1" descr="텍스트, 스크린샷, 도표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C7A84827-60A8-AE4B-8AD5-120A6421F918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4926" r="3161" b="6108"/>
          <a:stretch>
            <a:fillRect/>
          </a:stretch>
        </p:blipFill>
        <p:spPr>
          <a:xfrm>
            <a:off x="361293" y="801413"/>
            <a:ext cx="11469145" cy="59288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6828369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>
            <a:extLst>
              <a:ext uri="{FF2B5EF4-FFF2-40B4-BE49-F238E27FC236}">
                <a16:creationId xmlns:a16="http://schemas.microsoft.com/office/drawing/2014/main" id="{ED0FF1AE-CD42-4BF7-940E-5EFCCF2BADE2}"/>
              </a:ext>
            </a:extLst>
          </p:cNvPr>
          <p:cNvSpPr>
            <a:spLocks noGrp="1"/>
          </p:cNvSpPr>
          <p:nvPr/>
        </p:nvSpPr>
        <p:spPr>
          <a:xfrm>
            <a:off x="590550" y="228600"/>
            <a:ext cx="762000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91440" tIns="45720" rIns="91440" bIns="45720" anchor="t"/>
          <a:lstStyle/>
          <a:p>
            <a:pPr>
              <a:defRPr sz="2250" b="1">
                <a:solidFill>
                  <a:srgbClr val="3563E9"/>
                </a:solidFill>
                <a:latin typeface="Aptos"/>
                <a:ea typeface="Aptos"/>
                <a:cs typeface="Aptos"/>
              </a:defRPr>
            </a:pPr>
            <a:r>
              <a:rPr sz="2250" b="1">
                <a:solidFill>
                  <a:srgbClr val="3563E9"/>
                </a:solidFill>
                <a:latin typeface="Aptos"/>
                <a:ea typeface="Aptos"/>
                <a:cs typeface="Aptos"/>
              </a:rPr>
              <a:t>UML</a:t>
            </a:r>
            <a:r>
              <a:rPr lang="ko-KR" sz="2250" b="1">
                <a:solidFill>
                  <a:srgbClr val="3563E9"/>
                </a:solidFill>
                <a:latin typeface="Aptos"/>
                <a:ea typeface="Aptos"/>
                <a:cs typeface="Aptos"/>
              </a:rPr>
              <a:t> </a:t>
            </a:r>
            <a:r>
              <a:rPr lang="en-US" altLang="ko-KR" sz="2250" b="1">
                <a:solidFill>
                  <a:srgbClr val="3563E9"/>
                </a:solidFill>
                <a:latin typeface="Aptos"/>
                <a:ea typeface="Aptos"/>
                <a:cs typeface="Aptos"/>
              </a:rPr>
              <a:t>–</a:t>
            </a:r>
            <a:r>
              <a:rPr lang="ko-KR" sz="2250" b="1">
                <a:solidFill>
                  <a:srgbClr val="3563E9"/>
                </a:solidFill>
                <a:latin typeface="Aptos"/>
                <a:ea typeface="Aptos"/>
                <a:cs typeface="Aptos"/>
              </a:rPr>
              <a:t> </a:t>
            </a:r>
            <a:r>
              <a:rPr lang="af-ZA" sz="2250" b="1">
                <a:solidFill>
                  <a:srgbClr val="3563E9"/>
                </a:solidFill>
                <a:latin typeface="Aptos"/>
                <a:ea typeface="Aptos"/>
                <a:cs typeface="Aptos"/>
              </a:rPr>
              <a:t>Class Diagram</a:t>
            </a:r>
            <a:endParaRPr sz="2250" b="1">
              <a:solidFill>
                <a:srgbClr val="3563E9"/>
              </a:solidFill>
              <a:latin typeface="Aptos"/>
              <a:ea typeface="Aptos"/>
              <a:cs typeface="Aptos"/>
            </a:endParaRPr>
          </a:p>
        </p:txBody>
      </p:sp>
      <p:pic>
        <p:nvPicPr>
          <p:cNvPr id="2" name="그림 1" descr="텍스트, 스크린샷, 번호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CBF7BF96-2581-1B32-408E-C8873DD8B01E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4284" b="4125"/>
          <a:stretch>
            <a:fillRect/>
          </a:stretch>
        </p:blipFill>
        <p:spPr>
          <a:xfrm>
            <a:off x="282677" y="766737"/>
            <a:ext cx="11626658" cy="59862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459872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>
            <a:extLst>
              <a:ext uri="{FF2B5EF4-FFF2-40B4-BE49-F238E27FC236}">
                <a16:creationId xmlns:a16="http://schemas.microsoft.com/office/drawing/2014/main" id="{9FAE0FD9-BF30-4B94-903D-34C8526BA455}"/>
              </a:ext>
            </a:extLst>
          </p:cNvPr>
          <p:cNvSpPr>
            <a:spLocks noGrp="1"/>
          </p:cNvSpPr>
          <p:nvPr/>
        </p:nvSpPr>
        <p:spPr>
          <a:xfrm>
            <a:off x="590550" y="228600"/>
            <a:ext cx="762000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91440" tIns="45720" rIns="91440" bIns="45720" anchor="t"/>
          <a:lstStyle/>
          <a:p>
            <a:pPr algn="l">
              <a:defRPr sz="2250" b="1">
                <a:solidFill>
                  <a:srgbClr val="3563E9"/>
                </a:solidFill>
                <a:latin typeface="Aptos"/>
                <a:ea typeface="Aptos"/>
                <a:cs typeface="Aptos"/>
              </a:defRPr>
            </a:pPr>
            <a:r>
              <a:rPr sz="2250" b="1">
                <a:solidFill>
                  <a:srgbClr val="3563E9"/>
                </a:solidFill>
                <a:latin typeface="Aptos"/>
                <a:ea typeface="Aptos"/>
                <a:cs typeface="Aptos"/>
              </a:rPr>
              <a:t>ER Diagram</a:t>
            </a:r>
          </a:p>
        </p:txBody>
      </p:sp>
      <p:pic>
        <p:nvPicPr>
          <p:cNvPr id="5" name="그림 4" descr="텍스트, 스크린샷, 도표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489921D4-59A1-8341-228B-63EE63DB7F5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6325" b="4749"/>
          <a:stretch>
            <a:fillRect/>
          </a:stretch>
        </p:blipFill>
        <p:spPr>
          <a:xfrm>
            <a:off x="276532" y="790228"/>
            <a:ext cx="11645093" cy="58526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0940146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>
            <a:extLst>
              <a:ext uri="{FF2B5EF4-FFF2-40B4-BE49-F238E27FC236}">
                <a16:creationId xmlns:a16="http://schemas.microsoft.com/office/drawing/2014/main" id="{EFBC9040-301E-4980-B805-3DA4DC63C8C9}"/>
              </a:ext>
            </a:extLst>
          </p:cNvPr>
          <p:cNvSpPr>
            <a:spLocks noGrp="1"/>
          </p:cNvSpPr>
          <p:nvPr/>
        </p:nvSpPr>
        <p:spPr>
          <a:xfrm>
            <a:off x="590550" y="228600"/>
            <a:ext cx="762000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250" b="1">
                <a:solidFill>
                  <a:srgbClr val="3563E9"/>
                </a:solidFill>
                <a:latin typeface="Aptos"/>
                <a:ea typeface="Aptos"/>
                <a:cs typeface="Aptos"/>
              </a:defRPr>
            </a:pPr>
            <a:r>
              <a:rPr sz="2250" b="1">
                <a:solidFill>
                  <a:srgbClr val="3563E9"/>
                </a:solidFill>
                <a:latin typeface="Aptos"/>
                <a:ea typeface="Aptos"/>
                <a:cs typeface="Aptos"/>
              </a:rPr>
              <a:t>프로젝트별 주요 기능 및 소스코드</a:t>
            </a:r>
          </a:p>
        </p:txBody>
      </p:sp>
      <p:pic>
        <p:nvPicPr>
          <p:cNvPr id="13" name="그림 12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592770" y="929986"/>
            <a:ext cx="6950228" cy="5534352"/>
          </a:xfrm>
          <a:prstGeom prst="roundRect">
            <a:avLst>
              <a:gd name="adj" fmla="val 2424"/>
            </a:avLst>
          </a:prstGeom>
        </p:spPr>
      </p:pic>
      <p:sp>
        <p:nvSpPr>
          <p:cNvPr id="6" name="직사각형 5">
            <a:extLst>
              <a:ext uri="{FF2B5EF4-FFF2-40B4-BE49-F238E27FC236}">
                <a16:creationId xmlns:a16="http://schemas.microsoft.com/office/drawing/2014/main" id="{F220B03B-D72F-4938-AFD4-2A28A7C4FC23}"/>
              </a:ext>
            </a:extLst>
          </p:cNvPr>
          <p:cNvSpPr>
            <a:spLocks noGrp="1"/>
          </p:cNvSpPr>
          <p:nvPr/>
        </p:nvSpPr>
        <p:spPr>
          <a:xfrm>
            <a:off x="7836776" y="5605660"/>
            <a:ext cx="3369878" cy="857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91440" tIns="45720" rIns="91440" bIns="45720" anchor="t"/>
          <a:lstStyle/>
          <a:p>
            <a:pPr algn="l"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• YOLO </a:t>
            </a:r>
            <a:r>
              <a:rPr sz="1400" b="0" err="1">
                <a:solidFill>
                  <a:srgbClr val="111827"/>
                </a:solidFill>
                <a:latin typeface="Aptos"/>
                <a:ea typeface="Aptos"/>
                <a:cs typeface="Aptos"/>
              </a:rPr>
              <a:t>탐지</a:t>
            </a:r>
            <a:r>
              <a:rPr sz="14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 </a:t>
            </a:r>
            <a:r>
              <a:rPr sz="1400" b="0" err="1">
                <a:solidFill>
                  <a:srgbClr val="111827"/>
                </a:solidFill>
                <a:latin typeface="Aptos"/>
                <a:ea typeface="Aptos"/>
                <a:cs typeface="Aptos"/>
              </a:rPr>
              <a:t>결과에서</a:t>
            </a:r>
            <a:r>
              <a:rPr sz="14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 </a:t>
            </a:r>
            <a:r>
              <a:rPr sz="1400" b="0" err="1">
                <a:solidFill>
                  <a:srgbClr val="111827"/>
                </a:solidFill>
                <a:latin typeface="Aptos"/>
                <a:ea typeface="Aptos"/>
                <a:cs typeface="Aptos"/>
              </a:rPr>
              <a:t>객체</a:t>
            </a:r>
            <a:r>
              <a:rPr sz="14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 </a:t>
            </a:r>
            <a:r>
              <a:rPr sz="1400" b="0" err="1">
                <a:solidFill>
                  <a:srgbClr val="111827"/>
                </a:solidFill>
                <a:latin typeface="Aptos"/>
                <a:ea typeface="Aptos"/>
                <a:cs typeface="Aptos"/>
              </a:rPr>
              <a:t>상태</a:t>
            </a:r>
            <a:r>
              <a:rPr sz="14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 </a:t>
            </a:r>
            <a:r>
              <a:rPr sz="1400" b="0" err="1">
                <a:solidFill>
                  <a:srgbClr val="111827"/>
                </a:solidFill>
                <a:latin typeface="Aptos"/>
                <a:ea typeface="Aptos"/>
                <a:cs typeface="Aptos"/>
              </a:rPr>
              <a:t>추출</a:t>
            </a:r>
            <a:endParaRPr lang="ko-KR" altLang="en-US" sz="1400" b="0" err="1">
              <a:solidFill>
                <a:srgbClr val="111827"/>
              </a:solidFill>
              <a:latin typeface="Aptos"/>
              <a:ea typeface="Aptos"/>
              <a:cs typeface="Aptos"/>
            </a:endParaRPr>
          </a:p>
          <a:p>
            <a:pPr algn="l"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• </a:t>
            </a:r>
            <a:r>
              <a:rPr sz="1400" b="0" err="1">
                <a:solidFill>
                  <a:srgbClr val="111827"/>
                </a:solidFill>
                <a:latin typeface="Aptos"/>
                <a:ea typeface="Aptos"/>
                <a:cs typeface="Aptos"/>
              </a:rPr>
              <a:t>사람</a:t>
            </a:r>
            <a:r>
              <a:rPr sz="14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/공 </a:t>
            </a:r>
            <a:r>
              <a:rPr sz="1400" b="0" err="1">
                <a:solidFill>
                  <a:srgbClr val="111827"/>
                </a:solidFill>
                <a:latin typeface="Aptos"/>
                <a:ea typeface="Aptos"/>
                <a:cs typeface="Aptos"/>
              </a:rPr>
              <a:t>감지</a:t>
            </a:r>
            <a:r>
              <a:rPr sz="14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 </a:t>
            </a:r>
            <a:r>
              <a:rPr sz="1400" b="0" err="1">
                <a:solidFill>
                  <a:srgbClr val="111827"/>
                </a:solidFill>
                <a:latin typeface="Aptos"/>
                <a:ea typeface="Aptos"/>
                <a:cs typeface="Aptos"/>
              </a:rPr>
              <a:t>여부로</a:t>
            </a:r>
            <a:r>
              <a:rPr sz="14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 </a:t>
            </a:r>
            <a:r>
              <a:rPr sz="1400" b="0" err="1">
                <a:solidFill>
                  <a:srgbClr val="111827"/>
                </a:solidFill>
                <a:latin typeface="Aptos"/>
                <a:ea typeface="Aptos"/>
                <a:cs typeface="Aptos"/>
              </a:rPr>
              <a:t>위험도</a:t>
            </a:r>
            <a:r>
              <a:rPr sz="14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 </a:t>
            </a:r>
            <a:r>
              <a:rPr sz="1400" b="0" err="1">
                <a:solidFill>
                  <a:srgbClr val="111827"/>
                </a:solidFill>
                <a:latin typeface="Aptos"/>
                <a:ea typeface="Aptos"/>
                <a:cs typeface="Aptos"/>
              </a:rPr>
              <a:t>계산</a:t>
            </a:r>
          </a:p>
          <a:p>
            <a:pPr algn="l"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• </a:t>
            </a:r>
            <a:r>
              <a:rPr sz="1400" b="0" err="1">
                <a:solidFill>
                  <a:srgbClr val="111827"/>
                </a:solidFill>
                <a:latin typeface="Aptos"/>
                <a:ea typeface="Aptos"/>
                <a:cs typeface="Aptos"/>
              </a:rPr>
              <a:t>베이즈</a:t>
            </a:r>
            <a:r>
              <a:rPr sz="14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 </a:t>
            </a:r>
            <a:r>
              <a:rPr sz="1400" b="0" err="1">
                <a:solidFill>
                  <a:srgbClr val="111827"/>
                </a:solidFill>
                <a:latin typeface="Aptos"/>
                <a:ea typeface="Aptos"/>
                <a:cs typeface="Aptos"/>
              </a:rPr>
              <a:t>기반</a:t>
            </a:r>
            <a:r>
              <a:rPr sz="14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 </a:t>
            </a:r>
            <a:r>
              <a:rPr sz="1400" b="0" err="1">
                <a:solidFill>
                  <a:srgbClr val="111827"/>
                </a:solidFill>
                <a:latin typeface="Aptos"/>
                <a:ea typeface="Aptos"/>
                <a:cs typeface="Aptos"/>
              </a:rPr>
              <a:t>확률</a:t>
            </a:r>
            <a:r>
              <a:rPr sz="14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 </a:t>
            </a:r>
            <a:r>
              <a:rPr sz="1400" b="0" err="1">
                <a:solidFill>
                  <a:srgbClr val="111827"/>
                </a:solidFill>
                <a:latin typeface="Aptos"/>
                <a:ea typeface="Aptos"/>
                <a:cs typeface="Aptos"/>
              </a:rPr>
              <a:t>계산</a:t>
            </a:r>
            <a:r>
              <a:rPr sz="14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 </a:t>
            </a:r>
            <a:r>
              <a:rPr sz="1400" b="0" err="1">
                <a:solidFill>
                  <a:srgbClr val="111827"/>
                </a:solidFill>
                <a:latin typeface="Aptos"/>
                <a:ea typeface="Aptos"/>
                <a:cs typeface="Aptos"/>
              </a:rPr>
              <a:t>적용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E7B4A04A-D67D-07B4-F835-5B0A09A59F67}"/>
              </a:ext>
            </a:extLst>
          </p:cNvPr>
          <p:cNvSpPr>
            <a:spLocks noGrp="1"/>
          </p:cNvSpPr>
          <p:nvPr/>
        </p:nvSpPr>
        <p:spPr>
          <a:xfrm>
            <a:off x="7776999" y="1716143"/>
            <a:ext cx="3402723" cy="377713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91440" tIns="45720" rIns="91440" bIns="45720" anchor="t"/>
          <a:lstStyle/>
          <a:p>
            <a:pPr>
              <a:defRPr sz="1725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lang="ko-KR" altLang="en-US" sz="17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객체 탐지 결과 기반 위험도 계산</a:t>
            </a:r>
          </a:p>
        </p:txBody>
      </p:sp>
      <p:sp>
        <p:nvSpPr>
          <p:cNvPr id="15" name="직선 연결선 14">
            <a:extLst>
              <a:ext uri="{FF2B5EF4-FFF2-40B4-BE49-F238E27FC236}">
                <a16:creationId xmlns:a16="http://schemas.microsoft.com/office/drawing/2014/main" id="{212AA18B-CB3F-79FA-E67F-6EB863DB32E7}"/>
              </a:ext>
            </a:extLst>
          </p:cNvPr>
          <p:cNvSpPr>
            <a:spLocks noGrp="1"/>
          </p:cNvSpPr>
          <p:nvPr/>
        </p:nvSpPr>
        <p:spPr>
          <a:xfrm>
            <a:off x="7801791" y="1565576"/>
            <a:ext cx="4113487" cy="0"/>
          </a:xfrm>
          <a:prstGeom prst="line">
            <a:avLst/>
          </a:prstGeom>
          <a:noFill/>
          <a:ln w="9525">
            <a:solidFill>
              <a:srgbClr val="D7DCE5"/>
            </a:solidFill>
            <a:prstDash val="solid"/>
          </a:ln>
        </p:spPr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07A7095-9763-4CD4-BE00-147658E498E5}"/>
              </a:ext>
            </a:extLst>
          </p:cNvPr>
          <p:cNvSpPr>
            <a:spLocks noGrp="1"/>
          </p:cNvSpPr>
          <p:nvPr/>
        </p:nvSpPr>
        <p:spPr>
          <a:xfrm>
            <a:off x="7776999" y="1098331"/>
            <a:ext cx="4631121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91440" tIns="45720" rIns="91440" bIns="45720" anchor="t"/>
          <a:lstStyle>
            <a:defPPr>
              <a:defRPr lang="en-US"/>
            </a:defPPr>
            <a:lvl1pPr marL="0" indent="0" algn="l" defTabSz="91440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l" defTabSz="91440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l" defTabSz="91440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l" defTabSz="91440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l" defTabSz="91440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l" defTabSz="91440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 sz="255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defRPr>
            </a:pPr>
            <a:r>
              <a:rPr sz="200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2차</a:t>
            </a:r>
            <a:r>
              <a:rPr lang="ko-KR" sz="200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 프로젝트</a:t>
            </a:r>
            <a:r>
              <a:rPr sz="200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(Computer Vision)</a:t>
            </a:r>
            <a:endParaRPr lang="ko-KR" sz="2000" b="1">
              <a:solidFill>
                <a:srgbClr val="111827"/>
              </a:solidFill>
              <a:latin typeface="Aptos Display"/>
              <a:ea typeface="Aptos Display"/>
              <a:cs typeface="Aptos Display"/>
            </a:endParaRPr>
          </a:p>
        </p:txBody>
      </p:sp>
    </p:spTree>
    <p:extLst>
      <p:ext uri="{BB962C8B-B14F-4D97-AF65-F5344CB8AC3E}">
        <p14:creationId xmlns:p14="http://schemas.microsoft.com/office/powerpoint/2010/main" val="149175409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>
            <a:extLst>
              <a:ext uri="{FF2B5EF4-FFF2-40B4-BE49-F238E27FC236}">
                <a16:creationId xmlns:a16="http://schemas.microsoft.com/office/drawing/2014/main" id="{74C5484F-1439-4C44-ACFB-210E6952C9E6}"/>
              </a:ext>
            </a:extLst>
          </p:cNvPr>
          <p:cNvSpPr>
            <a:spLocks noGrp="1"/>
          </p:cNvSpPr>
          <p:nvPr/>
        </p:nvSpPr>
        <p:spPr>
          <a:xfrm>
            <a:off x="590550" y="228600"/>
            <a:ext cx="762000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250" b="1">
                <a:solidFill>
                  <a:srgbClr val="3563E9"/>
                </a:solidFill>
                <a:latin typeface="Aptos"/>
                <a:ea typeface="Aptos"/>
                <a:cs typeface="Aptos"/>
              </a:defRPr>
            </a:pPr>
            <a:r>
              <a:rPr sz="2250" b="1">
                <a:solidFill>
                  <a:srgbClr val="3563E9"/>
                </a:solidFill>
                <a:latin typeface="Aptos"/>
                <a:ea typeface="Aptos"/>
                <a:cs typeface="Aptos"/>
              </a:rPr>
              <a:t>프로젝트별 주요 기능 및 소스코드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984DA39E-2AEB-483F-AF0A-9A696BA67540}"/>
              </a:ext>
            </a:extLst>
          </p:cNvPr>
          <p:cNvSpPr>
            <a:spLocks noGrp="1"/>
          </p:cNvSpPr>
          <p:nvPr/>
        </p:nvSpPr>
        <p:spPr>
          <a:xfrm>
            <a:off x="8414188" y="1716143"/>
            <a:ext cx="99060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725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실시간 탐지 영상 스트리밍</a:t>
            </a:r>
          </a:p>
        </p:txBody>
      </p:sp>
      <p:pic>
        <p:nvPicPr>
          <p:cNvPr id="13" name="그림 12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592535" y="1006694"/>
            <a:ext cx="7650188" cy="5481801"/>
          </a:xfrm>
          <a:prstGeom prst="roundRect">
            <a:avLst>
              <a:gd name="adj" fmla="val 2424"/>
            </a:avLst>
          </a:prstGeom>
        </p:spPr>
      </p:pic>
      <p:sp>
        <p:nvSpPr>
          <p:cNvPr id="6" name="직사각형 5">
            <a:extLst>
              <a:ext uri="{FF2B5EF4-FFF2-40B4-BE49-F238E27FC236}">
                <a16:creationId xmlns:a16="http://schemas.microsoft.com/office/drawing/2014/main" id="{5C98DD97-86AD-466B-9F68-F63C37CCEC1F}"/>
              </a:ext>
            </a:extLst>
          </p:cNvPr>
          <p:cNvSpPr>
            <a:spLocks noGrp="1"/>
          </p:cNvSpPr>
          <p:nvPr/>
        </p:nvSpPr>
        <p:spPr>
          <a:xfrm>
            <a:off x="8408277" y="5636171"/>
            <a:ext cx="4223844" cy="857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• OpenCV로 영상 프레임 처리</a:t>
            </a:r>
          </a:p>
          <a:p>
            <a:pPr algn="l"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• YOLO 추론 결과를 프레임에 시각화</a:t>
            </a:r>
          </a:p>
          <a:p>
            <a:pPr algn="l"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• Flask Response로 실시간 스트리밍 제공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76D0F670-0AF5-93F5-A904-D4062DBFD94D}"/>
              </a:ext>
            </a:extLst>
          </p:cNvPr>
          <p:cNvSpPr>
            <a:spLocks noGrp="1"/>
          </p:cNvSpPr>
          <p:nvPr/>
        </p:nvSpPr>
        <p:spPr>
          <a:xfrm>
            <a:off x="8368206" y="1104900"/>
            <a:ext cx="4631121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91440" tIns="45720" rIns="91440" bIns="45720" anchor="t"/>
          <a:lstStyle>
            <a:defPPr>
              <a:defRPr lang="en-US"/>
            </a:defPPr>
            <a:lvl1pPr marL="0" indent="0" algn="l" defTabSz="91440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l" defTabSz="91440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l" defTabSz="91440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l" defTabSz="91440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l" defTabSz="91440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l" defTabSz="91440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 sz="255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defRPr>
            </a:pPr>
            <a:r>
              <a:rPr sz="200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2차</a:t>
            </a:r>
            <a:r>
              <a:rPr lang="ko-KR" sz="200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 프로젝트</a:t>
            </a:r>
            <a:r>
              <a:rPr sz="200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(Computer Vision)</a:t>
            </a:r>
            <a:endParaRPr lang="ko-KR" sz="2000" b="1">
              <a:solidFill>
                <a:srgbClr val="111827"/>
              </a:solidFill>
              <a:latin typeface="Aptos Display"/>
              <a:ea typeface="Aptos Display"/>
              <a:cs typeface="Aptos Display"/>
            </a:endParaRPr>
          </a:p>
        </p:txBody>
      </p:sp>
      <p:sp>
        <p:nvSpPr>
          <p:cNvPr id="11" name="직선 연결선 10">
            <a:extLst>
              <a:ext uri="{FF2B5EF4-FFF2-40B4-BE49-F238E27FC236}">
                <a16:creationId xmlns:a16="http://schemas.microsoft.com/office/drawing/2014/main" id="{E310B76E-0C2C-4918-0837-5A22892205A6}"/>
              </a:ext>
            </a:extLst>
          </p:cNvPr>
          <p:cNvSpPr>
            <a:spLocks noGrp="1"/>
          </p:cNvSpPr>
          <p:nvPr/>
        </p:nvSpPr>
        <p:spPr>
          <a:xfrm>
            <a:off x="8407619" y="1584435"/>
            <a:ext cx="3658915" cy="0"/>
          </a:xfrm>
          <a:prstGeom prst="line">
            <a:avLst/>
          </a:prstGeom>
          <a:noFill/>
          <a:ln w="9525">
            <a:solidFill>
              <a:srgbClr val="D7DCE5"/>
            </a:solidFill>
            <a:prstDash val="solid"/>
          </a:ln>
        </p:spPr>
      </p:sp>
    </p:spTree>
    <p:extLst>
      <p:ext uri="{BB962C8B-B14F-4D97-AF65-F5344CB8AC3E}">
        <p14:creationId xmlns:p14="http://schemas.microsoft.com/office/powerpoint/2010/main" val="1960180151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>
            <a:extLst>
              <a:ext uri="{FF2B5EF4-FFF2-40B4-BE49-F238E27FC236}">
                <a16:creationId xmlns:a16="http://schemas.microsoft.com/office/drawing/2014/main" id="{7FA484CD-4FA2-479C-A20D-B3B9FA8E4658}"/>
              </a:ext>
            </a:extLst>
          </p:cNvPr>
          <p:cNvSpPr>
            <a:spLocks noGrp="1"/>
          </p:cNvSpPr>
          <p:nvPr/>
        </p:nvSpPr>
        <p:spPr>
          <a:xfrm>
            <a:off x="590550" y="228600"/>
            <a:ext cx="762000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250" b="1">
                <a:solidFill>
                  <a:srgbClr val="3563E9"/>
                </a:solidFill>
                <a:latin typeface="Aptos"/>
                <a:ea typeface="Aptos"/>
                <a:cs typeface="Aptos"/>
              </a:defRPr>
            </a:pPr>
            <a:r>
              <a:rPr sz="2250" b="1">
                <a:solidFill>
                  <a:srgbClr val="3563E9"/>
                </a:solidFill>
                <a:latin typeface="Aptos"/>
                <a:ea typeface="Aptos"/>
                <a:cs typeface="Aptos"/>
              </a:rPr>
              <a:t>프로젝트별 주요 기능 및 소스코드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97295819-F855-484F-9707-C539A4A65EEB}"/>
              </a:ext>
            </a:extLst>
          </p:cNvPr>
          <p:cNvSpPr>
            <a:spLocks noGrp="1"/>
          </p:cNvSpPr>
          <p:nvPr/>
        </p:nvSpPr>
        <p:spPr>
          <a:xfrm>
            <a:off x="7474825" y="1330152"/>
            <a:ext cx="4590436" cy="47686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91440" tIns="45720" rIns="91440" bIns="45720" anchor="t"/>
          <a:lstStyle/>
          <a:p>
            <a:pPr>
              <a:defRPr sz="255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defRPr>
            </a:pPr>
            <a:r>
              <a:rPr sz="200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3차</a:t>
            </a:r>
            <a:r>
              <a:rPr lang="ko-KR" sz="2000" b="1" dirty="0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 </a:t>
            </a:r>
            <a:r>
              <a:rPr lang="ko-KR" altLang="en-US" sz="200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프로젝트</a:t>
            </a:r>
            <a:r>
              <a:rPr sz="200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(LLM Fine-Tuning)</a:t>
            </a:r>
            <a:endParaRPr lang="ko-KR" sz="2000" b="1">
              <a:solidFill>
                <a:srgbClr val="111827"/>
              </a:solidFill>
              <a:latin typeface="Aptos Display"/>
              <a:ea typeface="Aptos Display"/>
              <a:cs typeface="Aptos Display"/>
            </a:endParaRP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11A54756-C34F-45DB-935E-1B4C7B18E3E4}"/>
              </a:ext>
            </a:extLst>
          </p:cNvPr>
          <p:cNvSpPr>
            <a:spLocks noGrp="1"/>
          </p:cNvSpPr>
          <p:nvPr/>
        </p:nvSpPr>
        <p:spPr>
          <a:xfrm>
            <a:off x="7474825" y="1946056"/>
            <a:ext cx="99060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725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Flask API와 MCP Tool 연동</a:t>
            </a:r>
          </a:p>
        </p:txBody>
      </p:sp>
      <p:pic>
        <p:nvPicPr>
          <p:cNvPr id="13" name="그림 12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587594" y="983809"/>
            <a:ext cx="6642728" cy="5448955"/>
          </a:xfrm>
          <a:prstGeom prst="roundRect">
            <a:avLst>
              <a:gd name="adj" fmla="val 2424"/>
            </a:avLst>
          </a:prstGeom>
        </p:spPr>
      </p:pic>
      <p:sp>
        <p:nvSpPr>
          <p:cNvPr id="6" name="직사각형 5">
            <a:extLst>
              <a:ext uri="{FF2B5EF4-FFF2-40B4-BE49-F238E27FC236}">
                <a16:creationId xmlns:a16="http://schemas.microsoft.com/office/drawing/2014/main" id="{725931C2-57E4-4485-9A95-995A2C1D0598}"/>
              </a:ext>
            </a:extLst>
          </p:cNvPr>
          <p:cNvSpPr>
            <a:spLocks noGrp="1"/>
          </p:cNvSpPr>
          <p:nvPr/>
        </p:nvSpPr>
        <p:spPr>
          <a:xfrm>
            <a:off x="7580586" y="5477245"/>
            <a:ext cx="4375355" cy="857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• REST API 요청을 MCP 도구 호출로 연결</a:t>
            </a:r>
          </a:p>
          <a:p>
            <a:pPr algn="l"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• vLLM 서버 정보는 환경변수로 분리</a:t>
            </a:r>
          </a:p>
          <a:p>
            <a:pPr algn="l"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• API 계층과 추론 계층을 느슨하게 결합</a:t>
            </a:r>
          </a:p>
        </p:txBody>
      </p:sp>
      <p:sp>
        <p:nvSpPr>
          <p:cNvPr id="10" name="직선 연결선 9">
            <a:extLst>
              <a:ext uri="{FF2B5EF4-FFF2-40B4-BE49-F238E27FC236}">
                <a16:creationId xmlns:a16="http://schemas.microsoft.com/office/drawing/2014/main" id="{5EA4BD2C-F01E-E393-0BAF-6AAC7318E242}"/>
              </a:ext>
            </a:extLst>
          </p:cNvPr>
          <p:cNvSpPr>
            <a:spLocks noGrp="1"/>
          </p:cNvSpPr>
          <p:nvPr/>
        </p:nvSpPr>
        <p:spPr>
          <a:xfrm>
            <a:off x="7474826" y="1794642"/>
            <a:ext cx="4573314" cy="0"/>
          </a:xfrm>
          <a:prstGeom prst="line">
            <a:avLst/>
          </a:prstGeom>
          <a:noFill/>
          <a:ln w="9525">
            <a:solidFill>
              <a:srgbClr val="D7DCE5"/>
            </a:solidFill>
            <a:prstDash val="solid"/>
          </a:ln>
        </p:spPr>
      </p:sp>
    </p:spTree>
    <p:extLst>
      <p:ext uri="{BB962C8B-B14F-4D97-AF65-F5344CB8AC3E}">
        <p14:creationId xmlns:p14="http://schemas.microsoft.com/office/powerpoint/2010/main" val="882535472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>
            <a:extLst>
              <a:ext uri="{FF2B5EF4-FFF2-40B4-BE49-F238E27FC236}">
                <a16:creationId xmlns:a16="http://schemas.microsoft.com/office/drawing/2014/main" id="{E1DFDE64-72A8-4936-BC2C-BC65D13A8646}"/>
              </a:ext>
            </a:extLst>
          </p:cNvPr>
          <p:cNvSpPr>
            <a:spLocks noGrp="1"/>
          </p:cNvSpPr>
          <p:nvPr/>
        </p:nvSpPr>
        <p:spPr>
          <a:xfrm>
            <a:off x="590550" y="228600"/>
            <a:ext cx="762000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250" b="1">
                <a:solidFill>
                  <a:srgbClr val="3563E9"/>
                </a:solidFill>
                <a:latin typeface="Aptos"/>
                <a:ea typeface="Aptos"/>
                <a:cs typeface="Aptos"/>
              </a:defRPr>
            </a:pPr>
            <a:r>
              <a:rPr sz="2250" b="1">
                <a:solidFill>
                  <a:srgbClr val="3563E9"/>
                </a:solidFill>
                <a:latin typeface="Aptos"/>
                <a:ea typeface="Aptos"/>
                <a:cs typeface="Aptos"/>
              </a:rPr>
              <a:t>프로젝트별 주요 기능 및 소스코드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DA40018D-5E2A-42F4-8076-52D1E804B4BC}"/>
              </a:ext>
            </a:extLst>
          </p:cNvPr>
          <p:cNvSpPr>
            <a:spLocks noGrp="1"/>
          </p:cNvSpPr>
          <p:nvPr/>
        </p:nvSpPr>
        <p:spPr>
          <a:xfrm>
            <a:off x="590550" y="803787"/>
            <a:ext cx="93345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91440" tIns="45720" rIns="91440" bIns="45720" anchor="t"/>
          <a:lstStyle/>
          <a:p>
            <a:pPr>
              <a:defRPr sz="255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defRPr>
            </a:pPr>
            <a:r>
              <a:rPr sz="240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3차</a:t>
            </a:r>
            <a:r>
              <a:rPr lang="ko-KR" sz="240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 </a:t>
            </a:r>
            <a:r>
              <a:rPr lang="ko-KR" altLang="en-US" sz="240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프로젝트</a:t>
            </a:r>
            <a:r>
              <a:rPr sz="240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(LLM Fine-Tuning)</a:t>
            </a:r>
            <a:endParaRPr lang="ko-KR" altLang="en-US" sz="2400" b="1">
              <a:solidFill>
                <a:srgbClr val="111827"/>
              </a:solidFill>
              <a:latin typeface="Aptos Display"/>
              <a:ea typeface="Aptos Display"/>
              <a:cs typeface="Aptos Display"/>
            </a:endParaRPr>
          </a:p>
        </p:txBody>
      </p:sp>
      <p:sp>
        <p:nvSpPr>
          <p:cNvPr id="3" name="직선 연결선 2">
            <a:extLst>
              <a:ext uri="{FF2B5EF4-FFF2-40B4-BE49-F238E27FC236}">
                <a16:creationId xmlns:a16="http://schemas.microsoft.com/office/drawing/2014/main" id="{0D3493A0-B231-49D9-9856-0D234B249BE0}"/>
              </a:ext>
            </a:extLst>
          </p:cNvPr>
          <p:cNvSpPr>
            <a:spLocks noGrp="1"/>
          </p:cNvSpPr>
          <p:nvPr/>
        </p:nvSpPr>
        <p:spPr>
          <a:xfrm>
            <a:off x="590550" y="1295400"/>
            <a:ext cx="11010900" cy="0"/>
          </a:xfrm>
          <a:prstGeom prst="line">
            <a:avLst/>
          </a:prstGeom>
          <a:noFill/>
          <a:ln w="9525">
            <a:solidFill>
              <a:srgbClr val="D7DCE5"/>
            </a:solidFill>
            <a:prstDash val="solid"/>
          </a:ln>
        </p:spPr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69B77AFE-1D52-43ED-9043-BBA7868B8E78}"/>
              </a:ext>
            </a:extLst>
          </p:cNvPr>
          <p:cNvSpPr>
            <a:spLocks noGrp="1"/>
          </p:cNvSpPr>
          <p:nvPr/>
        </p:nvSpPr>
        <p:spPr>
          <a:xfrm>
            <a:off x="781050" y="1381125"/>
            <a:ext cx="99060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725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도메인 프롬프트 제어</a:t>
            </a:r>
          </a:p>
        </p:txBody>
      </p:sp>
      <p:pic>
        <p:nvPicPr>
          <p:cNvPr id="13" name="그림 12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1017680" y="1835022"/>
            <a:ext cx="10158122" cy="4029422"/>
          </a:xfrm>
          <a:prstGeom prst="roundRect">
            <a:avLst>
              <a:gd name="adj" fmla="val 2424"/>
            </a:avLst>
          </a:prstGeom>
        </p:spPr>
      </p:pic>
      <p:sp>
        <p:nvSpPr>
          <p:cNvPr id="6" name="직사각형 5">
            <a:extLst>
              <a:ext uri="{FF2B5EF4-FFF2-40B4-BE49-F238E27FC236}">
                <a16:creationId xmlns:a16="http://schemas.microsoft.com/office/drawing/2014/main" id="{D587F5CF-40C3-4429-9AB1-69A057478261}"/>
              </a:ext>
            </a:extLst>
          </p:cNvPr>
          <p:cNvSpPr>
            <a:spLocks noGrp="1"/>
          </p:cNvSpPr>
          <p:nvPr/>
        </p:nvSpPr>
        <p:spPr>
          <a:xfrm>
            <a:off x="972207" y="6001067"/>
            <a:ext cx="9525000" cy="857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• Unity/GameDev 튜터 역할 고정</a:t>
            </a:r>
          </a:p>
          <a:p>
            <a:pPr algn="l"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• 답변 길이와 코드블록 조건 제한</a:t>
            </a:r>
          </a:p>
          <a:p>
            <a:pPr algn="l"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• 도메인 외 응답 안정성 보완</a:t>
            </a:r>
          </a:p>
        </p:txBody>
      </p:sp>
    </p:spTree>
    <p:extLst>
      <p:ext uri="{BB962C8B-B14F-4D97-AF65-F5344CB8AC3E}">
        <p14:creationId xmlns:p14="http://schemas.microsoft.com/office/powerpoint/2010/main" val="979531507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>
            <a:extLst>
              <a:ext uri="{FF2B5EF4-FFF2-40B4-BE49-F238E27FC236}">
                <a16:creationId xmlns:a16="http://schemas.microsoft.com/office/drawing/2014/main" id="{F7E36346-50A8-4DF8-974D-FA5786C2A919}"/>
              </a:ext>
            </a:extLst>
          </p:cNvPr>
          <p:cNvSpPr>
            <a:spLocks noGrp="1"/>
          </p:cNvSpPr>
          <p:nvPr/>
        </p:nvSpPr>
        <p:spPr>
          <a:xfrm>
            <a:off x="590550" y="228600"/>
            <a:ext cx="762000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250" b="1">
                <a:solidFill>
                  <a:srgbClr val="3563E9"/>
                </a:solidFill>
                <a:latin typeface="Aptos"/>
                <a:ea typeface="Aptos"/>
                <a:cs typeface="Aptos"/>
              </a:defRPr>
            </a:pPr>
            <a:r>
              <a:rPr sz="2250" b="1">
                <a:solidFill>
                  <a:srgbClr val="3563E9"/>
                </a:solidFill>
                <a:latin typeface="Aptos"/>
                <a:ea typeface="Aptos"/>
                <a:cs typeface="Aptos"/>
              </a:rPr>
              <a:t>프로젝트별 주요 기능 및 소스코드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16309F7F-1493-4803-8CEF-D3F490534D3C}"/>
              </a:ext>
            </a:extLst>
          </p:cNvPr>
          <p:cNvSpPr>
            <a:spLocks noGrp="1"/>
          </p:cNvSpPr>
          <p:nvPr/>
        </p:nvSpPr>
        <p:spPr>
          <a:xfrm>
            <a:off x="7619343" y="1904947"/>
            <a:ext cx="99060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725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vLLM 추론 요청 구성</a:t>
            </a:r>
          </a:p>
        </p:txBody>
      </p:sp>
      <p:pic>
        <p:nvPicPr>
          <p:cNvPr id="13" name="그림 12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591076" y="963254"/>
            <a:ext cx="6897675" cy="5488369"/>
          </a:xfrm>
          <a:prstGeom prst="roundRect">
            <a:avLst>
              <a:gd name="adj" fmla="val 2424"/>
            </a:avLst>
          </a:prstGeom>
        </p:spPr>
      </p:pic>
      <p:sp>
        <p:nvSpPr>
          <p:cNvPr id="6" name="직사각형 5">
            <a:extLst>
              <a:ext uri="{FF2B5EF4-FFF2-40B4-BE49-F238E27FC236}">
                <a16:creationId xmlns:a16="http://schemas.microsoft.com/office/drawing/2014/main" id="{B3056D36-02CA-4C53-B9C7-3C46DA759A8B}"/>
              </a:ext>
            </a:extLst>
          </p:cNvPr>
          <p:cNvSpPr>
            <a:spLocks noGrp="1"/>
          </p:cNvSpPr>
          <p:nvPr/>
        </p:nvSpPr>
        <p:spPr>
          <a:xfrm>
            <a:off x="7724468" y="5593580"/>
            <a:ext cx="4178710" cy="857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• vLLM 서버로 Fine-Tuning 모델 호출</a:t>
            </a:r>
          </a:p>
          <a:p>
            <a:pPr algn="l"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• 생성 파라미터와 stop sequence 설정</a:t>
            </a:r>
          </a:p>
          <a:p>
            <a:pPr algn="l"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• 일관된 튜터 답변을 위한 추론 제어</a:t>
            </a:r>
          </a:p>
        </p:txBody>
      </p:sp>
      <p:sp>
        <p:nvSpPr>
          <p:cNvPr id="16" name="직선 연결선 15">
            <a:extLst>
              <a:ext uri="{FF2B5EF4-FFF2-40B4-BE49-F238E27FC236}">
                <a16:creationId xmlns:a16="http://schemas.microsoft.com/office/drawing/2014/main" id="{31E1C66B-ED3F-DA1B-141F-EC903B67ABF4}"/>
              </a:ext>
            </a:extLst>
          </p:cNvPr>
          <p:cNvSpPr>
            <a:spLocks noGrp="1"/>
          </p:cNvSpPr>
          <p:nvPr/>
        </p:nvSpPr>
        <p:spPr>
          <a:xfrm>
            <a:off x="7619343" y="1794642"/>
            <a:ext cx="4390434" cy="0"/>
          </a:xfrm>
          <a:prstGeom prst="line">
            <a:avLst/>
          </a:prstGeom>
          <a:noFill/>
          <a:ln w="9525">
            <a:solidFill>
              <a:srgbClr val="D7DCE5"/>
            </a:solidFill>
            <a:prstDash val="solid"/>
          </a:ln>
        </p:spPr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E188EEC1-EFC6-4D00-58E7-3EA7EE00CCBB}"/>
              </a:ext>
            </a:extLst>
          </p:cNvPr>
          <p:cNvSpPr>
            <a:spLocks noGrp="1"/>
          </p:cNvSpPr>
          <p:nvPr/>
        </p:nvSpPr>
        <p:spPr>
          <a:xfrm>
            <a:off x="7633329" y="1311716"/>
            <a:ext cx="4258597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91440" tIns="45720" rIns="91440" bIns="45720" anchor="t"/>
          <a:lstStyle/>
          <a:p>
            <a:pPr>
              <a:defRPr sz="255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defRPr>
            </a:pPr>
            <a:r>
              <a:rPr sz="200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3차</a:t>
            </a:r>
            <a:r>
              <a:rPr lang="ko-KR" sz="200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 </a:t>
            </a:r>
            <a:r>
              <a:rPr lang="ko-KR" altLang="en-US" sz="200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프로젝트</a:t>
            </a:r>
            <a:r>
              <a:rPr sz="200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(LLM Fine-Tuning)</a:t>
            </a:r>
            <a:endParaRPr lang="ko-KR" sz="2000" b="1">
              <a:solidFill>
                <a:srgbClr val="111827"/>
              </a:solidFill>
              <a:latin typeface="Aptos Display"/>
              <a:ea typeface="Aptos Display"/>
              <a:cs typeface="Aptos Display"/>
            </a:endParaRPr>
          </a:p>
        </p:txBody>
      </p:sp>
    </p:spTree>
    <p:extLst>
      <p:ext uri="{BB962C8B-B14F-4D97-AF65-F5344CB8AC3E}">
        <p14:creationId xmlns:p14="http://schemas.microsoft.com/office/powerpoint/2010/main" val="329646650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>
            <a:extLst>
              <a:ext uri="{FF2B5EF4-FFF2-40B4-BE49-F238E27FC236}">
                <a16:creationId xmlns:a16="http://schemas.microsoft.com/office/drawing/2014/main" id="{964C52BA-7F84-4E94-9609-410E003E4C78}"/>
              </a:ext>
            </a:extLst>
          </p:cNvPr>
          <p:cNvSpPr>
            <a:spLocks noGrp="1"/>
          </p:cNvSpPr>
          <p:nvPr/>
        </p:nvSpPr>
        <p:spPr>
          <a:xfrm>
            <a:off x="590550" y="228600"/>
            <a:ext cx="762000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250" b="1">
                <a:solidFill>
                  <a:srgbClr val="3563E9"/>
                </a:solidFill>
                <a:latin typeface="Aptos"/>
                <a:ea typeface="Aptos"/>
                <a:cs typeface="Aptos"/>
              </a:defRPr>
            </a:pPr>
            <a:r>
              <a:rPr sz="2250" b="1">
                <a:solidFill>
                  <a:srgbClr val="3563E9"/>
                </a:solidFill>
                <a:latin typeface="Aptos"/>
                <a:ea typeface="Aptos"/>
                <a:cs typeface="Aptos"/>
              </a:rPr>
              <a:t>프로젝트별 주요 기능 및 소스코드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80E8A940-659C-4B6A-874A-A4AB77FA7B29}"/>
              </a:ext>
            </a:extLst>
          </p:cNvPr>
          <p:cNvSpPr>
            <a:spLocks noGrp="1"/>
          </p:cNvSpPr>
          <p:nvPr/>
        </p:nvSpPr>
        <p:spPr>
          <a:xfrm>
            <a:off x="590550" y="723900"/>
            <a:ext cx="93345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55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3차(LLM Fine-Tuning)</a:t>
            </a:r>
          </a:p>
        </p:txBody>
      </p:sp>
      <p:sp>
        <p:nvSpPr>
          <p:cNvPr id="3" name="직선 연결선 2">
            <a:extLst>
              <a:ext uri="{FF2B5EF4-FFF2-40B4-BE49-F238E27FC236}">
                <a16:creationId xmlns:a16="http://schemas.microsoft.com/office/drawing/2014/main" id="{5253A410-D1FD-4001-BBB1-52933C9AA5DD}"/>
              </a:ext>
            </a:extLst>
          </p:cNvPr>
          <p:cNvSpPr>
            <a:spLocks noGrp="1"/>
          </p:cNvSpPr>
          <p:nvPr/>
        </p:nvSpPr>
        <p:spPr>
          <a:xfrm>
            <a:off x="590550" y="1295400"/>
            <a:ext cx="11010900" cy="0"/>
          </a:xfrm>
          <a:prstGeom prst="line">
            <a:avLst/>
          </a:prstGeom>
          <a:noFill/>
          <a:ln w="9525">
            <a:solidFill>
              <a:srgbClr val="D7DCE5"/>
            </a:solidFill>
            <a:prstDash val="solid"/>
          </a:ln>
        </p:spPr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B96A7996-6830-4671-BED7-588750DEBA57}"/>
              </a:ext>
            </a:extLst>
          </p:cNvPr>
          <p:cNvSpPr>
            <a:spLocks noGrp="1"/>
          </p:cNvSpPr>
          <p:nvPr/>
        </p:nvSpPr>
        <p:spPr>
          <a:xfrm>
            <a:off x="781050" y="1381125"/>
            <a:ext cx="99060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725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Fine-Tuning 학습 결과</a:t>
            </a:r>
          </a:p>
        </p:txBody>
      </p:sp>
      <p:pic>
        <p:nvPicPr>
          <p:cNvPr id="14" name="그림 13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1336349" y="1805242"/>
            <a:ext cx="4179157" cy="3799245"/>
          </a:xfrm>
          <a:prstGeom prst="roundRect">
            <a:avLst>
              <a:gd name="adj" fmla="val 2540"/>
            </a:avLst>
          </a:prstGeom>
        </p:spPr>
      </p:pic>
      <p:pic>
        <p:nvPicPr>
          <p:cNvPr id="15" name="그림 14"/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6506092" y="1803605"/>
            <a:ext cx="4181977" cy="3657907"/>
          </a:xfrm>
          <a:prstGeom prst="roundRect">
            <a:avLst>
              <a:gd name="adj" fmla="val 2540"/>
            </a:avLst>
          </a:prstGeom>
        </p:spPr>
      </p:pic>
      <p:sp>
        <p:nvSpPr>
          <p:cNvPr id="7" name="직사각형 6">
            <a:extLst>
              <a:ext uri="{FF2B5EF4-FFF2-40B4-BE49-F238E27FC236}">
                <a16:creationId xmlns:a16="http://schemas.microsoft.com/office/drawing/2014/main" id="{DC486D5B-A93C-4264-BCF2-D72993C67E2F}"/>
              </a:ext>
            </a:extLst>
          </p:cNvPr>
          <p:cNvSpPr>
            <a:spLocks noGrp="1"/>
          </p:cNvSpPr>
          <p:nvPr/>
        </p:nvSpPr>
        <p:spPr>
          <a:xfrm>
            <a:off x="3951339" y="5805642"/>
            <a:ext cx="5112774" cy="857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• 평가 손실 감소 추이와 런타임 변화 확인</a:t>
            </a:r>
          </a:p>
          <a:p>
            <a:pPr algn="l"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• 학습 step 증가에 따른 모델 수렴 흐름 점검</a:t>
            </a:r>
          </a:p>
          <a:p>
            <a:pPr algn="l"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• Fine-Tuning 결과와 훈련 환경 성능 검증 자료로 활용</a:t>
            </a:r>
          </a:p>
        </p:txBody>
      </p:sp>
    </p:spTree>
    <p:extLst>
      <p:ext uri="{BB962C8B-B14F-4D97-AF65-F5344CB8AC3E}">
        <p14:creationId xmlns:p14="http://schemas.microsoft.com/office/powerpoint/2010/main" val="1931785908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>
            <a:extLst>
              <a:ext uri="{FF2B5EF4-FFF2-40B4-BE49-F238E27FC236}">
                <a16:creationId xmlns:a16="http://schemas.microsoft.com/office/drawing/2014/main" id="{10EE1E39-36BA-4A67-B424-E74B3169F275}"/>
              </a:ext>
            </a:extLst>
          </p:cNvPr>
          <p:cNvSpPr>
            <a:spLocks noGrp="1"/>
          </p:cNvSpPr>
          <p:nvPr/>
        </p:nvSpPr>
        <p:spPr>
          <a:xfrm>
            <a:off x="590550" y="228600"/>
            <a:ext cx="762000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250" b="1">
                <a:solidFill>
                  <a:srgbClr val="3563E9"/>
                </a:solidFill>
                <a:latin typeface="Aptos"/>
                <a:ea typeface="Aptos"/>
                <a:cs typeface="Aptos"/>
              </a:defRPr>
            </a:pPr>
            <a:r>
              <a:rPr sz="2250" b="1">
                <a:solidFill>
                  <a:srgbClr val="3563E9"/>
                </a:solidFill>
                <a:latin typeface="Aptos"/>
                <a:ea typeface="Aptos"/>
                <a:cs typeface="Aptos"/>
              </a:rPr>
              <a:t>프로젝트별 주요 기능 및 소스코드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A5238D22-AB52-4A8C-B0D3-E78482D369D7}"/>
              </a:ext>
            </a:extLst>
          </p:cNvPr>
          <p:cNvSpPr>
            <a:spLocks noGrp="1"/>
          </p:cNvSpPr>
          <p:nvPr/>
        </p:nvSpPr>
        <p:spPr>
          <a:xfrm>
            <a:off x="7054412" y="1222082"/>
            <a:ext cx="47625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91440" tIns="45720" rIns="91440" bIns="45720" anchor="t"/>
          <a:lstStyle/>
          <a:p>
            <a:pPr>
              <a:defRPr sz="255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defRPr>
            </a:pPr>
            <a:r>
              <a:rPr sz="200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1차</a:t>
            </a:r>
            <a:r>
              <a:rPr lang="ko-KR" sz="200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 </a:t>
            </a:r>
            <a:r>
              <a:rPr lang="ko-KR" sz="2000" b="1" err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프로젝트</a:t>
            </a:r>
            <a:r>
              <a:rPr sz="200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(Python Full Stack &amp; ML)</a:t>
            </a:r>
            <a:endParaRPr lang="ko-KR" altLang="en-US" sz="2400" b="1">
              <a:solidFill>
                <a:srgbClr val="111827"/>
              </a:solidFill>
              <a:latin typeface="Aptos Display"/>
              <a:ea typeface="Aptos Display"/>
              <a:cs typeface="Aptos Display"/>
            </a:endParaRP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BBF573CA-AF8F-4308-9CB2-5F89DAC6D9BB}"/>
              </a:ext>
            </a:extLst>
          </p:cNvPr>
          <p:cNvSpPr>
            <a:spLocks noGrp="1"/>
          </p:cNvSpPr>
          <p:nvPr/>
        </p:nvSpPr>
        <p:spPr>
          <a:xfrm>
            <a:off x="7054201" y="1911728"/>
            <a:ext cx="99060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725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Multi-output XGBoost Training</a:t>
            </a:r>
          </a:p>
        </p:txBody>
      </p:sp>
      <p:pic>
        <p:nvPicPr>
          <p:cNvPr id="13" name="그림 12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591206" y="819373"/>
            <a:ext cx="6240938" cy="5699846"/>
          </a:xfrm>
          <a:prstGeom prst="roundRect">
            <a:avLst>
              <a:gd name="adj" fmla="val 2424"/>
            </a:avLst>
          </a:prstGeom>
        </p:spPr>
      </p:pic>
      <p:sp>
        <p:nvSpPr>
          <p:cNvPr id="6" name="직사각형 5">
            <a:extLst>
              <a:ext uri="{FF2B5EF4-FFF2-40B4-BE49-F238E27FC236}">
                <a16:creationId xmlns:a16="http://schemas.microsoft.com/office/drawing/2014/main" id="{9DBA9441-58B1-48ED-9EE4-59A7562A743A}"/>
              </a:ext>
            </a:extLst>
          </p:cNvPr>
          <p:cNvSpPr>
            <a:spLocks noGrp="1"/>
          </p:cNvSpPr>
          <p:nvPr/>
        </p:nvSpPr>
        <p:spPr>
          <a:xfrm>
            <a:off x="7055281" y="5655667"/>
            <a:ext cx="5057468" cy="857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• 감기/천식 예측용 XGBoost 회귀 모델 학습</a:t>
            </a:r>
          </a:p>
          <a:p>
            <a:pPr algn="l"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• D0~D+3 다중 날짜 예측</a:t>
            </a:r>
          </a:p>
          <a:p>
            <a:pPr algn="l"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• 학습 모델을 Flask 서비스용 pkl로 저장</a:t>
            </a:r>
          </a:p>
        </p:txBody>
      </p:sp>
      <p:sp>
        <p:nvSpPr>
          <p:cNvPr id="10" name="직선 연결선 9">
            <a:extLst>
              <a:ext uri="{FF2B5EF4-FFF2-40B4-BE49-F238E27FC236}">
                <a16:creationId xmlns:a16="http://schemas.microsoft.com/office/drawing/2014/main" id="{9A2EEFFD-8E62-3232-6066-885120ED97DE}"/>
              </a:ext>
            </a:extLst>
          </p:cNvPr>
          <p:cNvSpPr>
            <a:spLocks noGrp="1"/>
          </p:cNvSpPr>
          <p:nvPr/>
        </p:nvSpPr>
        <p:spPr>
          <a:xfrm>
            <a:off x="7152523" y="1747176"/>
            <a:ext cx="4573314" cy="0"/>
          </a:xfrm>
          <a:prstGeom prst="line">
            <a:avLst/>
          </a:prstGeom>
          <a:noFill/>
          <a:ln w="9525">
            <a:solidFill>
              <a:srgbClr val="D7DCE5"/>
            </a:solidFill>
            <a:prstDash val="solid"/>
          </a:ln>
        </p:spPr>
      </p:sp>
    </p:spTree>
    <p:extLst>
      <p:ext uri="{BB962C8B-B14F-4D97-AF65-F5344CB8AC3E}">
        <p14:creationId xmlns:p14="http://schemas.microsoft.com/office/powerpoint/2010/main" val="874368936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직사각형 18">
            <a:extLst>
              <a:ext uri="{FF2B5EF4-FFF2-40B4-BE49-F238E27FC236}">
                <a16:creationId xmlns:a16="http://schemas.microsoft.com/office/drawing/2014/main" id="{6784818A-8CB1-459E-8618-B644F1B4A654}"/>
              </a:ext>
            </a:extLst>
          </p:cNvPr>
          <p:cNvSpPr>
            <a:spLocks noGrp="1"/>
          </p:cNvSpPr>
          <p:nvPr/>
        </p:nvSpPr>
        <p:spPr>
          <a:xfrm>
            <a:off x="590550" y="228600"/>
            <a:ext cx="762000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250" b="1">
                <a:solidFill>
                  <a:srgbClr val="3563E9"/>
                </a:solidFill>
                <a:latin typeface="Aptos"/>
                <a:ea typeface="Aptos"/>
                <a:cs typeface="Aptos"/>
              </a:defRPr>
            </a:pPr>
            <a:r>
              <a:rPr sz="2250" b="1">
                <a:solidFill>
                  <a:srgbClr val="3563E9"/>
                </a:solidFill>
                <a:latin typeface="Aptos"/>
                <a:ea typeface="Aptos"/>
                <a:cs typeface="Aptos"/>
              </a:rPr>
              <a:t>Software Architecture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8B352B86-99C5-47D8-9EA6-301FD7DD3AC0}"/>
              </a:ext>
            </a:extLst>
          </p:cNvPr>
          <p:cNvSpPr>
            <a:spLocks noGrp="1"/>
          </p:cNvSpPr>
          <p:nvPr/>
        </p:nvSpPr>
        <p:spPr>
          <a:xfrm>
            <a:off x="590550" y="723900"/>
            <a:ext cx="93345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55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2차(Computer Vision)</a:t>
            </a:r>
          </a:p>
        </p:txBody>
      </p:sp>
      <p:sp>
        <p:nvSpPr>
          <p:cNvPr id="3" name="직선 연결선 2">
            <a:extLst>
              <a:ext uri="{FF2B5EF4-FFF2-40B4-BE49-F238E27FC236}">
                <a16:creationId xmlns:a16="http://schemas.microsoft.com/office/drawing/2014/main" id="{A930E241-01A9-4B81-991E-AD4E919A5A21}"/>
              </a:ext>
            </a:extLst>
          </p:cNvPr>
          <p:cNvSpPr>
            <a:spLocks noGrp="1"/>
          </p:cNvSpPr>
          <p:nvPr/>
        </p:nvSpPr>
        <p:spPr>
          <a:xfrm>
            <a:off x="590550" y="1295400"/>
            <a:ext cx="11010900" cy="0"/>
          </a:xfrm>
          <a:prstGeom prst="line">
            <a:avLst/>
          </a:prstGeom>
          <a:noFill/>
          <a:ln w="9525">
            <a:solidFill>
              <a:srgbClr val="D7DCE5"/>
            </a:solidFill>
            <a:prstDash val="solid"/>
          </a:ln>
        </p:spPr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AB2120F4-39D2-4DCF-89FF-8102D1C07A96}"/>
              </a:ext>
            </a:extLst>
          </p:cNvPr>
          <p:cNvSpPr>
            <a:spLocks noGrp="1"/>
          </p:cNvSpPr>
          <p:nvPr/>
        </p:nvSpPr>
        <p:spPr>
          <a:xfrm>
            <a:off x="666750" y="2000250"/>
            <a:ext cx="1666875" cy="781050"/>
          </a:xfrm>
          <a:prstGeom prst="roundRect">
            <a:avLst>
              <a:gd name="adj" fmla="val 9756"/>
            </a:avLst>
          </a:prstGeom>
          <a:solidFill>
            <a:srgbClr val="F7F9FC"/>
          </a:solidFill>
          <a:ln w="9525">
            <a:solidFill>
              <a:srgbClr val="DBE3EF"/>
            </a:solidFill>
            <a:prstDash val="solid"/>
          </a:ln>
        </p:spPr>
        <p:txBody>
          <a:bodyPr lIns="91440" tIns="45720" rIns="91440" bIns="45720" anchor="ctr"/>
          <a:lstStyle/>
          <a:p>
            <a:pPr algn="ctr">
              <a:defRPr sz="1200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사용자 브라우저</a:t>
            </a:r>
          </a:p>
        </p:txBody>
      </p:sp>
      <p:sp>
        <p:nvSpPr>
          <p:cNvPr id="5" name="사각형: 둥근 모서리 4">
            <a:extLst>
              <a:ext uri="{FF2B5EF4-FFF2-40B4-BE49-F238E27FC236}">
                <a16:creationId xmlns:a16="http://schemas.microsoft.com/office/drawing/2014/main" id="{9DB15EEC-B9B3-4B83-90D5-CC3D46DFD078}"/>
              </a:ext>
            </a:extLst>
          </p:cNvPr>
          <p:cNvSpPr>
            <a:spLocks noGrp="1"/>
          </p:cNvSpPr>
          <p:nvPr/>
        </p:nvSpPr>
        <p:spPr>
          <a:xfrm>
            <a:off x="2505075" y="2000250"/>
            <a:ext cx="1666875" cy="781050"/>
          </a:xfrm>
          <a:prstGeom prst="roundRect">
            <a:avLst>
              <a:gd name="adj" fmla="val 9756"/>
            </a:avLst>
          </a:prstGeom>
          <a:solidFill>
            <a:srgbClr val="F7F9FC"/>
          </a:solidFill>
          <a:ln w="9525">
            <a:solidFill>
              <a:srgbClr val="DBE3EF"/>
            </a:solidFill>
            <a:prstDash val="solid"/>
          </a:ln>
        </p:spPr>
        <p:txBody>
          <a:bodyPr lIns="91440" tIns="45720" rIns="91440" bIns="45720" anchor="ctr"/>
          <a:lstStyle/>
          <a:p>
            <a:pPr algn="ctr">
              <a:defRPr sz="1200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Flask/RESTX API</a:t>
            </a:r>
          </a:p>
        </p:txBody>
      </p:sp>
      <p:sp>
        <p:nvSpPr>
          <p:cNvPr id="6" name="사각형: 둥근 모서리 5">
            <a:extLst>
              <a:ext uri="{FF2B5EF4-FFF2-40B4-BE49-F238E27FC236}">
                <a16:creationId xmlns:a16="http://schemas.microsoft.com/office/drawing/2014/main" id="{BA3F4051-B31F-4A96-A518-F39CF15975BE}"/>
              </a:ext>
            </a:extLst>
          </p:cNvPr>
          <p:cNvSpPr>
            <a:spLocks noGrp="1"/>
          </p:cNvSpPr>
          <p:nvPr/>
        </p:nvSpPr>
        <p:spPr>
          <a:xfrm>
            <a:off x="4343400" y="2000250"/>
            <a:ext cx="1666875" cy="781050"/>
          </a:xfrm>
          <a:prstGeom prst="roundRect">
            <a:avLst>
              <a:gd name="adj" fmla="val 9756"/>
            </a:avLst>
          </a:prstGeom>
          <a:solidFill>
            <a:srgbClr val="F7F9FC"/>
          </a:solidFill>
          <a:ln w="9525">
            <a:solidFill>
              <a:srgbClr val="DBE3EF"/>
            </a:solidFill>
            <a:prstDash val="solid"/>
          </a:ln>
        </p:spPr>
        <p:txBody>
          <a:bodyPr lIns="91440" tIns="45720" rIns="91440" bIns="45720" anchor="ctr"/>
          <a:lstStyle/>
          <a:p>
            <a:pPr algn="ctr">
              <a:defRPr sz="1200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OpenCV 영상 처리</a:t>
            </a:r>
          </a:p>
        </p:txBody>
      </p:sp>
      <p:sp>
        <p:nvSpPr>
          <p:cNvPr id="7" name="사각형: 둥근 모서리 6">
            <a:extLst>
              <a:ext uri="{FF2B5EF4-FFF2-40B4-BE49-F238E27FC236}">
                <a16:creationId xmlns:a16="http://schemas.microsoft.com/office/drawing/2014/main" id="{68057DFA-9EFC-4333-904E-0FFF47DBF50A}"/>
              </a:ext>
            </a:extLst>
          </p:cNvPr>
          <p:cNvSpPr>
            <a:spLocks noGrp="1"/>
          </p:cNvSpPr>
          <p:nvPr/>
        </p:nvSpPr>
        <p:spPr>
          <a:xfrm>
            <a:off x="6181725" y="2000250"/>
            <a:ext cx="1666875" cy="781050"/>
          </a:xfrm>
          <a:prstGeom prst="roundRect">
            <a:avLst>
              <a:gd name="adj" fmla="val 9756"/>
            </a:avLst>
          </a:prstGeom>
          <a:solidFill>
            <a:srgbClr val="F7F9FC"/>
          </a:solidFill>
          <a:ln w="9525">
            <a:solidFill>
              <a:srgbClr val="DBE3EF"/>
            </a:solidFill>
            <a:prstDash val="solid"/>
          </a:ln>
        </p:spPr>
        <p:txBody>
          <a:bodyPr lIns="91440" tIns="45720" rIns="91440" bIns="45720" anchor="ctr"/>
          <a:lstStyle/>
          <a:p>
            <a:pPr algn="ctr">
              <a:defRPr sz="1200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YOLO 모델</a:t>
            </a:r>
          </a:p>
        </p:txBody>
      </p:sp>
      <p:sp>
        <p:nvSpPr>
          <p:cNvPr id="8" name="사각형: 둥근 모서리 7">
            <a:extLst>
              <a:ext uri="{FF2B5EF4-FFF2-40B4-BE49-F238E27FC236}">
                <a16:creationId xmlns:a16="http://schemas.microsoft.com/office/drawing/2014/main" id="{2F9A9481-DC10-4F56-82EC-C9914A269844}"/>
              </a:ext>
            </a:extLst>
          </p:cNvPr>
          <p:cNvSpPr>
            <a:spLocks noGrp="1"/>
          </p:cNvSpPr>
          <p:nvPr/>
        </p:nvSpPr>
        <p:spPr>
          <a:xfrm>
            <a:off x="8020050" y="2000250"/>
            <a:ext cx="1666875" cy="781050"/>
          </a:xfrm>
          <a:prstGeom prst="roundRect">
            <a:avLst>
              <a:gd name="adj" fmla="val 9756"/>
            </a:avLst>
          </a:prstGeom>
          <a:solidFill>
            <a:srgbClr val="F7F9FC"/>
          </a:solidFill>
          <a:ln w="9525">
            <a:solidFill>
              <a:srgbClr val="DBE3EF"/>
            </a:solidFill>
            <a:prstDash val="solid"/>
          </a:ln>
        </p:spPr>
        <p:txBody>
          <a:bodyPr lIns="91440" tIns="45720" rIns="91440" bIns="45720" anchor="ctr"/>
          <a:lstStyle/>
          <a:p>
            <a:pPr algn="ctr">
              <a:defRPr sz="1200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위험도 계산</a:t>
            </a:r>
          </a:p>
        </p:txBody>
      </p:sp>
      <p:sp>
        <p:nvSpPr>
          <p:cNvPr id="9" name="사각형: 둥근 모서리 8">
            <a:extLst>
              <a:ext uri="{FF2B5EF4-FFF2-40B4-BE49-F238E27FC236}">
                <a16:creationId xmlns:a16="http://schemas.microsoft.com/office/drawing/2014/main" id="{D31390DF-42A6-415D-8525-BD557787859E}"/>
              </a:ext>
            </a:extLst>
          </p:cNvPr>
          <p:cNvSpPr>
            <a:spLocks noGrp="1"/>
          </p:cNvSpPr>
          <p:nvPr/>
        </p:nvSpPr>
        <p:spPr>
          <a:xfrm>
            <a:off x="9858375" y="2000250"/>
            <a:ext cx="1666875" cy="781050"/>
          </a:xfrm>
          <a:prstGeom prst="roundRect">
            <a:avLst>
              <a:gd name="adj" fmla="val 9756"/>
            </a:avLst>
          </a:prstGeom>
          <a:solidFill>
            <a:srgbClr val="1F8A5B">
              <a:alpha val="9412"/>
            </a:srgbClr>
          </a:solidFill>
          <a:ln w="9525">
            <a:solidFill>
              <a:srgbClr val="1F8A5B">
                <a:alpha val="50196"/>
              </a:srgbClr>
            </a:solidFill>
            <a:prstDash val="solid"/>
          </a:ln>
        </p:spPr>
        <p:txBody>
          <a:bodyPr lIns="91440" tIns="45720" rIns="91440" bIns="45720" anchor="ctr"/>
          <a:lstStyle/>
          <a:p>
            <a:pPr algn="ctr">
              <a:defRPr sz="1200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스트리밍/API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9A4F73D8-0145-4DA8-AC85-2237BA39F072}"/>
              </a:ext>
            </a:extLst>
          </p:cNvPr>
          <p:cNvSpPr>
            <a:spLocks noGrp="1"/>
          </p:cNvSpPr>
          <p:nvPr/>
        </p:nvSpPr>
        <p:spPr>
          <a:xfrm>
            <a:off x="2305050" y="2238375"/>
            <a:ext cx="2286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350" b="1">
                <a:solidFill>
                  <a:srgbClr val="94A3B8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94A3B8"/>
                </a:solidFill>
                <a:latin typeface="Aptos"/>
                <a:ea typeface="Aptos"/>
                <a:cs typeface="Aptos"/>
              </a:rPr>
              <a:t>→</a:t>
            </a: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03236F99-4AC8-491C-AE6F-1F881A2489D9}"/>
              </a:ext>
            </a:extLst>
          </p:cNvPr>
          <p:cNvSpPr>
            <a:spLocks noGrp="1"/>
          </p:cNvSpPr>
          <p:nvPr/>
        </p:nvSpPr>
        <p:spPr>
          <a:xfrm>
            <a:off x="4143375" y="2238375"/>
            <a:ext cx="2286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350" b="1">
                <a:solidFill>
                  <a:srgbClr val="94A3B8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94A3B8"/>
                </a:solidFill>
                <a:latin typeface="Aptos"/>
                <a:ea typeface="Aptos"/>
                <a:cs typeface="Aptos"/>
              </a:rPr>
              <a:t>→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5EB8B0EA-11B5-4493-A51D-93BA1A979D86}"/>
              </a:ext>
            </a:extLst>
          </p:cNvPr>
          <p:cNvSpPr>
            <a:spLocks noGrp="1"/>
          </p:cNvSpPr>
          <p:nvPr/>
        </p:nvSpPr>
        <p:spPr>
          <a:xfrm>
            <a:off x="5981700" y="2238375"/>
            <a:ext cx="2286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350" b="1">
                <a:solidFill>
                  <a:srgbClr val="94A3B8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94A3B8"/>
                </a:solidFill>
                <a:latin typeface="Aptos"/>
                <a:ea typeface="Aptos"/>
                <a:cs typeface="Aptos"/>
              </a:rPr>
              <a:t>→</a:t>
            </a: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318418B5-8AD3-469C-ADFE-ECF2B2605D7F}"/>
              </a:ext>
            </a:extLst>
          </p:cNvPr>
          <p:cNvSpPr>
            <a:spLocks noGrp="1"/>
          </p:cNvSpPr>
          <p:nvPr/>
        </p:nvSpPr>
        <p:spPr>
          <a:xfrm>
            <a:off x="7820025" y="2238375"/>
            <a:ext cx="2286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350" b="1">
                <a:solidFill>
                  <a:srgbClr val="94A3B8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94A3B8"/>
                </a:solidFill>
                <a:latin typeface="Aptos"/>
                <a:ea typeface="Aptos"/>
                <a:cs typeface="Aptos"/>
              </a:rPr>
              <a:t>→</a:t>
            </a: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AC69949A-F834-40FA-9842-2277B6FE02E9}"/>
              </a:ext>
            </a:extLst>
          </p:cNvPr>
          <p:cNvSpPr>
            <a:spLocks noGrp="1"/>
          </p:cNvSpPr>
          <p:nvPr/>
        </p:nvSpPr>
        <p:spPr>
          <a:xfrm>
            <a:off x="9658350" y="2238375"/>
            <a:ext cx="2286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350" b="1">
                <a:solidFill>
                  <a:srgbClr val="94A3B8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94A3B8"/>
                </a:solidFill>
                <a:latin typeface="Aptos"/>
                <a:ea typeface="Aptos"/>
                <a:cs typeface="Aptos"/>
              </a:rPr>
              <a:t>→</a:t>
            </a: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DD26146D-8942-4E84-B3F5-0F4CBC100986}"/>
              </a:ext>
            </a:extLst>
          </p:cNvPr>
          <p:cNvSpPr>
            <a:spLocks noGrp="1"/>
          </p:cNvSpPr>
          <p:nvPr/>
        </p:nvSpPr>
        <p:spPr>
          <a:xfrm>
            <a:off x="4459671" y="3833649"/>
            <a:ext cx="75819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575" b="1">
                <a:solidFill>
                  <a:srgbClr val="1F8A5B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1F8A5B"/>
                </a:solidFill>
                <a:latin typeface="Aptos"/>
                <a:ea typeface="Aptos"/>
                <a:cs typeface="Aptos"/>
              </a:rPr>
              <a:t>핵심 구조</a:t>
            </a: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3A16DEA7-64F7-4CB5-ABC6-2E0B1BA0026A}"/>
              </a:ext>
            </a:extLst>
          </p:cNvPr>
          <p:cNvSpPr>
            <a:spLocks noGrp="1"/>
          </p:cNvSpPr>
          <p:nvPr/>
        </p:nvSpPr>
        <p:spPr>
          <a:xfrm>
            <a:off x="4459671" y="4233699"/>
            <a:ext cx="7581900" cy="7524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• YOLO 기반 객체 탐지</a:t>
            </a:r>
          </a:p>
          <a:p>
            <a:pPr algn="l"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• 탐지 결과를 위험도 계산 로직에 반영</a:t>
            </a:r>
          </a:p>
          <a:p>
            <a:pPr algn="l"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• DB 없이 영상, 모델, API 중심 구성</a:t>
            </a:r>
          </a:p>
        </p:txBody>
      </p:sp>
    </p:spTree>
    <p:extLst>
      <p:ext uri="{BB962C8B-B14F-4D97-AF65-F5344CB8AC3E}">
        <p14:creationId xmlns:p14="http://schemas.microsoft.com/office/powerpoint/2010/main" val="582622666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직사각형 18">
            <a:extLst>
              <a:ext uri="{FF2B5EF4-FFF2-40B4-BE49-F238E27FC236}">
                <a16:creationId xmlns:a16="http://schemas.microsoft.com/office/drawing/2014/main" id="{E7A49756-3FCE-476F-AC18-A38492F1D841}"/>
              </a:ext>
            </a:extLst>
          </p:cNvPr>
          <p:cNvSpPr>
            <a:spLocks noGrp="1"/>
          </p:cNvSpPr>
          <p:nvPr/>
        </p:nvSpPr>
        <p:spPr>
          <a:xfrm>
            <a:off x="590550" y="228600"/>
            <a:ext cx="762000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250" b="1">
                <a:solidFill>
                  <a:srgbClr val="3563E9"/>
                </a:solidFill>
                <a:latin typeface="Aptos"/>
                <a:ea typeface="Aptos"/>
                <a:cs typeface="Aptos"/>
              </a:defRPr>
            </a:pPr>
            <a:r>
              <a:rPr sz="2250" b="1">
                <a:solidFill>
                  <a:srgbClr val="3563E9"/>
                </a:solidFill>
                <a:latin typeface="Aptos"/>
                <a:ea typeface="Aptos"/>
                <a:cs typeface="Aptos"/>
              </a:rPr>
              <a:t>Software Architecture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9F7A0364-7468-4FAB-A404-78BD18CDC3E6}"/>
              </a:ext>
            </a:extLst>
          </p:cNvPr>
          <p:cNvSpPr>
            <a:spLocks noGrp="1"/>
          </p:cNvSpPr>
          <p:nvPr/>
        </p:nvSpPr>
        <p:spPr>
          <a:xfrm>
            <a:off x="590550" y="723900"/>
            <a:ext cx="93345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55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3차(LLM Fine-Tuning)</a:t>
            </a:r>
          </a:p>
        </p:txBody>
      </p:sp>
      <p:sp>
        <p:nvSpPr>
          <p:cNvPr id="3" name="직선 연결선 2">
            <a:extLst>
              <a:ext uri="{FF2B5EF4-FFF2-40B4-BE49-F238E27FC236}">
                <a16:creationId xmlns:a16="http://schemas.microsoft.com/office/drawing/2014/main" id="{14610851-2E47-40C7-B9BC-FB365BE44A51}"/>
              </a:ext>
            </a:extLst>
          </p:cNvPr>
          <p:cNvSpPr>
            <a:spLocks noGrp="1"/>
          </p:cNvSpPr>
          <p:nvPr/>
        </p:nvSpPr>
        <p:spPr>
          <a:xfrm>
            <a:off x="590550" y="1295400"/>
            <a:ext cx="11010900" cy="0"/>
          </a:xfrm>
          <a:prstGeom prst="line">
            <a:avLst/>
          </a:prstGeom>
          <a:noFill/>
          <a:ln w="9525">
            <a:solidFill>
              <a:srgbClr val="D7DCE5"/>
            </a:solidFill>
            <a:prstDash val="solid"/>
          </a:ln>
        </p:spPr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EA2779BF-596C-4DC0-ACA5-9E05D67B9D05}"/>
              </a:ext>
            </a:extLst>
          </p:cNvPr>
          <p:cNvSpPr>
            <a:spLocks noGrp="1"/>
          </p:cNvSpPr>
          <p:nvPr/>
        </p:nvSpPr>
        <p:spPr>
          <a:xfrm>
            <a:off x="666750" y="2000250"/>
            <a:ext cx="1666875" cy="781050"/>
          </a:xfrm>
          <a:prstGeom prst="roundRect">
            <a:avLst>
              <a:gd name="adj" fmla="val 9756"/>
            </a:avLst>
          </a:prstGeom>
          <a:solidFill>
            <a:srgbClr val="F7F9FC"/>
          </a:solidFill>
          <a:ln w="9525">
            <a:solidFill>
              <a:srgbClr val="DBE3EF"/>
            </a:solidFill>
            <a:prstDash val="solid"/>
          </a:ln>
        </p:spPr>
        <p:txBody>
          <a:bodyPr lIns="91440" tIns="45720" rIns="91440" bIns="45720" anchor="ctr"/>
          <a:lstStyle/>
          <a:p>
            <a:pPr algn="ctr">
              <a:defRPr sz="1200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사용자 요청</a:t>
            </a:r>
          </a:p>
        </p:txBody>
      </p:sp>
      <p:sp>
        <p:nvSpPr>
          <p:cNvPr id="5" name="사각형: 둥근 모서리 4">
            <a:extLst>
              <a:ext uri="{FF2B5EF4-FFF2-40B4-BE49-F238E27FC236}">
                <a16:creationId xmlns:a16="http://schemas.microsoft.com/office/drawing/2014/main" id="{A3D05026-04CF-425F-B12E-15BC669D60A3}"/>
              </a:ext>
            </a:extLst>
          </p:cNvPr>
          <p:cNvSpPr>
            <a:spLocks noGrp="1"/>
          </p:cNvSpPr>
          <p:nvPr/>
        </p:nvSpPr>
        <p:spPr>
          <a:xfrm>
            <a:off x="2505075" y="2000250"/>
            <a:ext cx="1666875" cy="781050"/>
          </a:xfrm>
          <a:prstGeom prst="roundRect">
            <a:avLst>
              <a:gd name="adj" fmla="val 9756"/>
            </a:avLst>
          </a:prstGeom>
          <a:solidFill>
            <a:srgbClr val="F7F9FC"/>
          </a:solidFill>
          <a:ln w="9525">
            <a:solidFill>
              <a:srgbClr val="DBE3EF"/>
            </a:solidFill>
            <a:prstDash val="solid"/>
          </a:ln>
        </p:spPr>
        <p:txBody>
          <a:bodyPr lIns="91440" tIns="45720" rIns="91440" bIns="45720" anchor="ctr"/>
          <a:lstStyle/>
          <a:p>
            <a:pPr algn="ctr">
              <a:defRPr sz="1200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Flask-RESTX API</a:t>
            </a:r>
          </a:p>
        </p:txBody>
      </p:sp>
      <p:sp>
        <p:nvSpPr>
          <p:cNvPr id="6" name="사각형: 둥근 모서리 5">
            <a:extLst>
              <a:ext uri="{FF2B5EF4-FFF2-40B4-BE49-F238E27FC236}">
                <a16:creationId xmlns:a16="http://schemas.microsoft.com/office/drawing/2014/main" id="{2CB3408D-4B9E-4F46-A6FE-4EFA74634890}"/>
              </a:ext>
            </a:extLst>
          </p:cNvPr>
          <p:cNvSpPr>
            <a:spLocks noGrp="1"/>
          </p:cNvSpPr>
          <p:nvPr/>
        </p:nvSpPr>
        <p:spPr>
          <a:xfrm>
            <a:off x="4343400" y="2000250"/>
            <a:ext cx="1666875" cy="781050"/>
          </a:xfrm>
          <a:prstGeom prst="roundRect">
            <a:avLst>
              <a:gd name="adj" fmla="val 9756"/>
            </a:avLst>
          </a:prstGeom>
          <a:solidFill>
            <a:srgbClr val="F7F9FC"/>
          </a:solidFill>
          <a:ln w="9525">
            <a:solidFill>
              <a:srgbClr val="DBE3EF"/>
            </a:solidFill>
            <a:prstDash val="solid"/>
          </a:ln>
        </p:spPr>
        <p:txBody>
          <a:bodyPr lIns="91440" tIns="45720" rIns="91440" bIns="45720" anchor="ctr"/>
          <a:lstStyle/>
          <a:p>
            <a:pPr algn="ctr">
              <a:defRPr sz="1200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MCP Client</a:t>
            </a:r>
          </a:p>
        </p:txBody>
      </p:sp>
      <p:sp>
        <p:nvSpPr>
          <p:cNvPr id="7" name="사각형: 둥근 모서리 6">
            <a:extLst>
              <a:ext uri="{FF2B5EF4-FFF2-40B4-BE49-F238E27FC236}">
                <a16:creationId xmlns:a16="http://schemas.microsoft.com/office/drawing/2014/main" id="{B00AEFF9-2827-494F-A2DC-9F2354537F0E}"/>
              </a:ext>
            </a:extLst>
          </p:cNvPr>
          <p:cNvSpPr>
            <a:spLocks noGrp="1"/>
          </p:cNvSpPr>
          <p:nvPr/>
        </p:nvSpPr>
        <p:spPr>
          <a:xfrm>
            <a:off x="6181725" y="2000250"/>
            <a:ext cx="1666875" cy="781050"/>
          </a:xfrm>
          <a:prstGeom prst="roundRect">
            <a:avLst>
              <a:gd name="adj" fmla="val 9756"/>
            </a:avLst>
          </a:prstGeom>
          <a:solidFill>
            <a:srgbClr val="F7F9FC"/>
          </a:solidFill>
          <a:ln w="9525">
            <a:solidFill>
              <a:srgbClr val="DBE3EF"/>
            </a:solidFill>
            <a:prstDash val="solid"/>
          </a:ln>
        </p:spPr>
        <p:txBody>
          <a:bodyPr lIns="91440" tIns="45720" rIns="91440" bIns="45720" anchor="ctr"/>
          <a:lstStyle/>
          <a:p>
            <a:pPr algn="ctr">
              <a:defRPr sz="1200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MCP Server Tool</a:t>
            </a:r>
          </a:p>
        </p:txBody>
      </p:sp>
      <p:sp>
        <p:nvSpPr>
          <p:cNvPr id="8" name="사각형: 둥근 모서리 7">
            <a:extLst>
              <a:ext uri="{FF2B5EF4-FFF2-40B4-BE49-F238E27FC236}">
                <a16:creationId xmlns:a16="http://schemas.microsoft.com/office/drawing/2014/main" id="{6AB5928D-35D4-42CB-9ECD-3BE57BC04099}"/>
              </a:ext>
            </a:extLst>
          </p:cNvPr>
          <p:cNvSpPr>
            <a:spLocks noGrp="1"/>
          </p:cNvSpPr>
          <p:nvPr/>
        </p:nvSpPr>
        <p:spPr>
          <a:xfrm>
            <a:off x="8020050" y="2000250"/>
            <a:ext cx="1666875" cy="781050"/>
          </a:xfrm>
          <a:prstGeom prst="roundRect">
            <a:avLst>
              <a:gd name="adj" fmla="val 9756"/>
            </a:avLst>
          </a:prstGeom>
          <a:solidFill>
            <a:srgbClr val="F7F9FC"/>
          </a:solidFill>
          <a:ln w="9525">
            <a:solidFill>
              <a:srgbClr val="DBE3EF"/>
            </a:solidFill>
            <a:prstDash val="solid"/>
          </a:ln>
        </p:spPr>
        <p:txBody>
          <a:bodyPr lIns="91440" tIns="45720" rIns="91440" bIns="45720" anchor="ctr"/>
          <a:lstStyle/>
          <a:p>
            <a:pPr algn="ctr">
              <a:defRPr sz="1200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vLLM 서버</a:t>
            </a:r>
          </a:p>
        </p:txBody>
      </p:sp>
      <p:sp>
        <p:nvSpPr>
          <p:cNvPr id="9" name="사각형: 둥근 모서리 8">
            <a:extLst>
              <a:ext uri="{FF2B5EF4-FFF2-40B4-BE49-F238E27FC236}">
                <a16:creationId xmlns:a16="http://schemas.microsoft.com/office/drawing/2014/main" id="{D2DE57B0-0B38-468F-9C26-A854F2050F14}"/>
              </a:ext>
            </a:extLst>
          </p:cNvPr>
          <p:cNvSpPr>
            <a:spLocks noGrp="1"/>
          </p:cNvSpPr>
          <p:nvPr/>
        </p:nvSpPr>
        <p:spPr>
          <a:xfrm>
            <a:off x="9858375" y="2000250"/>
            <a:ext cx="1666875" cy="781050"/>
          </a:xfrm>
          <a:prstGeom prst="roundRect">
            <a:avLst>
              <a:gd name="adj" fmla="val 9756"/>
            </a:avLst>
          </a:prstGeom>
          <a:solidFill>
            <a:srgbClr val="3563E9">
              <a:alpha val="9412"/>
            </a:srgbClr>
          </a:solidFill>
          <a:ln w="9525">
            <a:solidFill>
              <a:srgbClr val="3563E9">
                <a:alpha val="50196"/>
              </a:srgbClr>
            </a:solidFill>
            <a:prstDash val="solid"/>
          </a:ln>
        </p:spPr>
        <p:txBody>
          <a:bodyPr lIns="91440" tIns="45720" rIns="91440" bIns="45720" anchor="ctr"/>
          <a:lstStyle/>
          <a:p>
            <a:pPr algn="ctr">
              <a:defRPr sz="1200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튜터 응답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DDAAB8F4-6D98-4D8D-AA85-96796B56FE1C}"/>
              </a:ext>
            </a:extLst>
          </p:cNvPr>
          <p:cNvSpPr>
            <a:spLocks noGrp="1"/>
          </p:cNvSpPr>
          <p:nvPr/>
        </p:nvSpPr>
        <p:spPr>
          <a:xfrm>
            <a:off x="2305050" y="2238375"/>
            <a:ext cx="2286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350" b="1">
                <a:solidFill>
                  <a:srgbClr val="94A3B8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94A3B8"/>
                </a:solidFill>
                <a:latin typeface="Aptos"/>
                <a:ea typeface="Aptos"/>
                <a:cs typeface="Aptos"/>
              </a:rPr>
              <a:t>→</a:t>
            </a: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DF279243-9CCF-4BEA-892D-5E483E74C875}"/>
              </a:ext>
            </a:extLst>
          </p:cNvPr>
          <p:cNvSpPr>
            <a:spLocks noGrp="1"/>
          </p:cNvSpPr>
          <p:nvPr/>
        </p:nvSpPr>
        <p:spPr>
          <a:xfrm>
            <a:off x="4143375" y="2238375"/>
            <a:ext cx="2286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350" b="1">
                <a:solidFill>
                  <a:srgbClr val="94A3B8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94A3B8"/>
                </a:solidFill>
                <a:latin typeface="Aptos"/>
                <a:ea typeface="Aptos"/>
                <a:cs typeface="Aptos"/>
              </a:rPr>
              <a:t>→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DF4E8E2F-4F87-4B9C-882C-7F17B93A97FC}"/>
              </a:ext>
            </a:extLst>
          </p:cNvPr>
          <p:cNvSpPr>
            <a:spLocks noGrp="1"/>
          </p:cNvSpPr>
          <p:nvPr/>
        </p:nvSpPr>
        <p:spPr>
          <a:xfrm>
            <a:off x="5981700" y="2238375"/>
            <a:ext cx="2286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350" b="1">
                <a:solidFill>
                  <a:srgbClr val="94A3B8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94A3B8"/>
                </a:solidFill>
                <a:latin typeface="Aptos"/>
                <a:ea typeface="Aptos"/>
                <a:cs typeface="Aptos"/>
              </a:rPr>
              <a:t>→</a:t>
            </a: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52840CFB-25F5-4B02-83DC-2D0684666170}"/>
              </a:ext>
            </a:extLst>
          </p:cNvPr>
          <p:cNvSpPr>
            <a:spLocks noGrp="1"/>
          </p:cNvSpPr>
          <p:nvPr/>
        </p:nvSpPr>
        <p:spPr>
          <a:xfrm>
            <a:off x="7820025" y="2238375"/>
            <a:ext cx="2286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350" b="1">
                <a:solidFill>
                  <a:srgbClr val="94A3B8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94A3B8"/>
                </a:solidFill>
                <a:latin typeface="Aptos"/>
                <a:ea typeface="Aptos"/>
                <a:cs typeface="Aptos"/>
              </a:rPr>
              <a:t>→</a:t>
            </a: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C92EADCF-1BD9-4ACF-968A-57183B7355F8}"/>
              </a:ext>
            </a:extLst>
          </p:cNvPr>
          <p:cNvSpPr>
            <a:spLocks noGrp="1"/>
          </p:cNvSpPr>
          <p:nvPr/>
        </p:nvSpPr>
        <p:spPr>
          <a:xfrm>
            <a:off x="9658350" y="2238375"/>
            <a:ext cx="2286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350" b="1">
                <a:solidFill>
                  <a:srgbClr val="94A3B8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94A3B8"/>
                </a:solidFill>
                <a:latin typeface="Aptos"/>
                <a:ea typeface="Aptos"/>
                <a:cs typeface="Aptos"/>
              </a:rPr>
              <a:t>→</a:t>
            </a: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BC59FCA6-80DD-42CF-B73B-73F9E641D999}"/>
              </a:ext>
            </a:extLst>
          </p:cNvPr>
          <p:cNvSpPr>
            <a:spLocks noGrp="1"/>
          </p:cNvSpPr>
          <p:nvPr/>
        </p:nvSpPr>
        <p:spPr>
          <a:xfrm>
            <a:off x="4091809" y="3899338"/>
            <a:ext cx="75819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575" b="1">
                <a:solidFill>
                  <a:srgbClr val="3563E9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3563E9"/>
                </a:solidFill>
                <a:latin typeface="Aptos"/>
                <a:ea typeface="Aptos"/>
                <a:cs typeface="Aptos"/>
              </a:rPr>
              <a:t>핵심 구조</a:t>
            </a: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765A1972-6131-4B9C-BFB9-BB68F4EDECEA}"/>
              </a:ext>
            </a:extLst>
          </p:cNvPr>
          <p:cNvSpPr>
            <a:spLocks noGrp="1"/>
          </p:cNvSpPr>
          <p:nvPr/>
        </p:nvSpPr>
        <p:spPr>
          <a:xfrm>
            <a:off x="4091809" y="4299388"/>
            <a:ext cx="7581900" cy="7524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• Fine-Tuning 모델 기반 Unity/GameDev 튜터</a:t>
            </a:r>
          </a:p>
          <a:p>
            <a:pPr algn="l"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• API 계층과 추론 계층 분리</a:t>
            </a:r>
          </a:p>
          <a:p>
            <a:pPr algn="l"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• 응답 후처리로 서비스 응답 정리</a:t>
            </a:r>
          </a:p>
        </p:txBody>
      </p:sp>
    </p:spTree>
    <p:extLst>
      <p:ext uri="{BB962C8B-B14F-4D97-AF65-F5344CB8AC3E}">
        <p14:creationId xmlns:p14="http://schemas.microsoft.com/office/powerpoint/2010/main" val="1730623714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직사각형 18">
            <a:extLst>
              <a:ext uri="{FF2B5EF4-FFF2-40B4-BE49-F238E27FC236}">
                <a16:creationId xmlns:a16="http://schemas.microsoft.com/office/drawing/2014/main" id="{27B6F1F4-4AF2-45C0-B17F-D34C1344D913}"/>
              </a:ext>
            </a:extLst>
          </p:cNvPr>
          <p:cNvSpPr>
            <a:spLocks noGrp="1"/>
          </p:cNvSpPr>
          <p:nvPr/>
        </p:nvSpPr>
        <p:spPr>
          <a:xfrm>
            <a:off x="590550" y="228600"/>
            <a:ext cx="762000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250" b="1">
                <a:solidFill>
                  <a:srgbClr val="3563E9"/>
                </a:solidFill>
                <a:latin typeface="Aptos"/>
                <a:ea typeface="Aptos"/>
                <a:cs typeface="Aptos"/>
              </a:defRPr>
            </a:pPr>
            <a:r>
              <a:rPr sz="2250" b="1">
                <a:solidFill>
                  <a:srgbClr val="3563E9"/>
                </a:solidFill>
                <a:latin typeface="Aptos"/>
                <a:ea typeface="Aptos"/>
                <a:cs typeface="Aptos"/>
              </a:rPr>
              <a:t>Software Architecture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B6E7A6DF-6D69-4A21-BE0C-1A8418097807}"/>
              </a:ext>
            </a:extLst>
          </p:cNvPr>
          <p:cNvSpPr>
            <a:spLocks noGrp="1"/>
          </p:cNvSpPr>
          <p:nvPr/>
        </p:nvSpPr>
        <p:spPr>
          <a:xfrm>
            <a:off x="590550" y="723900"/>
            <a:ext cx="93345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55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1차(Python Full Stack &amp; ML)</a:t>
            </a:r>
          </a:p>
        </p:txBody>
      </p:sp>
      <p:sp>
        <p:nvSpPr>
          <p:cNvPr id="3" name="직선 연결선 2">
            <a:extLst>
              <a:ext uri="{FF2B5EF4-FFF2-40B4-BE49-F238E27FC236}">
                <a16:creationId xmlns:a16="http://schemas.microsoft.com/office/drawing/2014/main" id="{48E94E4D-BFCF-495C-A6E7-6F6114E0D924}"/>
              </a:ext>
            </a:extLst>
          </p:cNvPr>
          <p:cNvSpPr>
            <a:spLocks noGrp="1"/>
          </p:cNvSpPr>
          <p:nvPr/>
        </p:nvSpPr>
        <p:spPr>
          <a:xfrm>
            <a:off x="590550" y="1295400"/>
            <a:ext cx="11010900" cy="0"/>
          </a:xfrm>
          <a:prstGeom prst="line">
            <a:avLst/>
          </a:prstGeom>
          <a:noFill/>
          <a:ln w="9525">
            <a:solidFill>
              <a:srgbClr val="D7DCE5"/>
            </a:solidFill>
            <a:prstDash val="solid"/>
          </a:ln>
        </p:spPr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86468D10-73F9-4BE2-9650-9C3CFD51923F}"/>
              </a:ext>
            </a:extLst>
          </p:cNvPr>
          <p:cNvSpPr>
            <a:spLocks noGrp="1"/>
          </p:cNvSpPr>
          <p:nvPr/>
        </p:nvSpPr>
        <p:spPr>
          <a:xfrm>
            <a:off x="666750" y="2000250"/>
            <a:ext cx="1666875" cy="781050"/>
          </a:xfrm>
          <a:prstGeom prst="roundRect">
            <a:avLst>
              <a:gd name="adj" fmla="val 9756"/>
            </a:avLst>
          </a:prstGeom>
          <a:solidFill>
            <a:srgbClr val="F7F9FC"/>
          </a:solidFill>
          <a:ln w="9525">
            <a:solidFill>
              <a:srgbClr val="DBE3EF"/>
            </a:solidFill>
            <a:prstDash val="solid"/>
          </a:ln>
        </p:spPr>
        <p:txBody>
          <a:bodyPr lIns="91440" tIns="45720" rIns="91440" bIns="45720" anchor="ctr"/>
          <a:lstStyle/>
          <a:p>
            <a:pPr algn="ctr">
              <a:defRPr sz="1200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사용자 브라우저</a:t>
            </a:r>
          </a:p>
        </p:txBody>
      </p:sp>
      <p:sp>
        <p:nvSpPr>
          <p:cNvPr id="5" name="사각형: 둥근 모서리 4">
            <a:extLst>
              <a:ext uri="{FF2B5EF4-FFF2-40B4-BE49-F238E27FC236}">
                <a16:creationId xmlns:a16="http://schemas.microsoft.com/office/drawing/2014/main" id="{C3A091B4-14A0-4E45-9BD1-1092D80D9A5C}"/>
              </a:ext>
            </a:extLst>
          </p:cNvPr>
          <p:cNvSpPr>
            <a:spLocks noGrp="1"/>
          </p:cNvSpPr>
          <p:nvPr/>
        </p:nvSpPr>
        <p:spPr>
          <a:xfrm>
            <a:off x="2505075" y="2000250"/>
            <a:ext cx="1666875" cy="781050"/>
          </a:xfrm>
          <a:prstGeom prst="roundRect">
            <a:avLst>
              <a:gd name="adj" fmla="val 9756"/>
            </a:avLst>
          </a:prstGeom>
          <a:solidFill>
            <a:srgbClr val="F7F9FC"/>
          </a:solidFill>
          <a:ln w="9525">
            <a:solidFill>
              <a:srgbClr val="DBE3EF"/>
            </a:solidFill>
            <a:prstDash val="solid"/>
          </a:ln>
        </p:spPr>
        <p:txBody>
          <a:bodyPr lIns="91440" tIns="45720" rIns="91440" bIns="45720" anchor="ctr"/>
          <a:lstStyle/>
          <a:p>
            <a:pPr algn="ctr">
              <a:defRPr sz="1200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Flask 웹 서버</a:t>
            </a:r>
          </a:p>
        </p:txBody>
      </p:sp>
      <p:sp>
        <p:nvSpPr>
          <p:cNvPr id="6" name="사각형: 둥근 모서리 5">
            <a:extLst>
              <a:ext uri="{FF2B5EF4-FFF2-40B4-BE49-F238E27FC236}">
                <a16:creationId xmlns:a16="http://schemas.microsoft.com/office/drawing/2014/main" id="{EFCE1299-E362-48E8-9FA3-BD3D8307644E}"/>
              </a:ext>
            </a:extLst>
          </p:cNvPr>
          <p:cNvSpPr>
            <a:spLocks noGrp="1"/>
          </p:cNvSpPr>
          <p:nvPr/>
        </p:nvSpPr>
        <p:spPr>
          <a:xfrm>
            <a:off x="4343400" y="2000250"/>
            <a:ext cx="1666875" cy="781050"/>
          </a:xfrm>
          <a:prstGeom prst="roundRect">
            <a:avLst>
              <a:gd name="adj" fmla="val 9756"/>
            </a:avLst>
          </a:prstGeom>
          <a:solidFill>
            <a:srgbClr val="F7F9FC"/>
          </a:solidFill>
          <a:ln w="9525">
            <a:solidFill>
              <a:srgbClr val="DBE3EF"/>
            </a:solidFill>
            <a:prstDash val="solid"/>
          </a:ln>
        </p:spPr>
        <p:txBody>
          <a:bodyPr lIns="91440" tIns="45720" rIns="91440" bIns="45720" anchor="ctr"/>
          <a:lstStyle/>
          <a:p>
            <a:pPr algn="ctr">
              <a:defRPr sz="1200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예측/조회 로직</a:t>
            </a:r>
          </a:p>
        </p:txBody>
      </p:sp>
      <p:sp>
        <p:nvSpPr>
          <p:cNvPr id="7" name="사각형: 둥근 모서리 6">
            <a:extLst>
              <a:ext uri="{FF2B5EF4-FFF2-40B4-BE49-F238E27FC236}">
                <a16:creationId xmlns:a16="http://schemas.microsoft.com/office/drawing/2014/main" id="{E4680915-E801-4351-BAE9-96B900AE9908}"/>
              </a:ext>
            </a:extLst>
          </p:cNvPr>
          <p:cNvSpPr>
            <a:spLocks noGrp="1"/>
          </p:cNvSpPr>
          <p:nvPr/>
        </p:nvSpPr>
        <p:spPr>
          <a:xfrm>
            <a:off x="6181725" y="2000250"/>
            <a:ext cx="1666875" cy="781050"/>
          </a:xfrm>
          <a:prstGeom prst="roundRect">
            <a:avLst>
              <a:gd name="adj" fmla="val 9756"/>
            </a:avLst>
          </a:prstGeom>
          <a:solidFill>
            <a:srgbClr val="F7F9FC"/>
          </a:solidFill>
          <a:ln w="9525">
            <a:solidFill>
              <a:srgbClr val="DBE3EF"/>
            </a:solidFill>
            <a:prstDash val="solid"/>
          </a:ln>
        </p:spPr>
        <p:txBody>
          <a:bodyPr lIns="91440" tIns="45720" rIns="91440" bIns="45720" anchor="ctr"/>
          <a:lstStyle/>
          <a:p>
            <a:pPr algn="ctr">
              <a:defRPr sz="1200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ML 모델 pkl</a:t>
            </a:r>
          </a:p>
        </p:txBody>
      </p:sp>
      <p:sp>
        <p:nvSpPr>
          <p:cNvPr id="8" name="사각형: 둥근 모서리 7">
            <a:extLst>
              <a:ext uri="{FF2B5EF4-FFF2-40B4-BE49-F238E27FC236}">
                <a16:creationId xmlns:a16="http://schemas.microsoft.com/office/drawing/2014/main" id="{122B959C-04A7-406C-94B6-99E93849631B}"/>
              </a:ext>
            </a:extLst>
          </p:cNvPr>
          <p:cNvSpPr>
            <a:spLocks noGrp="1"/>
          </p:cNvSpPr>
          <p:nvPr/>
        </p:nvSpPr>
        <p:spPr>
          <a:xfrm>
            <a:off x="8020050" y="2000250"/>
            <a:ext cx="1666875" cy="781050"/>
          </a:xfrm>
          <a:prstGeom prst="roundRect">
            <a:avLst>
              <a:gd name="adj" fmla="val 9756"/>
            </a:avLst>
          </a:prstGeom>
          <a:solidFill>
            <a:srgbClr val="F7F9FC"/>
          </a:solidFill>
          <a:ln w="9525">
            <a:solidFill>
              <a:srgbClr val="DBE3EF"/>
            </a:solidFill>
            <a:prstDash val="solid"/>
          </a:ln>
        </p:spPr>
        <p:txBody>
          <a:bodyPr lIns="91440" tIns="45720" rIns="91440" bIns="45720" anchor="ctr"/>
          <a:lstStyle/>
          <a:p>
            <a:pPr algn="ctr">
              <a:defRPr sz="1200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Oracle DB</a:t>
            </a:r>
          </a:p>
        </p:txBody>
      </p:sp>
      <p:sp>
        <p:nvSpPr>
          <p:cNvPr id="9" name="사각형: 둥근 모서리 8">
            <a:extLst>
              <a:ext uri="{FF2B5EF4-FFF2-40B4-BE49-F238E27FC236}">
                <a16:creationId xmlns:a16="http://schemas.microsoft.com/office/drawing/2014/main" id="{A0505A33-799E-4AA0-AB6D-3839B4366B78}"/>
              </a:ext>
            </a:extLst>
          </p:cNvPr>
          <p:cNvSpPr>
            <a:spLocks noGrp="1"/>
          </p:cNvSpPr>
          <p:nvPr/>
        </p:nvSpPr>
        <p:spPr>
          <a:xfrm>
            <a:off x="9858375" y="2000250"/>
            <a:ext cx="1666875" cy="781050"/>
          </a:xfrm>
          <a:prstGeom prst="roundRect">
            <a:avLst>
              <a:gd name="adj" fmla="val 9756"/>
            </a:avLst>
          </a:prstGeom>
          <a:solidFill>
            <a:srgbClr val="E06B2F">
              <a:alpha val="9412"/>
            </a:srgbClr>
          </a:solidFill>
          <a:ln w="9525">
            <a:solidFill>
              <a:srgbClr val="E06B2F">
                <a:alpha val="50196"/>
              </a:srgbClr>
            </a:solidFill>
            <a:prstDash val="solid"/>
          </a:ln>
        </p:spPr>
        <p:txBody>
          <a:bodyPr lIns="91440" tIns="45720" rIns="91440" bIns="45720" anchor="ctr"/>
          <a:lstStyle/>
          <a:p>
            <a:pPr algn="ctr">
              <a:defRPr sz="1200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지도/차트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A15381B3-8648-4BD2-893E-E34B42EC0524}"/>
              </a:ext>
            </a:extLst>
          </p:cNvPr>
          <p:cNvSpPr>
            <a:spLocks noGrp="1"/>
          </p:cNvSpPr>
          <p:nvPr/>
        </p:nvSpPr>
        <p:spPr>
          <a:xfrm>
            <a:off x="2305050" y="2238375"/>
            <a:ext cx="2286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350" b="1">
                <a:solidFill>
                  <a:srgbClr val="94A3B8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94A3B8"/>
                </a:solidFill>
                <a:latin typeface="Aptos"/>
                <a:ea typeface="Aptos"/>
                <a:cs typeface="Aptos"/>
              </a:rPr>
              <a:t>→</a:t>
            </a: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E6A4875F-73C2-4711-9409-D67070FA0165}"/>
              </a:ext>
            </a:extLst>
          </p:cNvPr>
          <p:cNvSpPr>
            <a:spLocks noGrp="1"/>
          </p:cNvSpPr>
          <p:nvPr/>
        </p:nvSpPr>
        <p:spPr>
          <a:xfrm>
            <a:off x="4143375" y="2238375"/>
            <a:ext cx="2286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350" b="1">
                <a:solidFill>
                  <a:srgbClr val="94A3B8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94A3B8"/>
                </a:solidFill>
                <a:latin typeface="Aptos"/>
                <a:ea typeface="Aptos"/>
                <a:cs typeface="Aptos"/>
              </a:rPr>
              <a:t>→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C4D12B74-B9E0-46F5-9E68-066BDA570484}"/>
              </a:ext>
            </a:extLst>
          </p:cNvPr>
          <p:cNvSpPr>
            <a:spLocks noGrp="1"/>
          </p:cNvSpPr>
          <p:nvPr/>
        </p:nvSpPr>
        <p:spPr>
          <a:xfrm>
            <a:off x="5981700" y="2238375"/>
            <a:ext cx="2286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350" b="1">
                <a:solidFill>
                  <a:srgbClr val="94A3B8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94A3B8"/>
                </a:solidFill>
                <a:latin typeface="Aptos"/>
                <a:ea typeface="Aptos"/>
                <a:cs typeface="Aptos"/>
              </a:rPr>
              <a:t>→</a:t>
            </a: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93C72B2E-D97B-4202-8310-6551797DB69F}"/>
              </a:ext>
            </a:extLst>
          </p:cNvPr>
          <p:cNvSpPr>
            <a:spLocks noGrp="1"/>
          </p:cNvSpPr>
          <p:nvPr/>
        </p:nvSpPr>
        <p:spPr>
          <a:xfrm>
            <a:off x="7820025" y="2238375"/>
            <a:ext cx="2286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350" b="1">
                <a:solidFill>
                  <a:srgbClr val="94A3B8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94A3B8"/>
                </a:solidFill>
                <a:latin typeface="Aptos"/>
                <a:ea typeface="Aptos"/>
                <a:cs typeface="Aptos"/>
              </a:rPr>
              <a:t>→</a:t>
            </a: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80A7C500-AAA6-481E-97B9-D132453DE4F7}"/>
              </a:ext>
            </a:extLst>
          </p:cNvPr>
          <p:cNvSpPr>
            <a:spLocks noGrp="1"/>
          </p:cNvSpPr>
          <p:nvPr/>
        </p:nvSpPr>
        <p:spPr>
          <a:xfrm>
            <a:off x="9658350" y="2238375"/>
            <a:ext cx="2286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350" b="1">
                <a:solidFill>
                  <a:srgbClr val="94A3B8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94A3B8"/>
                </a:solidFill>
                <a:latin typeface="Aptos"/>
                <a:ea typeface="Aptos"/>
                <a:cs typeface="Aptos"/>
              </a:rPr>
              <a:t>→</a:t>
            </a: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A8872B57-2D54-44E8-849B-FA0F8EEDFB37}"/>
              </a:ext>
            </a:extLst>
          </p:cNvPr>
          <p:cNvSpPr>
            <a:spLocks noGrp="1"/>
          </p:cNvSpPr>
          <p:nvPr/>
        </p:nvSpPr>
        <p:spPr>
          <a:xfrm>
            <a:off x="4683016" y="3833648"/>
            <a:ext cx="75819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575" b="1">
                <a:solidFill>
                  <a:srgbClr val="E06B2F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E06B2F"/>
                </a:solidFill>
                <a:latin typeface="Aptos"/>
                <a:ea typeface="Aptos"/>
                <a:cs typeface="Aptos"/>
              </a:rPr>
              <a:t>핵심 구조</a:t>
            </a: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63734E79-5B30-4B1D-9531-FE2C921041F4}"/>
              </a:ext>
            </a:extLst>
          </p:cNvPr>
          <p:cNvSpPr>
            <a:spLocks noGrp="1"/>
          </p:cNvSpPr>
          <p:nvPr/>
        </p:nvSpPr>
        <p:spPr>
          <a:xfrm>
            <a:off x="4683016" y="4233698"/>
            <a:ext cx="7581900" cy="7524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• Flask 기반 웹 서비스</a:t>
            </a:r>
          </a:p>
          <a:p>
            <a:pPr algn="l"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• 예측 결과 저장 및 조회</a:t>
            </a:r>
          </a:p>
          <a:p>
            <a:pPr algn="l"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• 지도/차트 기반 시각화 제공</a:t>
            </a:r>
          </a:p>
        </p:txBody>
      </p:sp>
    </p:spTree>
    <p:extLst>
      <p:ext uri="{BB962C8B-B14F-4D97-AF65-F5344CB8AC3E}">
        <p14:creationId xmlns:p14="http://schemas.microsoft.com/office/powerpoint/2010/main" val="330308012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직사각형 9">
            <a:extLst>
              <a:ext uri="{FF2B5EF4-FFF2-40B4-BE49-F238E27FC236}">
                <a16:creationId xmlns:a16="http://schemas.microsoft.com/office/drawing/2014/main" id="{A95689BA-E701-4C54-ACA9-70055079434B}"/>
              </a:ext>
            </a:extLst>
          </p:cNvPr>
          <p:cNvSpPr>
            <a:spLocks noGrp="1"/>
          </p:cNvSpPr>
          <p:nvPr/>
        </p:nvSpPr>
        <p:spPr>
          <a:xfrm>
            <a:off x="590550" y="228600"/>
            <a:ext cx="762000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91440" tIns="45720" rIns="91440" bIns="45720" anchor="t"/>
          <a:lstStyle/>
          <a:p>
            <a:pPr algn="l">
              <a:defRPr sz="2250" b="1">
                <a:solidFill>
                  <a:srgbClr val="3563E9"/>
                </a:solidFill>
                <a:latin typeface="Aptos"/>
                <a:ea typeface="Aptos"/>
                <a:cs typeface="Aptos"/>
              </a:defRPr>
            </a:pPr>
            <a:r>
              <a:rPr sz="2250" b="1" err="1">
                <a:solidFill>
                  <a:srgbClr val="3563E9"/>
                </a:solidFill>
                <a:latin typeface="Aptos"/>
                <a:ea typeface="Aptos"/>
                <a:cs typeface="Aptos"/>
              </a:rPr>
              <a:t>향후</a:t>
            </a:r>
            <a:r>
              <a:rPr sz="2250" b="1">
                <a:solidFill>
                  <a:srgbClr val="3563E9"/>
                </a:solidFill>
                <a:latin typeface="Aptos"/>
                <a:ea typeface="Aptos"/>
                <a:cs typeface="Aptos"/>
              </a:rPr>
              <a:t> </a:t>
            </a:r>
            <a:r>
              <a:rPr sz="2250" b="1" err="1">
                <a:solidFill>
                  <a:srgbClr val="3563E9"/>
                </a:solidFill>
                <a:latin typeface="Aptos"/>
                <a:ea typeface="Aptos"/>
                <a:cs typeface="Aptos"/>
              </a:rPr>
              <a:t>개발</a:t>
            </a:r>
            <a:r>
              <a:rPr sz="2250" b="1">
                <a:solidFill>
                  <a:srgbClr val="3563E9"/>
                </a:solidFill>
                <a:latin typeface="Aptos"/>
                <a:ea typeface="Aptos"/>
                <a:cs typeface="Aptos"/>
              </a:rPr>
              <a:t> </a:t>
            </a:r>
            <a:r>
              <a:rPr sz="2250" b="1" err="1">
                <a:solidFill>
                  <a:srgbClr val="3563E9"/>
                </a:solidFill>
                <a:latin typeface="Aptos"/>
                <a:ea typeface="Aptos"/>
                <a:cs typeface="Aptos"/>
              </a:rPr>
              <a:t>계획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146B4C26-512D-4B6B-ABF5-3CBACD2C6656}"/>
              </a:ext>
            </a:extLst>
          </p:cNvPr>
          <p:cNvSpPr>
            <a:spLocks noGrp="1"/>
          </p:cNvSpPr>
          <p:nvPr/>
        </p:nvSpPr>
        <p:spPr>
          <a:xfrm>
            <a:off x="590550" y="723900"/>
            <a:ext cx="93345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55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VLM + AI Agent 기반 게임 QA 자동화</a:t>
            </a:r>
          </a:p>
        </p:txBody>
      </p:sp>
      <p:sp>
        <p:nvSpPr>
          <p:cNvPr id="3" name="직선 연결선 2">
            <a:extLst>
              <a:ext uri="{FF2B5EF4-FFF2-40B4-BE49-F238E27FC236}">
                <a16:creationId xmlns:a16="http://schemas.microsoft.com/office/drawing/2014/main" id="{E782C60B-9375-4E8D-A5B9-EFC348AB708A}"/>
              </a:ext>
            </a:extLst>
          </p:cNvPr>
          <p:cNvSpPr>
            <a:spLocks noGrp="1"/>
          </p:cNvSpPr>
          <p:nvPr/>
        </p:nvSpPr>
        <p:spPr>
          <a:xfrm>
            <a:off x="590550" y="1295400"/>
            <a:ext cx="11010900" cy="0"/>
          </a:xfrm>
          <a:prstGeom prst="line">
            <a:avLst/>
          </a:prstGeom>
          <a:noFill/>
          <a:ln w="9525">
            <a:solidFill>
              <a:srgbClr val="D7DCE5"/>
            </a:solidFill>
            <a:prstDash val="solid"/>
          </a:ln>
        </p:spPr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698B8413-3333-4EF5-A7B9-0191626D1848}"/>
              </a:ext>
            </a:extLst>
          </p:cNvPr>
          <p:cNvSpPr>
            <a:spLocks noGrp="1"/>
          </p:cNvSpPr>
          <p:nvPr/>
        </p:nvSpPr>
        <p:spPr>
          <a:xfrm>
            <a:off x="1066800" y="1922079"/>
            <a:ext cx="40576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575" b="1">
                <a:solidFill>
                  <a:srgbClr val="3563E9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3563E9"/>
                </a:solidFill>
                <a:latin typeface="Aptos"/>
                <a:ea typeface="Aptos"/>
                <a:cs typeface="Aptos"/>
              </a:rPr>
              <a:t>개발 방향</a:t>
            </a: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E03FAF05-3A04-4D33-85FC-ED18D47F6AA3}"/>
              </a:ext>
            </a:extLst>
          </p:cNvPr>
          <p:cNvSpPr>
            <a:spLocks noGrp="1"/>
          </p:cNvSpPr>
          <p:nvPr/>
        </p:nvSpPr>
        <p:spPr>
          <a:xfrm>
            <a:off x="1066800" y="2322129"/>
            <a:ext cx="4057650" cy="2324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• LLM Fine-Tuning 기반 튜터 서비스에서 VLM 기반 분석 시스템으로 확장</a:t>
            </a:r>
          </a:p>
          <a:p>
            <a:pPr algn="l"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• 게임 플레이 영상, 로그, 기획 문서를 함께 분석하는 QA 보조 도구 개발</a:t>
            </a:r>
          </a:p>
          <a:p>
            <a:pPr algn="l"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• AI Agent를 활용해 문제 탐지, 관련 문서 검색, 개선 제안 리포트 자동 생성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F805191D-2BDD-409C-BA24-192EFDE223A9}"/>
              </a:ext>
            </a:extLst>
          </p:cNvPr>
          <p:cNvSpPr>
            <a:spLocks noGrp="1"/>
          </p:cNvSpPr>
          <p:nvPr/>
        </p:nvSpPr>
        <p:spPr>
          <a:xfrm>
            <a:off x="6638925" y="1922079"/>
            <a:ext cx="35814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91440" tIns="45720" rIns="91440" bIns="45720" anchor="t"/>
          <a:lstStyle/>
          <a:p>
            <a:pPr>
              <a:defRPr sz="1575" b="1">
                <a:solidFill>
                  <a:srgbClr val="3563E9"/>
                </a:solidFill>
                <a:latin typeface="Aptos"/>
                <a:ea typeface="Aptos"/>
                <a:cs typeface="Aptos"/>
              </a:defRPr>
            </a:pPr>
            <a:r>
              <a:rPr lang="ko-KR" altLang="en-US" sz="1600" b="1">
                <a:solidFill>
                  <a:srgbClr val="1F8A5B"/>
                </a:solidFill>
                <a:latin typeface="Aptos"/>
                <a:ea typeface="Aptos"/>
                <a:cs typeface="Aptos"/>
              </a:rPr>
              <a:t>Workflow</a:t>
            </a:r>
            <a:endParaRPr sz="1575" b="1">
              <a:solidFill>
                <a:srgbClr val="3563E9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D56C5FBE-E3EF-4710-B0D1-94F5D6029C57}"/>
              </a:ext>
            </a:extLst>
          </p:cNvPr>
          <p:cNvSpPr>
            <a:spLocks noGrp="1"/>
          </p:cNvSpPr>
          <p:nvPr/>
        </p:nvSpPr>
        <p:spPr>
          <a:xfrm>
            <a:off x="6638925" y="2322129"/>
            <a:ext cx="3581400" cy="2324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• 1. 게임 플레이 영상/로그 수집</a:t>
            </a:r>
          </a:p>
          <a:p>
            <a:pPr algn="l"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• 2. VLM 기반 장면 분석</a:t>
            </a:r>
          </a:p>
          <a:p>
            <a:pPr algn="l"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• 3. RAG 기반 문서 검색</a:t>
            </a:r>
          </a:p>
          <a:p>
            <a:pPr algn="l"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• 4. AI Agent 리포트 생성</a:t>
            </a:r>
          </a:p>
        </p:txBody>
      </p:sp>
    </p:spTree>
    <p:extLst>
      <p:ext uri="{BB962C8B-B14F-4D97-AF65-F5344CB8AC3E}">
        <p14:creationId xmlns:p14="http://schemas.microsoft.com/office/powerpoint/2010/main" val="766961585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직사각형 10">
            <a:extLst>
              <a:ext uri="{FF2B5EF4-FFF2-40B4-BE49-F238E27FC236}">
                <a16:creationId xmlns:a16="http://schemas.microsoft.com/office/drawing/2014/main" id="{0BFEE736-4AF1-4A51-89A0-E9CD50A22568}"/>
              </a:ext>
            </a:extLst>
          </p:cNvPr>
          <p:cNvSpPr>
            <a:spLocks noGrp="1"/>
          </p:cNvSpPr>
          <p:nvPr/>
        </p:nvSpPr>
        <p:spPr>
          <a:xfrm>
            <a:off x="590550" y="228600"/>
            <a:ext cx="762000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91440" tIns="45720" rIns="91440" bIns="45720" anchor="t"/>
          <a:lstStyle/>
          <a:p>
            <a:pPr algn="l">
              <a:defRPr sz="2250" b="1">
                <a:solidFill>
                  <a:srgbClr val="3563E9"/>
                </a:solidFill>
                <a:latin typeface="Aptos"/>
                <a:ea typeface="Aptos"/>
                <a:cs typeface="Aptos"/>
              </a:defRPr>
            </a:pPr>
            <a:r>
              <a:rPr sz="2250" b="1" err="1">
                <a:solidFill>
                  <a:srgbClr val="3563E9"/>
                </a:solidFill>
                <a:latin typeface="Aptos"/>
                <a:ea typeface="Aptos"/>
                <a:cs typeface="Aptos"/>
              </a:rPr>
              <a:t>프로젝트</a:t>
            </a:r>
            <a:r>
              <a:rPr sz="2250" b="1">
                <a:solidFill>
                  <a:srgbClr val="3563E9"/>
                </a:solidFill>
                <a:latin typeface="Aptos"/>
                <a:ea typeface="Aptos"/>
                <a:cs typeface="Aptos"/>
              </a:rPr>
              <a:t> </a:t>
            </a:r>
            <a:r>
              <a:rPr sz="2250" b="1" err="1">
                <a:solidFill>
                  <a:srgbClr val="3563E9"/>
                </a:solidFill>
                <a:latin typeface="Aptos"/>
                <a:ea typeface="Aptos"/>
                <a:cs typeface="Aptos"/>
              </a:rPr>
              <a:t>수행</a:t>
            </a:r>
            <a:r>
              <a:rPr sz="2250" b="1">
                <a:solidFill>
                  <a:srgbClr val="3563E9"/>
                </a:solidFill>
                <a:latin typeface="Aptos"/>
                <a:ea typeface="Aptos"/>
                <a:cs typeface="Aptos"/>
              </a:rPr>
              <a:t> </a:t>
            </a:r>
            <a:r>
              <a:rPr sz="2250" b="1" err="1">
                <a:solidFill>
                  <a:srgbClr val="3563E9"/>
                </a:solidFill>
                <a:latin typeface="Aptos"/>
                <a:ea typeface="Aptos"/>
                <a:cs typeface="Aptos"/>
              </a:rPr>
              <a:t>소감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7B3335FB-7794-4BCF-A6B6-6F7366CF389C}"/>
              </a:ext>
            </a:extLst>
          </p:cNvPr>
          <p:cNvSpPr>
            <a:spLocks noGrp="1"/>
          </p:cNvSpPr>
          <p:nvPr/>
        </p:nvSpPr>
        <p:spPr>
          <a:xfrm>
            <a:off x="590550" y="723900"/>
            <a:ext cx="93345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55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겪은 어려움과 트러블슈팅</a:t>
            </a:r>
          </a:p>
        </p:txBody>
      </p:sp>
      <p:sp>
        <p:nvSpPr>
          <p:cNvPr id="3" name="직선 연결선 2">
            <a:extLst>
              <a:ext uri="{FF2B5EF4-FFF2-40B4-BE49-F238E27FC236}">
                <a16:creationId xmlns:a16="http://schemas.microsoft.com/office/drawing/2014/main" id="{924EB8FB-FD70-41AC-A762-E3F7F3473379}"/>
              </a:ext>
            </a:extLst>
          </p:cNvPr>
          <p:cNvSpPr>
            <a:spLocks noGrp="1"/>
          </p:cNvSpPr>
          <p:nvPr/>
        </p:nvSpPr>
        <p:spPr>
          <a:xfrm>
            <a:off x="590550" y="1295400"/>
            <a:ext cx="11010900" cy="0"/>
          </a:xfrm>
          <a:prstGeom prst="line">
            <a:avLst/>
          </a:prstGeom>
          <a:noFill/>
          <a:ln w="9525">
            <a:solidFill>
              <a:srgbClr val="D7DCE5"/>
            </a:solidFill>
            <a:prstDash val="solid"/>
          </a:ln>
        </p:spPr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81F960DA-6576-4715-B04F-43E802734009}"/>
              </a:ext>
            </a:extLst>
          </p:cNvPr>
          <p:cNvSpPr>
            <a:spLocks noGrp="1"/>
          </p:cNvSpPr>
          <p:nvPr/>
        </p:nvSpPr>
        <p:spPr>
          <a:xfrm>
            <a:off x="1637643" y="1946713"/>
            <a:ext cx="38671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575" b="1">
                <a:solidFill>
                  <a:srgbClr val="D94F4F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D94F4F"/>
                </a:solidFill>
                <a:latin typeface="Aptos"/>
                <a:ea typeface="Aptos"/>
                <a:cs typeface="Aptos"/>
              </a:rPr>
              <a:t>겪은 어려움</a:t>
            </a: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7843A017-CDDB-4471-83A9-63F974E48C0C}"/>
              </a:ext>
            </a:extLst>
          </p:cNvPr>
          <p:cNvSpPr>
            <a:spLocks noGrp="1"/>
          </p:cNvSpPr>
          <p:nvPr/>
        </p:nvSpPr>
        <p:spPr>
          <a:xfrm>
            <a:off x="1637643" y="2346763"/>
            <a:ext cx="3867150" cy="2133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5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• 실시간 영상 처리</a:t>
            </a:r>
          </a:p>
          <a:p>
            <a:pPr algn="l">
              <a:defRPr sz="15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• 객체 탐지 결과 해석</a:t>
            </a:r>
          </a:p>
          <a:p>
            <a:pPr algn="l">
              <a:defRPr sz="15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• LLM 응답 품질 제어</a:t>
            </a:r>
          </a:p>
          <a:p>
            <a:pPr algn="l">
              <a:defRPr sz="15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• 추론 서버 연동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6692B262-A58A-4C4C-B5A3-4E3933EF30F3}"/>
              </a:ext>
            </a:extLst>
          </p:cNvPr>
          <p:cNvSpPr>
            <a:spLocks noGrp="1"/>
          </p:cNvSpPr>
          <p:nvPr/>
        </p:nvSpPr>
        <p:spPr>
          <a:xfrm>
            <a:off x="6687207" y="1959851"/>
            <a:ext cx="38671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575" b="1">
                <a:solidFill>
                  <a:srgbClr val="1F8A5B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1F8A5B"/>
                </a:solidFill>
                <a:latin typeface="Aptos"/>
                <a:ea typeface="Aptos"/>
                <a:cs typeface="Aptos"/>
              </a:rPr>
              <a:t>배운 점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16A2F1CE-1065-48E1-8E40-E5911CC05250}"/>
              </a:ext>
            </a:extLst>
          </p:cNvPr>
          <p:cNvSpPr>
            <a:spLocks noGrp="1"/>
          </p:cNvSpPr>
          <p:nvPr/>
        </p:nvSpPr>
        <p:spPr>
          <a:xfrm>
            <a:off x="6687207" y="2359901"/>
            <a:ext cx="3867150" cy="2133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5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• 모델과 서비스 구조의 연결</a:t>
            </a:r>
          </a:p>
          <a:p>
            <a:pPr algn="l">
              <a:defRPr sz="15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• 데이터 흐름 관리</a:t>
            </a:r>
          </a:p>
          <a:p>
            <a:pPr algn="l">
              <a:defRPr sz="15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• 예외 처리와 후처리의 중요성</a:t>
            </a:r>
          </a:p>
          <a:p>
            <a:pPr algn="l">
              <a:defRPr sz="15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• 안정적인 AI 파이프라인 설계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5D971FC7-2155-4226-AB1C-A9E37C2DBEFB}"/>
              </a:ext>
            </a:extLst>
          </p:cNvPr>
          <p:cNvSpPr>
            <a:spLocks noGrp="1"/>
          </p:cNvSpPr>
          <p:nvPr/>
        </p:nvSpPr>
        <p:spPr>
          <a:xfrm>
            <a:off x="1143000" y="5095875"/>
            <a:ext cx="99060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91440" tIns="45720" rIns="91440" bIns="45720" anchor="t"/>
          <a:lstStyle/>
          <a:p>
            <a:pPr algn="ctr">
              <a:defRPr sz="1800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AI 서비스는 모델 학습만으로 완성되지 않으며, </a:t>
            </a:r>
            <a:endParaRPr lang="ko-KR" altLang="en-US" b="1">
              <a:solidFill>
                <a:srgbClr val="111827"/>
              </a:solidFill>
              <a:latin typeface="Aptos"/>
              <a:ea typeface="Aptos"/>
              <a:cs typeface="Aptos"/>
            </a:endParaRPr>
          </a:p>
          <a:p>
            <a:pPr algn="ctr">
              <a:defRPr sz="1800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API 구조와 데이터 흐름까지 포함한 전체 파이프라인 안정성이 </a:t>
            </a:r>
            <a:r>
              <a:rPr lang="ko-KR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중요</a:t>
            </a:r>
            <a:endParaRPr sz="1800" b="1">
              <a:solidFill>
                <a:srgbClr val="111827"/>
              </a:solidFill>
              <a:latin typeface="Aptos"/>
              <a:ea typeface="Aptos"/>
              <a:cs typeface="Aptos"/>
            </a:endParaRPr>
          </a:p>
        </p:txBody>
      </p:sp>
    </p:spTree>
    <p:extLst>
      <p:ext uri="{BB962C8B-B14F-4D97-AF65-F5344CB8AC3E}">
        <p14:creationId xmlns:p14="http://schemas.microsoft.com/office/powerpoint/2010/main" val="2114534015"/>
      </p:ext>
    </p:extLst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Microsoft Office PowerPoint</Application>
  <PresentationFormat>와이드스크린</PresentationFormat>
  <Slides>37</Slides>
  <Notes>37</Notes>
  <HiddenSlides>0</HiddenSlides>
  <ScaleCrop>false</ScaleCrop>
  <HeadingPairs>
    <vt:vector size="4" baseType="variant">
      <vt:variant>
        <vt:lpstr>테마</vt:lpstr>
      </vt:variant>
      <vt:variant>
        <vt:i4>1</vt:i4>
      </vt:variant>
      <vt:variant>
        <vt:lpstr>슬라이드 제목</vt:lpstr>
      </vt:variant>
      <vt:variant>
        <vt:i4>37</vt:i4>
      </vt:variant>
    </vt:vector>
  </HeadingPairs>
  <TitlesOfParts>
    <vt:vector size="38" baseType="lpstr">
      <vt:lpstr>ChatGPT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revision>86</cp:revision>
  <dcterms:created xsi:type="dcterms:W3CDTF">2026-06-17T06:28:36Z</dcterms:created>
  <dcterms:modified xsi:type="dcterms:W3CDTF">2026-06-18T03:45:49Z</dcterms:modified>
</cp:coreProperties>
</file>