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63" r:id="rId5"/>
  </p:sldIdLst>
  <p:sldSz cx="24384000" cy="13716000"/>
  <p:notesSz cx="6858000" cy="9144000"/>
  <p:embeddedFontLst>
    <p:embeddedFont>
      <p:font typeface="Pretendard Bold" panose="020B0600000101010101" charset="-127"/>
      <p:bold r:id="rId6"/>
    </p:embeddedFont>
    <p:embeddedFont>
      <p:font typeface="Pretendard Light" panose="020B0600000101010101" charset="-127"/>
      <p:regular r:id="rId7"/>
    </p:embeddedFont>
    <p:embeddedFont>
      <p:font typeface="Pretendard Medium" panose="020B0600000101010101" charset="-127"/>
      <p:bold r:id="rId8"/>
    </p:embeddedFont>
    <p:embeddedFont>
      <p:font typeface="Pretendard Regular" panose="020B0600000101010101" charset="-127"/>
      <p:regular r:id="rId9"/>
    </p:embeddedFont>
    <p:embeddedFont>
      <p:font typeface="Pretendard SemiBold" panose="020B0600000101010101" charset="-127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22" autoAdjust="0"/>
  </p:normalViewPr>
  <p:slideViewPr>
    <p:cSldViewPr>
      <p:cViewPr varScale="1">
        <p:scale>
          <a:sx n="53" d="100"/>
          <a:sy n="53" d="100"/>
        </p:scale>
        <p:origin x="121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906000" y="9321800"/>
            <a:ext cx="4572000" cy="889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94500" y="4267200"/>
            <a:ext cx="108077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2000" b="0" i="0" u="none" strike="noStrike" spc="-200" err="1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프로젝트</a:t>
            </a:r>
            <a:r>
              <a:rPr lang="en-US" sz="12000" b="0" i="0" u="none" strike="noStrike" spc="-200" dirty="0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ko-KR" altLang="en-US" sz="12000" b="0" i="0" u="none" strike="noStrike" spc="-200" dirty="0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기획서</a:t>
            </a:r>
            <a:endParaRPr lang="en-US" sz="12000" b="0" i="0" u="none" strike="noStrike" spc="-200" dirty="0">
              <a:solidFill>
                <a:srgbClr val="6A7E74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74300" y="9474200"/>
            <a:ext cx="3835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466456"/>
                </a:solidFill>
                <a:latin typeface="Pretendard Bold"/>
                <a:ea typeface="Pretendard Bold"/>
                <a:cs typeface="Pretendard Bold"/>
              </a:rPr>
              <a:t>안정현</a:t>
            </a:r>
            <a:endParaRPr lang="en-US" sz="3200" b="0" i="0" u="none" strike="noStrike" dirty="0">
              <a:solidFill>
                <a:srgbClr val="466456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0"/>
            <a:ext cx="24384000" cy="2794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806700"/>
            <a:ext cx="21793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6985000"/>
            <a:ext cx="4826000" cy="4826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300" y="6985000"/>
            <a:ext cx="4826000" cy="4826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3300" y="6985000"/>
            <a:ext cx="4826000" cy="4826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67300" y="6985000"/>
            <a:ext cx="4826000" cy="4826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333" b="0" i="0" u="none" strike="noStrike" spc="-20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  <a:endParaRPr lang="en-US" sz="5333" b="0" i="0" u="none" strike="noStrike" spc="-20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19300" y="8547100"/>
            <a:ext cx="4368800" cy="8509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000" b="0" i="0" u="none" strike="noStrike" spc="-1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의료 자원 </a:t>
            </a:r>
            <a:endParaRPr lang="en-US" altLang="ko-KR" sz="5000" b="0" i="0" u="none" strike="noStrike" spc="-10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5000" b="0" i="0" u="none" strike="noStrike" spc="-1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최적 배치</a:t>
            </a:r>
            <a:endParaRPr lang="en-US" sz="5000" b="0" i="0" u="none" strike="noStrike" spc="-10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283450" y="8978900"/>
            <a:ext cx="4457700" cy="15875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000" b="0" i="0" u="none" strike="noStrike" spc="-100" dirty="0">
                <a:solidFill>
                  <a:srgbClr val="466456"/>
                </a:solidFill>
                <a:latin typeface="Pretendard SemiBold"/>
                <a:ea typeface="Pretendard SemiBold"/>
                <a:cs typeface="Pretendard SemiBold"/>
              </a:rPr>
              <a:t>사회적 비용 절감</a:t>
            </a:r>
            <a:endParaRPr lang="en-US" sz="5000" b="0" i="0" u="none" strike="noStrike" spc="-100" dirty="0">
              <a:solidFill>
                <a:srgbClr val="46645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15850" y="8604250"/>
            <a:ext cx="4660900" cy="15875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000" b="0" i="0" u="none" strike="noStrike" spc="-1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고위험군 </a:t>
            </a:r>
            <a:endParaRPr lang="en-US" altLang="ko-KR" sz="5000" b="0" i="0" u="none" strike="noStrike" spc="-10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5000" b="0" i="0" u="none" strike="noStrike" spc="-1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맞춤 보호</a:t>
            </a:r>
            <a:endParaRPr lang="en-US" sz="5000" b="0" i="0" u="none" strike="noStrike" spc="-100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964150" y="8604250"/>
            <a:ext cx="4432300" cy="15875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000" b="0" i="0" u="none" strike="noStrike" spc="-100" dirty="0">
                <a:solidFill>
                  <a:srgbClr val="466456"/>
                </a:solidFill>
                <a:latin typeface="Pretendard SemiBold"/>
                <a:ea typeface="Pretendard SemiBold"/>
                <a:cs typeface="Pretendard SemiBold"/>
              </a:rPr>
              <a:t>시차 반영 </a:t>
            </a:r>
            <a:endParaRPr lang="en-US" altLang="ko-KR" sz="5000" b="0" i="0" u="none" strike="noStrike" spc="-100" dirty="0">
              <a:solidFill>
                <a:srgbClr val="466456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5000" b="0" i="0" u="none" strike="noStrike" spc="-100" dirty="0">
                <a:solidFill>
                  <a:srgbClr val="466456"/>
                </a:solidFill>
                <a:latin typeface="Pretendard SemiBold"/>
                <a:ea typeface="Pretendard SemiBold"/>
                <a:cs typeface="Pretendard SemiBold"/>
              </a:rPr>
              <a:t>체감형 지표</a:t>
            </a:r>
            <a:endParaRPr lang="en-US" sz="5000" b="0" i="0" u="none" strike="noStrike" spc="-100" dirty="0">
              <a:solidFill>
                <a:srgbClr val="466456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79550" y="5410200"/>
            <a:ext cx="214249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8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미세먼지 발병 시차</a:t>
            </a:r>
            <a:r>
              <a:rPr lang="en-US" altLang="ko-KR" sz="48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(Time-Lag</a:t>
            </a:r>
            <a:r>
              <a:rPr lang="en-US" altLang="ko-KR" sz="48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)</a:t>
            </a:r>
            <a:r>
              <a:rPr lang="ko-KR" altLang="en-US" sz="48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를 고려한 서울시 구별 호흡기 환자 수 예측</a:t>
            </a:r>
            <a:endParaRPr lang="en-US" sz="48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  <a:cs typeface="Pretendard Light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B8F9360-4049-4C75-B07C-3D8E625F5C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366" y="3609215"/>
            <a:ext cx="8797568" cy="1496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0"/>
            <a:ext cx="24384000" cy="2794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806700"/>
            <a:ext cx="21793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333" spc="-20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개발 목표</a:t>
            </a:r>
            <a:endParaRPr lang="en-US" sz="5333" b="0" i="0" u="none" strike="noStrike" spc="-20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624" y="3257175"/>
            <a:ext cx="20828000" cy="224752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826702" y="4292600"/>
            <a:ext cx="12700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624" y="5759453"/>
            <a:ext cx="20828000" cy="224752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810267" y="6731187"/>
            <a:ext cx="12700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374578" y="4079287"/>
            <a:ext cx="3733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000" dirty="0">
                <a:solidFill>
                  <a:srgbClr val="444444"/>
                </a:solidFill>
                <a:latin typeface="Pretendard SemiBold"/>
                <a:ea typeface="Pretendard SemiBold"/>
                <a:cs typeface="Pretendard SemiBold"/>
              </a:rPr>
              <a:t>데이터 </a:t>
            </a:r>
            <a:r>
              <a:rPr lang="ko-KR" altLang="en-US" sz="4000" dirty="0" err="1">
                <a:solidFill>
                  <a:srgbClr val="444444"/>
                </a:solidFill>
                <a:latin typeface="Pretendard SemiBold"/>
                <a:ea typeface="Pretendard SemiBold"/>
                <a:cs typeface="Pretendard SemiBold"/>
              </a:rPr>
              <a:t>전처리</a:t>
            </a:r>
            <a:endParaRPr lang="en-US" sz="4000" b="0" i="0" u="none" strike="noStrike" dirty="0">
              <a:solidFill>
                <a:srgbClr val="44444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56696" y="3388014"/>
            <a:ext cx="13182600" cy="198232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서울시 구별 </a:t>
            </a:r>
            <a:r>
              <a:rPr lang="ko-KR" altLang="en-US" sz="25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대기질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정보와 호흡기 진료 데이터를 매칭한 시계열 데이터셋 구축</a:t>
            </a:r>
            <a:endParaRPr lang="en-US" altLang="ko-KR" sz="25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결측치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보간 및 이상치 제거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학습 효율을 위한 스케일링 작업 수행</a:t>
            </a:r>
            <a:endParaRPr lang="en-US" sz="25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미세먼지 노출 시차를 고려한 </a:t>
            </a:r>
            <a:r>
              <a:rPr lang="en-US" altLang="ko-KR" sz="2500" b="1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Lag</a:t>
            </a:r>
            <a:r>
              <a:rPr lang="ko-KR" altLang="en-US" sz="2500" b="1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변수</a:t>
            </a:r>
            <a:r>
              <a:rPr lang="en-US" altLang="ko-KR" sz="2500" b="1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(D+1~3)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및 기간별 </a:t>
            </a:r>
            <a:r>
              <a:rPr lang="ko-KR" altLang="en-US" sz="2500" b="1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이동 평균</a:t>
            </a:r>
            <a:r>
              <a:rPr lang="en-US" altLang="ko-KR" sz="2500" b="1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(Rolling Average)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데이터 생성</a:t>
            </a:r>
            <a:endParaRPr lang="en-US" altLang="ko-KR" sz="25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ERM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기반 스키마 설계 후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5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sqlplus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를 사용하여 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Oracle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DB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적재 및 무결성 검증 수행</a:t>
            </a:r>
            <a:endParaRPr lang="en-US" altLang="ko-KR" sz="25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sz="25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64493" y="6518252"/>
            <a:ext cx="370205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000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머신러닝</a:t>
            </a:r>
            <a:r>
              <a:rPr lang="ko-KR" altLang="en-US" sz="40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모델링</a:t>
            </a:r>
            <a:endParaRPr lang="en-US" sz="4000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1959F41B-0106-402E-AA38-4E7C85F4BC75}"/>
              </a:ext>
            </a:extLst>
          </p:cNvPr>
          <p:cNvSpPr txBox="1"/>
          <p:nvPr/>
        </p:nvSpPr>
        <p:spPr>
          <a:xfrm>
            <a:off x="6956696" y="5886260"/>
            <a:ext cx="14909800" cy="198232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교차 상관 분석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을 실시하여 상관계수가 가장 높은 최적의 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Time-Lag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시간 도출</a:t>
            </a:r>
            <a:endParaRPr lang="en-US" altLang="ko-KR" sz="2500" b="0" i="0" u="none" strike="noStrike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시차 변수를 활용한 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Random Forest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및  </a:t>
            </a:r>
            <a:r>
              <a:rPr lang="en-US" altLang="ko-KR" sz="25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XGBoost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en-US" altLang="ko-KR" sz="25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LightGBM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기반의 시계열 회귀 모델 구축</a:t>
            </a:r>
            <a:endParaRPr lang="en-US" altLang="ko-KR" sz="25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500" b="1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GridSearchCV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를 적용하여 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Decision Tree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의 주요 파라미터를 최적화하고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과적합을 방지하여 예측 안정성 확보</a:t>
            </a:r>
            <a:endParaRPr lang="en-US" altLang="ko-KR" sz="25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MAE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및 </a:t>
            </a:r>
            <a:r>
              <a:rPr lang="en-US" altLang="ko-KR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RMSE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지표를 활용하여 </a:t>
            </a:r>
            <a:r>
              <a:rPr lang="ko-KR" altLang="en-US" sz="25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예측값과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실제 진료 데이터 사이의 오차율을 분석하고 최종 모델의 신뢰성 검토</a:t>
            </a:r>
            <a:endParaRPr lang="en-US" altLang="ko-KR" sz="25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endParaRPr lang="en-US" sz="2500" b="0" i="0" u="none" strike="noStrike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8" name="Picture 9">
            <a:extLst>
              <a:ext uri="{FF2B5EF4-FFF2-40B4-BE49-F238E27FC236}">
                <a16:creationId xmlns:a16="http://schemas.microsoft.com/office/drawing/2014/main" id="{E49E1963-57FD-49DE-BFB7-07C5A0BB7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528" y="8261731"/>
            <a:ext cx="20828000" cy="2247523"/>
          </a:xfrm>
          <a:prstGeom prst="rect">
            <a:avLst/>
          </a:prstGeom>
        </p:spPr>
      </p:pic>
      <p:pic>
        <p:nvPicPr>
          <p:cNvPr id="39" name="Picture 10">
            <a:extLst>
              <a:ext uri="{FF2B5EF4-FFF2-40B4-BE49-F238E27FC236}">
                <a16:creationId xmlns:a16="http://schemas.microsoft.com/office/drawing/2014/main" id="{EB92F97F-5268-42C7-98B0-9475DD0858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820606" y="9297156"/>
            <a:ext cx="1270000" cy="25400"/>
          </a:xfrm>
          <a:prstGeom prst="rect">
            <a:avLst/>
          </a:prstGeom>
        </p:spPr>
      </p:pic>
      <p:pic>
        <p:nvPicPr>
          <p:cNvPr id="40" name="Picture 11">
            <a:extLst>
              <a:ext uri="{FF2B5EF4-FFF2-40B4-BE49-F238E27FC236}">
                <a16:creationId xmlns:a16="http://schemas.microsoft.com/office/drawing/2014/main" id="{BAC1CC17-900B-4588-B825-7A1AFCEB69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0528" y="10764009"/>
            <a:ext cx="20828000" cy="2247523"/>
          </a:xfrm>
          <a:prstGeom prst="rect">
            <a:avLst/>
          </a:prstGeom>
        </p:spPr>
      </p:pic>
      <p:pic>
        <p:nvPicPr>
          <p:cNvPr id="41" name="Picture 12">
            <a:extLst>
              <a:ext uri="{FF2B5EF4-FFF2-40B4-BE49-F238E27FC236}">
                <a16:creationId xmlns:a16="http://schemas.microsoft.com/office/drawing/2014/main" id="{FF4D34F9-8E8D-4421-B128-30E5BB8473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804171" y="11735743"/>
            <a:ext cx="1270000" cy="25400"/>
          </a:xfrm>
          <a:prstGeom prst="rect">
            <a:avLst/>
          </a:prstGeom>
        </p:spPr>
      </p:pic>
      <p:sp>
        <p:nvSpPr>
          <p:cNvPr id="42" name="TextBox 15">
            <a:extLst>
              <a:ext uri="{FF2B5EF4-FFF2-40B4-BE49-F238E27FC236}">
                <a16:creationId xmlns:a16="http://schemas.microsoft.com/office/drawing/2014/main" id="{A041AA70-54B3-4DF2-9B53-4372E1EDE63A}"/>
              </a:ext>
            </a:extLst>
          </p:cNvPr>
          <p:cNvSpPr txBox="1"/>
          <p:nvPr/>
        </p:nvSpPr>
        <p:spPr>
          <a:xfrm>
            <a:off x="2368482" y="9083843"/>
            <a:ext cx="3733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000" b="0" i="0" u="none" strike="noStrike" dirty="0">
                <a:solidFill>
                  <a:srgbClr val="444444"/>
                </a:solidFill>
                <a:latin typeface="Pretendard SemiBold"/>
                <a:ea typeface="Pretendard SemiBold"/>
                <a:cs typeface="Pretendard SemiBold"/>
              </a:rPr>
              <a:t>웹 서비스</a:t>
            </a:r>
            <a:endParaRPr lang="en-US" sz="4000" b="0" i="0" u="none" strike="noStrike" dirty="0">
              <a:solidFill>
                <a:srgbClr val="44444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A2E2AB90-D895-42C3-BE02-C7888D8DFB30}"/>
              </a:ext>
            </a:extLst>
          </p:cNvPr>
          <p:cNvSpPr txBox="1"/>
          <p:nvPr/>
        </p:nvSpPr>
        <p:spPr>
          <a:xfrm>
            <a:off x="6956696" y="8394331"/>
            <a:ext cx="13182600" cy="198232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1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Flask</a:t>
            </a:r>
            <a:r>
              <a:rPr 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프레임워크를 활용하여 클라이언트 요청 처리 및 </a:t>
            </a:r>
            <a:r>
              <a:rPr lang="ko-KR" altLang="en-US" sz="25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머신러닝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예측 모델 서빙 아키텍처 구현</a:t>
            </a:r>
            <a:endParaRPr lang="en-US" sz="25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500" b="1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Raw Query 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직접 제어를 통한 데이터베이스 </a:t>
            </a:r>
            <a:r>
              <a:rPr lang="en-US" altLang="ko-KR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I/O 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최적화 및 복잡한 분석용 집계 쿼리의 실행 속도 개선</a:t>
            </a:r>
            <a:endParaRPr lang="en-US" altLang="ko-KR" sz="25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500" b="1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Bootstrap 5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를 활용한 반응형 대시보드 구현으로 </a:t>
            </a:r>
            <a:r>
              <a:rPr lang="ko-KR" altLang="en-US" sz="25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기기별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최적화된 </a:t>
            </a:r>
            <a:r>
              <a:rPr lang="en-US" altLang="ko-KR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UI/UX </a:t>
            </a:r>
            <a:r>
              <a:rPr lang="ko-KR" altLang="en-US" sz="25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altLang="ko-KR" sz="25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최신 공공데이터 수집</a:t>
            </a:r>
            <a:r>
              <a:rPr lang="en-US" altLang="ko-KR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DB 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갱신</a:t>
            </a:r>
            <a:r>
              <a:rPr lang="en-US" altLang="ko-KR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5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 추론 결과 업데이트가 유기적으로 연결된 자동화 로직 구현</a:t>
            </a:r>
            <a:endParaRPr lang="en-US" sz="25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44BF3393-7846-4DF5-B530-4DD835EFB728}"/>
              </a:ext>
            </a:extLst>
          </p:cNvPr>
          <p:cNvSpPr txBox="1"/>
          <p:nvPr/>
        </p:nvSpPr>
        <p:spPr>
          <a:xfrm>
            <a:off x="2358397" y="11522808"/>
            <a:ext cx="370205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40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데이터 시각화</a:t>
            </a:r>
            <a:endParaRPr lang="en-US" sz="4000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E53B3FF6-56C6-40BD-9F05-6618F64E7236}"/>
              </a:ext>
            </a:extLst>
          </p:cNvPr>
          <p:cNvSpPr txBox="1"/>
          <p:nvPr/>
        </p:nvSpPr>
        <p:spPr>
          <a:xfrm>
            <a:off x="6956696" y="10871193"/>
            <a:ext cx="14909800" cy="198232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Choropleth Map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을 활용하여 서울시 자치구별 예측 환자 수 위험도를 단계별 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Heatmap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으로 시각화</a:t>
            </a:r>
            <a:endParaRPr lang="en-US" sz="2500" b="0" i="0" u="none" strike="noStrike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b="0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실시간 </a:t>
            </a:r>
            <a:r>
              <a:rPr lang="ko-KR" altLang="en-US" sz="2500" b="0" i="0" u="none" strike="noStrike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대기질</a:t>
            </a:r>
            <a:r>
              <a:rPr lang="ko-KR" altLang="en-US" sz="2500" b="0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지수와 연동된 </a:t>
            </a:r>
            <a:r>
              <a:rPr lang="en-US" altLang="ko-KR" sz="2500" b="1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Multi-step</a:t>
            </a:r>
            <a:r>
              <a:rPr lang="en-US" altLang="ko-KR" sz="2500" b="0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0" b="0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시계열 그래프를 통해 향후 </a:t>
            </a:r>
            <a:r>
              <a:rPr lang="en-US" altLang="ko-KR" sz="2500" b="0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72</a:t>
            </a:r>
            <a:r>
              <a:rPr lang="ko-KR" altLang="en-US" sz="2500" b="0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시간의 환자 발생 추이 모니터링 구현</a:t>
            </a:r>
            <a:endParaRPr lang="en-US" altLang="ko-KR" sz="2500" b="0" i="0" u="none" strike="noStrike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Time-Lag </a:t>
            </a:r>
            <a:r>
              <a:rPr lang="ko-KR" altLang="en-US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특성 중요도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도표화를 통해 미세먼지 노출 </a:t>
            </a:r>
            <a:r>
              <a:rPr lang="ko-KR" altLang="en-US" sz="25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시점별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상관관계 및 예측 근거 제시</a:t>
            </a:r>
            <a:endParaRPr lang="en-US" altLang="ko-KR" sz="25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예측 결과에 따른 </a:t>
            </a:r>
            <a:r>
              <a:rPr lang="en-US" altLang="ko-KR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2500" b="1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단계 리스크 예보 시스템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및 사용자 행동 가이드 </a:t>
            </a:r>
            <a:r>
              <a:rPr lang="en-US" altLang="ko-KR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UI </a:t>
            </a:r>
            <a:r>
              <a:rPr lang="ko-KR" altLang="en-US" sz="25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endParaRPr lang="en-US" sz="2500" b="0" i="0" u="none" strike="noStrike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3581400" y="9410700"/>
            <a:ext cx="31762700" cy="6070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737100" y="5105400"/>
            <a:ext cx="14935200" cy="3200400"/>
          </a:xfrm>
          <a:prstGeom prst="rect">
            <a:avLst/>
          </a:prstGeom>
        </p:spPr>
        <p:txBody>
          <a:bodyPr lIns="0" tIns="592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9333" b="0" i="0" u="none" strike="noStrike" spc="-500" dirty="0" err="1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발표를</a:t>
            </a:r>
            <a:r>
              <a:rPr lang="en-US" sz="9333" b="0" i="0" u="none" strike="noStrike" spc="-500" dirty="0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9333" b="0" i="0" u="none" strike="noStrike" spc="-500" dirty="0" err="1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들어주셔서</a:t>
            </a:r>
            <a:endParaRPr lang="en-US" sz="9333" b="0" i="0" u="none" strike="noStrike" spc="-500" dirty="0">
              <a:solidFill>
                <a:srgbClr val="6A7E74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07899"/>
              </a:lnSpc>
            </a:pPr>
            <a:r>
              <a:rPr lang="en-US" sz="9333" b="0" i="0" u="none" strike="noStrike" spc="-500" dirty="0" err="1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감사합니다</a:t>
            </a:r>
            <a:r>
              <a:rPr lang="en-US" sz="9333" b="0" i="0" u="none" strike="noStrike" spc="-500" dirty="0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605046"/>
              </p:ext>
            </p:extLst>
          </p:nvPr>
        </p:nvGraphicFramePr>
        <p:xfrm>
          <a:off x="304800" y="12446000"/>
          <a:ext cx="23698200" cy="1148808"/>
        </p:xfrm>
        <a:graphic>
          <a:graphicData uri="http://schemas.openxmlformats.org/drawingml/2006/table">
            <a:tbl>
              <a:tblPr/>
              <a:tblGrid>
                <a:gridCol w="2369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8808">
                <a:tc>
                  <a:txBody>
                    <a:bodyPr/>
                    <a:lstStyle/>
                    <a:p>
                      <a:pPr lvl="0" algn="l">
                        <a:lnSpc>
                          <a:spcPct val="107899"/>
                        </a:lnSpc>
                        <a:defRPr/>
                      </a:pPr>
                      <a:r>
                        <a:rPr lang="ko-KR" altLang="en-US" sz="2399" b="0" i="0" u="none" strike="noStrike" dirty="0">
                          <a:solidFill>
                            <a:srgbClr val="46645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                                                                                                                                         안정현                 </a:t>
                      </a:r>
                      <a:r>
                        <a:rPr lang="en-US" sz="2399" b="0" i="0" u="none" strike="noStrike" dirty="0">
                          <a:solidFill>
                            <a:srgbClr val="46645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E-mail. </a:t>
                      </a:r>
                      <a:r>
                        <a:rPr lang="en-US" sz="2399" b="0" i="0" u="none" strike="noStrike" dirty="0">
                          <a:solidFill>
                            <a:srgbClr val="466456"/>
                          </a:solidFill>
                          <a:latin typeface="Pretendard Regular"/>
                          <a:ea typeface="Pretendard Regular"/>
                          <a:cs typeface="Pretendard Bold"/>
                        </a:rPr>
                        <a:t>ahnjh1997</a:t>
                      </a:r>
                      <a:r>
                        <a:rPr lang="en-US" sz="2399" b="0" i="0" u="none" strike="noStrike" dirty="0">
                          <a:solidFill>
                            <a:srgbClr val="466456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@naver.com</a:t>
                      </a:r>
                      <a:endParaRPr lang="en-US" sz="1100" dirty="0"/>
                    </a:p>
                  </a:txBody>
                  <a:tcPr marL="25400" marR="25400" marT="40639" marB="4063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289</Words>
  <Application>Microsoft Office PowerPoint</Application>
  <PresentationFormat>사용자 지정</PresentationFormat>
  <Paragraphs>35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Pretendard Bold</vt:lpstr>
      <vt:lpstr>Pretendard Medium</vt:lpstr>
      <vt:lpstr>Arial</vt:lpstr>
      <vt:lpstr>Calibri</vt:lpstr>
      <vt:lpstr>Pretendard Regular</vt:lpstr>
      <vt:lpstr>Pretendard SemiBold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403_17</cp:lastModifiedBy>
  <cp:revision>23</cp:revision>
  <dcterms:created xsi:type="dcterms:W3CDTF">2006-08-16T00:00:00Z</dcterms:created>
  <dcterms:modified xsi:type="dcterms:W3CDTF">2026-03-13T02:52:22Z</dcterms:modified>
</cp:coreProperties>
</file>