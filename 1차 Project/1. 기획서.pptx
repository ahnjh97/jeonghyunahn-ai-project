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64" r:id="rId4"/>
    <p:sldId id="260" r:id="rId5"/>
    <p:sldId id="263" r:id="rId6"/>
  </p:sldIdLst>
  <p:sldSz cx="24384000" cy="13716000"/>
  <p:notesSz cx="6858000" cy="9144000"/>
  <p:embeddedFontLst>
    <p:embeddedFont>
      <p:font typeface="Pretendard Bold" panose="020B0604020202020204" charset="-127"/>
      <p:bold r:id="rId7"/>
    </p:embeddedFont>
    <p:embeddedFont>
      <p:font typeface="Pretendard Medium" panose="020B0604020202020204" charset="-127"/>
      <p:bold r:id="rId8"/>
    </p:embeddedFont>
    <p:embeddedFont>
      <p:font typeface="Pretendard Regular" panose="020B0604020202020204" charset="-127"/>
      <p:regular r:id="rId9"/>
    </p:embeddedFont>
    <p:embeddedFont>
      <p:font typeface="Pretendard SemiBold" panose="020B0604020202020204" charset="-127"/>
      <p:bold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7E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426BD9-E120-4360-813D-B4785F375F65}" v="961" dt="2026-03-17T04:23:44.423"/>
    <p1510:client id="{DBF19A3A-89EB-4C55-8FAD-C4519890B5C1}" v="270" dt="2026-03-17T04:47:41.5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12" autoAdjust="0"/>
    <p:restoredTop sz="94622" autoAdjust="0"/>
  </p:normalViewPr>
  <p:slideViewPr>
    <p:cSldViewPr>
      <p:cViewPr varScale="1">
        <p:scale>
          <a:sx n="53" d="100"/>
          <a:sy n="53" d="100"/>
        </p:scale>
        <p:origin x="1212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alphaModFix amt="10000"/>
          </a:blip>
          <a:stretch>
            <a:fillRect/>
          </a:stretch>
        </p:blipFill>
        <p:spPr>
          <a:xfrm>
            <a:off x="10008170" y="9103139"/>
            <a:ext cx="4572000" cy="8890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0376470" y="9255539"/>
            <a:ext cx="38354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3200" b="0" i="0" u="none" strike="noStrike" dirty="0">
                <a:solidFill>
                  <a:srgbClr val="466456"/>
                </a:solidFill>
                <a:latin typeface="Pretendard Bold"/>
                <a:ea typeface="Pretendard Bold"/>
                <a:cs typeface="Pretendard Bold"/>
              </a:rPr>
              <a:t>안정현</a:t>
            </a:r>
            <a:endParaRPr lang="en-US" sz="3200" b="0" i="0" u="none" strike="noStrike" dirty="0">
              <a:solidFill>
                <a:srgbClr val="466456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0E864F02-14F5-0B82-BE19-B13FBD7BC077}"/>
              </a:ext>
            </a:extLst>
          </p:cNvPr>
          <p:cNvSpPr txBox="1"/>
          <p:nvPr/>
        </p:nvSpPr>
        <p:spPr>
          <a:xfrm>
            <a:off x="3017631" y="5214942"/>
            <a:ext cx="18573470" cy="3233531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116199"/>
              </a:lnSpc>
            </a:pPr>
            <a:r>
              <a:rPr lang="ko-KR" altLang="en-US" sz="9600" spc="-200">
                <a:solidFill>
                  <a:srgbClr val="6A7E74"/>
                </a:solidFill>
                <a:latin typeface="Pretendard Bold"/>
                <a:ea typeface="Pretendard Bold"/>
                <a:cs typeface="Pretendard Bold"/>
              </a:rPr>
              <a:t>AIR</a:t>
            </a:r>
          </a:p>
          <a:p>
            <a:pPr algn="ctr">
              <a:lnSpc>
                <a:spcPct val="116199"/>
              </a:lnSpc>
            </a:pPr>
            <a:r>
              <a:rPr lang="ko-KR" altLang="en-US" sz="3200" spc="-200">
                <a:solidFill>
                  <a:srgbClr val="6A7E74"/>
                </a:solidFill>
                <a:latin typeface="Pretendard Regular"/>
                <a:ea typeface="Pretendard Regular"/>
                <a:cs typeface="Pretendard Bold"/>
              </a:rPr>
              <a:t>Atmospheric-Insight &amp; Response</a:t>
            </a:r>
            <a:endParaRPr lang="ko-KR" altLang="en-US" sz="4000" spc="-200" dirty="0">
              <a:solidFill>
                <a:srgbClr val="6A7E74"/>
              </a:solidFill>
              <a:latin typeface="Pretendard Bold"/>
              <a:ea typeface="Pretendard Bold"/>
              <a:cs typeface="Pretendard Bold"/>
            </a:endParaRPr>
          </a:p>
          <a:p>
            <a:pPr algn="ctr">
              <a:lnSpc>
                <a:spcPct val="116199"/>
              </a:lnSpc>
            </a:pPr>
            <a:r>
              <a:rPr lang="ko-KR" altLang="en-US" sz="600" spc="-200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    </a:t>
            </a:r>
            <a:br>
              <a:rPr lang="ko-KR" altLang="en-US" sz="4000" spc="-200" dirty="0">
                <a:solidFill>
                  <a:srgbClr val="6A7E74"/>
                </a:solidFill>
                <a:latin typeface="Pretendard Bold"/>
                <a:ea typeface="Pretendard Bold"/>
                <a:cs typeface="Pretendard Bold"/>
              </a:rPr>
            </a:br>
            <a:r>
              <a:rPr lang="ko-KR" altLang="en-US" sz="4400" spc="-200">
                <a:solidFill>
                  <a:srgbClr val="6A7E74"/>
                </a:solidFill>
                <a:latin typeface="Pretendard Bold"/>
                <a:ea typeface="Pretendard Bold"/>
                <a:cs typeface="Pretendard Bold"/>
              </a:rPr>
              <a:t>미세먼지 발병 시차를 고려한 서울시 구별 호흡기 환자 수 예측 서비스</a:t>
            </a:r>
          </a:p>
          <a:p>
            <a:pPr algn="ctr">
              <a:lnSpc>
                <a:spcPct val="116199"/>
              </a:lnSpc>
            </a:pPr>
            <a:endParaRPr lang="ko-KR" altLang="en-US" sz="12000" spc="-200" dirty="0">
              <a:solidFill>
                <a:srgbClr val="6A7E74"/>
              </a:solidFill>
              <a:latin typeface="Pretendard Bold"/>
              <a:ea typeface="Pretendard Bold"/>
              <a:cs typeface="Pretendard Bold"/>
            </a:endParaRPr>
          </a:p>
        </p:txBody>
      </p:sp>
      <p:pic>
        <p:nvPicPr>
          <p:cNvPr id="6" name="Picture 5" descr="스크린샷, 블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79E31F-B5E3-709C-2434-3ADBDCB4147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0000"/>
          </a:blip>
          <a:stretch>
            <a:fillRect/>
          </a:stretch>
        </p:blipFill>
        <p:spPr>
          <a:xfrm>
            <a:off x="10008169" y="10176564"/>
            <a:ext cx="4572000" cy="889000"/>
          </a:xfrm>
          <a:prstGeom prst="rect">
            <a:avLst/>
          </a:prstGeom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A6155FD7-9F16-FDC9-9F15-B491906E9B5A}"/>
              </a:ext>
            </a:extLst>
          </p:cNvPr>
          <p:cNvSpPr txBox="1"/>
          <p:nvPr/>
        </p:nvSpPr>
        <p:spPr>
          <a:xfrm>
            <a:off x="10376469" y="10328964"/>
            <a:ext cx="38354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116199"/>
              </a:lnSpc>
            </a:pPr>
            <a:r>
              <a:rPr lang="ko-KR" altLang="en-US" sz="3200">
                <a:solidFill>
                  <a:srgbClr val="466456"/>
                </a:solidFill>
                <a:latin typeface="Pretendard Bold"/>
                <a:ea typeface="Pretendard Bold"/>
                <a:cs typeface="Pretendard Bold"/>
              </a:rPr>
              <a:t>2026. 03. 17.</a:t>
            </a:r>
            <a:endParaRPr lang="en-US" sz="3200" b="0" i="0" u="none" strike="noStrike" dirty="0">
              <a:solidFill>
                <a:srgbClr val="466456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1E930482-7F81-2B18-7F19-09CC1012140F}"/>
              </a:ext>
            </a:extLst>
          </p:cNvPr>
          <p:cNvSpPr txBox="1"/>
          <p:nvPr/>
        </p:nvSpPr>
        <p:spPr>
          <a:xfrm>
            <a:off x="6304169" y="2591011"/>
            <a:ext cx="11973887" cy="2014329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116199"/>
              </a:lnSpc>
            </a:pPr>
            <a:r>
              <a:rPr lang="ko-KR" altLang="en-US" sz="9600" spc="-200">
                <a:solidFill>
                  <a:srgbClr val="6A7E74"/>
                </a:solidFill>
                <a:latin typeface="Pretendard Bold"/>
                <a:ea typeface="Pretendard Bold"/>
                <a:cs typeface="Pretendard Bold"/>
              </a:rPr>
              <a:t>프로젝트 기획서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0"/>
          </a:blip>
          <a:stretch>
            <a:fillRect/>
          </a:stretch>
        </p:blipFill>
        <p:spPr>
          <a:xfrm>
            <a:off x="0" y="0"/>
            <a:ext cx="24384000" cy="2794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806700"/>
            <a:ext cx="21793200" cy="127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295400" y="1511300"/>
            <a:ext cx="60198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5333" b="0" i="0" u="none" strike="noStrike" spc="-200" dirty="0">
                <a:solidFill>
                  <a:srgbClr val="6A7E74"/>
                </a:solidFill>
                <a:latin typeface="Pretendard SemiBold"/>
                <a:ea typeface="Pretendard SemiBold"/>
                <a:cs typeface="Pretendard SemiBold"/>
              </a:rPr>
              <a:t>기획 의도</a:t>
            </a:r>
            <a:endParaRPr lang="en-US" sz="5333" b="0" i="0" u="none" strike="noStrike" spc="-200" dirty="0">
              <a:solidFill>
                <a:srgbClr val="6A7E74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662592" y="10925887"/>
            <a:ext cx="21424900" cy="838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4800" b="0" i="0" u="none" strike="noStrike" dirty="0">
                <a:solidFill>
                  <a:srgbClr val="222222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Light"/>
              </a:rPr>
              <a:t>미세먼지 발병 시차</a:t>
            </a:r>
            <a:r>
              <a:rPr lang="en-US" altLang="ko-KR" sz="4800" b="0" i="0" u="none" strike="noStrike" dirty="0">
                <a:solidFill>
                  <a:srgbClr val="222222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Light"/>
              </a:rPr>
              <a:t>(Time-Lag</a:t>
            </a:r>
            <a:r>
              <a:rPr lang="en-US" altLang="ko-KR" sz="4800" dirty="0">
                <a:solidFill>
                  <a:srgbClr val="222222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Light"/>
              </a:rPr>
              <a:t>)</a:t>
            </a:r>
            <a:r>
              <a:rPr lang="ko-KR" altLang="en-US" sz="4800" dirty="0">
                <a:solidFill>
                  <a:srgbClr val="222222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Light"/>
              </a:rPr>
              <a:t>를 고려한 서울시 구별 호흡기 환자 수 예측</a:t>
            </a:r>
            <a:endParaRPr lang="en-US" sz="4800" b="0" i="0" u="none" strike="noStrike" dirty="0">
              <a:solidFill>
                <a:srgbClr val="222222"/>
              </a:solidFill>
              <a:latin typeface="Pretendard SemiBold" panose="020B0600000101010101" charset="-127"/>
              <a:ea typeface="Pretendard SemiBold" panose="020B0600000101010101" charset="-127"/>
              <a:cs typeface="Pretendard Light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B8F9360-4049-4C75-B07C-3D8E625F5C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0736" y="7099230"/>
            <a:ext cx="8797568" cy="1496185"/>
          </a:xfrm>
          <a:prstGeom prst="rect">
            <a:avLst/>
          </a:prstGeom>
        </p:spPr>
      </p:pic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CDC6FE-FB9E-07D9-E720-3B98691E0B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2959" y="3651736"/>
            <a:ext cx="7991168" cy="2912192"/>
          </a:xfrm>
          <a:prstGeom prst="rect">
            <a:avLst/>
          </a:prstGeom>
        </p:spPr>
      </p:pic>
      <p:pic>
        <p:nvPicPr>
          <p:cNvPr id="16" name="그림 15" descr="텍스트, 폰트, 화이트, 타이포그래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FF2744C-793A-57A3-7AC2-9227476B11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2619" y="4243540"/>
            <a:ext cx="9906000" cy="1714500"/>
          </a:xfrm>
          <a:prstGeom prst="rect">
            <a:avLst/>
          </a:prstGeom>
        </p:spPr>
      </p:pic>
      <p:pic>
        <p:nvPicPr>
          <p:cNvPr id="17" name="그림 16" descr="텍스트, 폰트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4DC0D1-B9CE-0178-A539-408DFC34E5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00239" y="6980809"/>
            <a:ext cx="11610669" cy="1737238"/>
          </a:xfrm>
          <a:prstGeom prst="rect">
            <a:avLst/>
          </a:prstGeom>
        </p:spPr>
      </p:pic>
      <p:sp>
        <p:nvSpPr>
          <p:cNvPr id="18" name="화살표: 아래쪽 17">
            <a:extLst>
              <a:ext uri="{FF2B5EF4-FFF2-40B4-BE49-F238E27FC236}">
                <a16:creationId xmlns:a16="http://schemas.microsoft.com/office/drawing/2014/main" id="{9147DF79-7B5C-9512-E37B-B43F4BB566B6}"/>
              </a:ext>
            </a:extLst>
          </p:cNvPr>
          <p:cNvSpPr/>
          <p:nvPr/>
        </p:nvSpPr>
        <p:spPr>
          <a:xfrm>
            <a:off x="11470675" y="9664654"/>
            <a:ext cx="1269096" cy="756576"/>
          </a:xfrm>
          <a:prstGeom prst="downArrow">
            <a:avLst/>
          </a:prstGeom>
          <a:solidFill>
            <a:srgbClr val="6A7E7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FEA5AE-46E9-24E9-342E-DEDCCBCD2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853E763A-234A-7800-5CBB-815B3DA228E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0"/>
          </a:blip>
          <a:stretch>
            <a:fillRect/>
          </a:stretch>
        </p:blipFill>
        <p:spPr>
          <a:xfrm>
            <a:off x="0" y="0"/>
            <a:ext cx="24384000" cy="27940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78FB7E90-C45D-1614-60D5-46FD516AE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806700"/>
            <a:ext cx="217932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E45D7252-A63F-D406-32EA-9A2FC0417B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700" y="6985000"/>
            <a:ext cx="4826000" cy="48260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27718386-8ECC-761D-666C-ACDA64BDB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9300" y="6985000"/>
            <a:ext cx="4826000" cy="48260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BD230D37-B476-CBD4-5B6C-05DC63F3B0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33300" y="6985000"/>
            <a:ext cx="4826000" cy="48260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1FEA5F5E-5869-F4FC-C901-989D8D4289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67300" y="6985000"/>
            <a:ext cx="4826000" cy="48260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D921FAA4-4C96-739E-5F59-C44F2CF9EB0E}"/>
              </a:ext>
            </a:extLst>
          </p:cNvPr>
          <p:cNvSpPr txBox="1"/>
          <p:nvPr/>
        </p:nvSpPr>
        <p:spPr>
          <a:xfrm>
            <a:off x="1295400" y="1511300"/>
            <a:ext cx="60198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5333" b="0" i="0" u="none" strike="noStrike" spc="-200" dirty="0">
                <a:solidFill>
                  <a:srgbClr val="6A7E74"/>
                </a:solidFill>
                <a:latin typeface="Pretendard SemiBold"/>
                <a:ea typeface="Pretendard SemiBold"/>
                <a:cs typeface="Pretendard SemiBold"/>
              </a:rPr>
              <a:t>기획 의도</a:t>
            </a:r>
            <a:endParaRPr lang="en-US" sz="5333" b="0" i="0" u="none" strike="noStrike" spc="-200" dirty="0">
              <a:solidFill>
                <a:srgbClr val="6A7E74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5F94254D-CF25-A17E-0C50-9B160D4A7510}"/>
              </a:ext>
            </a:extLst>
          </p:cNvPr>
          <p:cNvSpPr txBox="1"/>
          <p:nvPr/>
        </p:nvSpPr>
        <p:spPr>
          <a:xfrm>
            <a:off x="2019300" y="8571680"/>
            <a:ext cx="4368800" cy="1662061"/>
          </a:xfrm>
          <a:prstGeom prst="rect">
            <a:avLst/>
          </a:prstGeom>
        </p:spPr>
        <p:txBody>
          <a:bodyPr lIns="0" tIns="60960" rIns="0" bIns="0" rtlCol="0" anchor="t"/>
          <a:lstStyle/>
          <a:p>
            <a:pPr lvl="0" algn="ctr">
              <a:lnSpc>
                <a:spcPct val="99600"/>
              </a:lnSpc>
            </a:pPr>
            <a:r>
              <a:rPr lang="ko-KR" altLang="en-US" sz="5000" b="0" i="0" u="none" strike="noStrike" spc="-1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의료 </a:t>
            </a:r>
            <a:r>
              <a:rPr lang="ko-KR" altLang="en-US" sz="5000" spc="-1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과부하</a:t>
            </a:r>
            <a:endParaRPr lang="en-US" altLang="ko-KR" sz="5000" b="0" i="0" u="none" strike="noStrike" spc="-100" dirty="0">
              <a:solidFill>
                <a:srgbClr val="FFFFFF"/>
              </a:solidFill>
              <a:latin typeface="Pretendard SemiBold"/>
              <a:ea typeface="Pretendard SemiBold"/>
              <a:cs typeface="Pretendard SemiBold"/>
            </a:endParaRPr>
          </a:p>
          <a:p>
            <a:pPr algn="ctr">
              <a:lnSpc>
                <a:spcPct val="99600"/>
              </a:lnSpc>
            </a:pPr>
            <a:r>
              <a:rPr lang="ko-KR" altLang="en-US" sz="5000" spc="-1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사전 방지</a:t>
            </a:r>
            <a:endParaRPr lang="ko-KR" altLang="en-US" sz="5000" b="0" i="0" u="none" strike="noStrike" spc="-100">
              <a:solidFill>
                <a:srgbClr val="FFFFFF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0AB0A7A-B2A7-5D5B-8D40-617D17735216}"/>
              </a:ext>
            </a:extLst>
          </p:cNvPr>
          <p:cNvSpPr txBox="1"/>
          <p:nvPr/>
        </p:nvSpPr>
        <p:spPr>
          <a:xfrm>
            <a:off x="7283450" y="8612815"/>
            <a:ext cx="4457700" cy="1587500"/>
          </a:xfrm>
          <a:prstGeom prst="rect">
            <a:avLst/>
          </a:prstGeom>
        </p:spPr>
        <p:txBody>
          <a:bodyPr lIns="0" tIns="60960" rIns="0" bIns="0" rtlCol="0" anchor="t"/>
          <a:lstStyle/>
          <a:p>
            <a:pPr algn="ctr">
              <a:lnSpc>
                <a:spcPct val="99600"/>
              </a:lnSpc>
            </a:pPr>
            <a:r>
              <a:rPr lang="ko-KR" altLang="en-US" sz="5000" spc="-100">
                <a:solidFill>
                  <a:srgbClr val="466456"/>
                </a:solidFill>
                <a:latin typeface="Pretendard SemiBold"/>
                <a:ea typeface="Pretendard SemiBold"/>
                <a:cs typeface="Pretendard SemiBold"/>
              </a:rPr>
              <a:t>보건 행정</a:t>
            </a:r>
            <a:br>
              <a:rPr lang="ko-KR" altLang="en-US" sz="5000" spc="-100" dirty="0">
                <a:solidFill>
                  <a:srgbClr val="466456"/>
                </a:solidFill>
                <a:latin typeface="Pretendard SemiBold"/>
                <a:ea typeface="Pretendard SemiBold"/>
                <a:cs typeface="Pretendard SemiBold"/>
              </a:rPr>
            </a:br>
            <a:r>
              <a:rPr lang="ko-KR" altLang="en-US" sz="5000" spc="-100">
                <a:solidFill>
                  <a:srgbClr val="466456"/>
                </a:solidFill>
                <a:latin typeface="Pretendard SemiBold"/>
                <a:ea typeface="Pretendard SemiBold"/>
                <a:cs typeface="Pretendard SemiBold"/>
              </a:rPr>
              <a:t>효율 극대화</a:t>
            </a:r>
            <a:endParaRPr lang="ko-KR" altLang="en-US" sz="5000" b="0" i="0" u="none" strike="noStrike" spc="-100" dirty="0">
              <a:solidFill>
                <a:srgbClr val="466456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8043011-97B5-C93F-A8A8-AE63D7511FC9}"/>
              </a:ext>
            </a:extLst>
          </p:cNvPr>
          <p:cNvSpPr txBox="1"/>
          <p:nvPr/>
        </p:nvSpPr>
        <p:spPr>
          <a:xfrm>
            <a:off x="12515850" y="8604250"/>
            <a:ext cx="4660900" cy="1587500"/>
          </a:xfrm>
          <a:prstGeom prst="rect">
            <a:avLst/>
          </a:prstGeom>
        </p:spPr>
        <p:txBody>
          <a:bodyPr lIns="0" tIns="60960" rIns="0" bIns="0" rtlCol="0" anchor="t"/>
          <a:lstStyle/>
          <a:p>
            <a:pPr algn="ctr">
              <a:lnSpc>
                <a:spcPct val="99600"/>
              </a:lnSpc>
            </a:pPr>
            <a:r>
              <a:rPr lang="ko-KR" altLang="en-US" sz="5000" spc="-100">
                <a:solidFill>
                  <a:srgbClr val="FFFFFF"/>
                </a:solidFill>
                <a:latin typeface="Pretendard SemiBold"/>
                <a:ea typeface="Pretendard SemiBold"/>
                <a:cs typeface="Calibri"/>
              </a:rPr>
              <a:t>자치구 특성별</a:t>
            </a:r>
            <a:endParaRPr lang="ko-KR" altLang="en-US" sz="5000" spc="-100" dirty="0">
              <a:solidFill>
                <a:srgbClr val="FFFFFF"/>
              </a:solidFill>
              <a:latin typeface="Pretendard SemiBold"/>
              <a:ea typeface="Pretendard SemiBold"/>
              <a:cs typeface="Calibri"/>
            </a:endParaRPr>
          </a:p>
          <a:p>
            <a:pPr algn="ctr">
              <a:lnSpc>
                <a:spcPct val="99600"/>
              </a:lnSpc>
            </a:pPr>
            <a:r>
              <a:rPr lang="ko-KR" altLang="en-US" sz="5000" spc="-100">
                <a:solidFill>
                  <a:srgbClr val="FFFFFF"/>
                </a:solidFill>
                <a:latin typeface="Pretendard SemiBold"/>
                <a:ea typeface="Pretendard SemiBold"/>
                <a:cs typeface="Calibri"/>
              </a:rPr>
              <a:t>상관관계 분석</a:t>
            </a:r>
            <a:endParaRPr lang="ko-KR" altLang="en-US" sz="5000" spc="-100" dirty="0">
              <a:solidFill>
                <a:srgbClr val="FFFFFF"/>
              </a:solidFill>
              <a:latin typeface="Pretendard SemiBold"/>
              <a:ea typeface="Pretendard SemiBold"/>
              <a:cs typeface="Calibri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23E4FF4-B3FC-8F8E-FC9F-101C85CF6F66}"/>
              </a:ext>
            </a:extLst>
          </p:cNvPr>
          <p:cNvSpPr txBox="1"/>
          <p:nvPr/>
        </p:nvSpPr>
        <p:spPr>
          <a:xfrm>
            <a:off x="1479550" y="4604812"/>
            <a:ext cx="21424900" cy="838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116199"/>
              </a:lnSpc>
            </a:pPr>
            <a:r>
              <a:rPr lang="ko-KR" altLang="en-US" sz="5000">
                <a:solidFill>
                  <a:srgbClr val="222222"/>
                </a:solidFill>
                <a:latin typeface="Pretendard SemiBold"/>
                <a:ea typeface="Pretendard SemiBold"/>
                <a:cs typeface="Pretendard Light"/>
              </a:rPr>
              <a:t>단순 수치 제공을 넘어, 구별 특성에 맞춘 최적의 예방 대응 타이밍 제시</a:t>
            </a:r>
            <a:endParaRPr lang="ko-KR" altLang="en-US" sz="5000" b="0" i="0" u="none" strike="noStrike">
              <a:solidFill>
                <a:srgbClr val="222222"/>
              </a:solidFill>
              <a:latin typeface="Pretendard SemiBold" panose="020B0600000101010101" charset="-127"/>
              <a:ea typeface="Pretendard SemiBold" panose="020B0600000101010101" charset="-127"/>
              <a:cs typeface="Pretendard Light"/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DE69AB3E-1833-1A66-91BB-33F82E104943}"/>
              </a:ext>
            </a:extLst>
          </p:cNvPr>
          <p:cNvSpPr txBox="1"/>
          <p:nvPr/>
        </p:nvSpPr>
        <p:spPr>
          <a:xfrm>
            <a:off x="17951449" y="8573058"/>
            <a:ext cx="4457700" cy="1587500"/>
          </a:xfrm>
          <a:prstGeom prst="rect">
            <a:avLst/>
          </a:prstGeom>
        </p:spPr>
        <p:txBody>
          <a:bodyPr lIns="0" tIns="60960" rIns="0" bIns="0" rtlCol="0" anchor="t"/>
          <a:lstStyle/>
          <a:p>
            <a:pPr algn="ctr">
              <a:lnSpc>
                <a:spcPct val="99600"/>
              </a:lnSpc>
            </a:pPr>
            <a:r>
              <a:rPr lang="ko-KR" altLang="en-US" sz="5000" spc="-100">
                <a:solidFill>
                  <a:srgbClr val="466456"/>
                </a:solidFill>
                <a:latin typeface="Pretendard SemiBold"/>
                <a:ea typeface="Pretendard SemiBold"/>
                <a:cs typeface="Pretendard SemiBold"/>
              </a:rPr>
              <a:t>질환 발생</a:t>
            </a:r>
            <a:endParaRPr lang="ko-KR" altLang="en-US" sz="5000" spc="-100" dirty="0">
              <a:solidFill>
                <a:srgbClr val="466456"/>
              </a:solidFill>
              <a:latin typeface="Pretendard SemiBold"/>
              <a:ea typeface="Pretendard SemiBold"/>
              <a:cs typeface="Pretendard SemiBold"/>
            </a:endParaRPr>
          </a:p>
          <a:p>
            <a:pPr algn="ctr">
              <a:lnSpc>
                <a:spcPct val="99600"/>
              </a:lnSpc>
            </a:pPr>
            <a:r>
              <a:rPr lang="ko-KR" altLang="en-US" sz="5000" spc="-100">
                <a:solidFill>
                  <a:srgbClr val="466456"/>
                </a:solidFill>
                <a:latin typeface="Pretendard SemiBold"/>
                <a:ea typeface="Pretendard SemiBold"/>
                <a:cs typeface="Pretendard SemiBold"/>
              </a:rPr>
              <a:t>골든타임 예측</a:t>
            </a:r>
            <a:endParaRPr lang="ko-KR" altLang="en-US" sz="5000" spc="-100" dirty="0">
              <a:solidFill>
                <a:srgbClr val="466456"/>
              </a:solidFill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79793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806700"/>
            <a:ext cx="21793200" cy="127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1295400" y="1511300"/>
            <a:ext cx="60198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5333" spc="-200" dirty="0">
                <a:solidFill>
                  <a:srgbClr val="6A7E74"/>
                </a:solidFill>
                <a:latin typeface="Pretendard SemiBold"/>
                <a:ea typeface="Pretendard SemiBold"/>
                <a:cs typeface="Pretendard SemiBold"/>
              </a:rPr>
              <a:t>개발 목표</a:t>
            </a:r>
            <a:endParaRPr lang="en-US" sz="5333" b="0" i="0" u="none" strike="noStrike" spc="-200" dirty="0">
              <a:solidFill>
                <a:srgbClr val="6A7E74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3503" y="3233380"/>
            <a:ext cx="20812764" cy="1672578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5845394" y="4113934"/>
            <a:ext cx="1270000" cy="254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3442" y="5169545"/>
            <a:ext cx="20819322" cy="1669798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5826583" y="5988535"/>
            <a:ext cx="1270000" cy="254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2320429" y="3710230"/>
            <a:ext cx="37338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4000">
                <a:solidFill>
                  <a:srgbClr val="444444"/>
                </a:solidFill>
                <a:latin typeface="Pretendard SemiBold"/>
                <a:ea typeface="Pretendard SemiBold"/>
                <a:cs typeface="Pretendard SemiBold"/>
              </a:rPr>
              <a:t>Data</a:t>
            </a:r>
            <a:endParaRPr lang="ko-KR" altLang="en-US" sz="4000" b="0" i="0" u="none" strike="noStrike">
              <a:solidFill>
                <a:srgbClr val="444444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933280" y="3602245"/>
            <a:ext cx="14932377" cy="1060399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25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시간별 미세먼지 및 기온 데이터, 일별 호흡기 환자 수, 분기별 인구 구조 데이터를 활용하여 시계열 데이터 구축</a:t>
            </a:r>
            <a:endParaRPr lang="ko-KR" altLang="en-US" sz="2500">
              <a:latin typeface="Pretendard Regular"/>
              <a:ea typeface="Pretendard Regular"/>
            </a:endParaRPr>
          </a:p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2500">
                <a:latin typeface="Pretendard Regular"/>
                <a:ea typeface="Pretendard Regular"/>
                <a:cs typeface="Calibri"/>
              </a:rPr>
              <a:t>구별 호흡기 장애인 및 천식 환자 데이터를 활용하여 각 자치구의 보건 취약성을 수치화</a:t>
            </a:r>
            <a:endParaRPr lang="ko-KR" altLang="en-US" sz="2500" dirty="0">
              <a:latin typeface="Pretendard Regular"/>
              <a:ea typeface="Pretendard Regular"/>
              <a:cs typeface="Calibri"/>
            </a:endParaRPr>
          </a:p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endParaRPr lang="en-US" sz="2500" dirty="0">
              <a:latin typeface="Pretendard Regular"/>
              <a:ea typeface="Pretendard Regular"/>
              <a:cs typeface="Calibri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2319071" y="5652534"/>
            <a:ext cx="370205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40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AI​</a:t>
            </a:r>
            <a:r>
              <a:rPr lang="ko-KR" altLang="en-US" sz="40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ko-KR" altLang="en-US" sz="40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Model</a:t>
            </a:r>
            <a:endParaRPr lang="en-US" sz="4000" b="0" i="0" u="none" strike="noStrike" dirty="0">
              <a:solidFill>
                <a:srgbClr val="FFFFFF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7" name="TextBox 16">
            <a:extLst>
              <a:ext uri="{FF2B5EF4-FFF2-40B4-BE49-F238E27FC236}">
                <a16:creationId xmlns:a16="http://schemas.microsoft.com/office/drawing/2014/main" id="{1959F41B-0106-402E-AA38-4E7C85F4BC75}"/>
              </a:ext>
            </a:extLst>
          </p:cNvPr>
          <p:cNvSpPr txBox="1"/>
          <p:nvPr/>
        </p:nvSpPr>
        <p:spPr>
          <a:xfrm>
            <a:off x="6941731" y="5457572"/>
            <a:ext cx="15355665" cy="878813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250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미세먼지 노출 시점(시간별)과 실제 진료 내역(일별) 사이의 시차(Time-Lag)를 학습하여 0~3일 후의 환자 수 예측</a:t>
            </a:r>
            <a:endParaRPr lang="ko-KR" altLang="en-US" sz="2500" b="0" i="0" u="none" strike="noStrike" dirty="0">
              <a:solidFill>
                <a:schemeClr val="bg1"/>
              </a:solidFill>
              <a:latin typeface="Pretendard Regular"/>
              <a:ea typeface="Pretendard Regular"/>
              <a:cs typeface="Pretendard Regular"/>
            </a:endParaRPr>
          </a:p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자치구별로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다른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인구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나이대와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기저질환자 비중에 따른 고유의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발병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패턴을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모델링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endParaRPr lang="en-US" sz="2500" b="0" i="0" u="none" strike="noStrike" dirty="0">
              <a:solidFill>
                <a:schemeClr val="bg1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pic>
        <p:nvPicPr>
          <p:cNvPr id="38" name="Picture 9">
            <a:extLst>
              <a:ext uri="{FF2B5EF4-FFF2-40B4-BE49-F238E27FC236}">
                <a16:creationId xmlns:a16="http://schemas.microsoft.com/office/drawing/2014/main" id="{E49E1963-57FD-49DE-BFB7-07C5A0BB7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311" y="7111715"/>
            <a:ext cx="20828000" cy="2849597"/>
          </a:xfrm>
          <a:prstGeom prst="rect">
            <a:avLst/>
          </a:prstGeom>
        </p:spPr>
      </p:pic>
      <p:pic>
        <p:nvPicPr>
          <p:cNvPr id="39" name="Picture 10">
            <a:extLst>
              <a:ext uri="{FF2B5EF4-FFF2-40B4-BE49-F238E27FC236}">
                <a16:creationId xmlns:a16="http://schemas.microsoft.com/office/drawing/2014/main" id="{EB92F97F-5268-42C7-98B0-9475DD085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5577237" y="8562092"/>
            <a:ext cx="1832559" cy="34156"/>
          </a:xfrm>
          <a:prstGeom prst="rect">
            <a:avLst/>
          </a:prstGeom>
        </p:spPr>
      </p:pic>
      <p:sp>
        <p:nvSpPr>
          <p:cNvPr id="42" name="TextBox 15">
            <a:extLst>
              <a:ext uri="{FF2B5EF4-FFF2-40B4-BE49-F238E27FC236}">
                <a16:creationId xmlns:a16="http://schemas.microsoft.com/office/drawing/2014/main" id="{A041AA70-54B3-4DF2-9B53-4372E1EDE63A}"/>
              </a:ext>
            </a:extLst>
          </p:cNvPr>
          <p:cNvSpPr txBox="1"/>
          <p:nvPr/>
        </p:nvSpPr>
        <p:spPr>
          <a:xfrm>
            <a:off x="2442902" y="8185064"/>
            <a:ext cx="37338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4000">
                <a:solidFill>
                  <a:srgbClr val="444444"/>
                </a:solidFill>
                <a:latin typeface="Pretendard SemiBold"/>
                <a:ea typeface="Pretendard SemiBold"/>
                <a:cs typeface="Pretendard SemiBold"/>
              </a:rPr>
              <a:t>UI/UX</a:t>
            </a:r>
            <a:endParaRPr lang="ko-KR" altLang="en-US" sz="4000" b="0" i="0" u="none" strike="noStrike">
              <a:solidFill>
                <a:srgbClr val="444444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pic>
        <p:nvPicPr>
          <p:cNvPr id="8" name="Picture 11" descr="스크린샷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3FE8E3C-77BA-5E87-633E-7DC7261F4C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3863" y="10225950"/>
            <a:ext cx="20819322" cy="2830632"/>
          </a:xfrm>
          <a:prstGeom prst="rect">
            <a:avLst/>
          </a:prstGeom>
          <a:ln>
            <a:noFill/>
          </a:ln>
        </p:spPr>
      </p:pic>
      <p:sp>
        <p:nvSpPr>
          <p:cNvPr id="43" name="TextBox 16">
            <a:extLst>
              <a:ext uri="{FF2B5EF4-FFF2-40B4-BE49-F238E27FC236}">
                <a16:creationId xmlns:a16="http://schemas.microsoft.com/office/drawing/2014/main" id="{A2E2AB90-D895-42C3-BE02-C7888D8DFB30}"/>
              </a:ext>
            </a:extLst>
          </p:cNvPr>
          <p:cNvSpPr txBox="1"/>
          <p:nvPr/>
        </p:nvSpPr>
        <p:spPr>
          <a:xfrm>
            <a:off x="6912912" y="7226301"/>
            <a:ext cx="15342363" cy="2625086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ko-KR" sz="25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서울시 25개 구별 예측 환자 수를 위험도에 따라 단계별 색상으로 시각화하여, 데이터의 가독성을 극대화한 메인 지도 구현</a:t>
            </a:r>
            <a:endParaRPr lang="ko-KR" altLang="en-US" sz="2500">
              <a:solidFill>
                <a:srgbClr val="000000"/>
              </a:solidFill>
              <a:latin typeface="Pretendard Regular"/>
              <a:ea typeface="Pretendard Regular"/>
              <a:cs typeface="Pretendard Regular"/>
            </a:endParaRPr>
          </a:p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ko-KR" sz="25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지도 내 특정 구 클릭 시, 별도의 페이지 이동 없이 상세 정보창과 상단 위젯의 데이터가 실시간으로 동기화 되는 직관적인 탐색 환경 제공</a:t>
            </a:r>
            <a:endParaRPr lang="ko-KR" altLang="ko-KR" sz="2500" dirty="0">
              <a:solidFill>
                <a:srgbClr val="000000"/>
              </a:solidFill>
              <a:latin typeface="Pretendard Regular"/>
              <a:ea typeface="Pretendard Regular"/>
              <a:cs typeface="Pretendard Regular"/>
            </a:endParaRPr>
          </a:p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ko-KR" sz="25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실시간 대기질 지수와 연동된 향후 3일간의 환자 발생 추이를 Multi-Step 그래프로 제공</a:t>
            </a:r>
          </a:p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ko-KR" sz="25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다양한 기기 환경에 맞춰 지도 크기와 정보 배치가 자동으로 최적화 되는 유연한 레이아웃 제공</a:t>
            </a:r>
            <a:endParaRPr lang="ko-KR" altLang="ko-KR" sz="2500" dirty="0">
              <a:solidFill>
                <a:srgbClr val="000000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44" name="TextBox 17">
            <a:extLst>
              <a:ext uri="{FF2B5EF4-FFF2-40B4-BE49-F238E27FC236}">
                <a16:creationId xmlns:a16="http://schemas.microsoft.com/office/drawing/2014/main" id="{44BF3393-7846-4DF5-B530-4DD835EFB728}"/>
              </a:ext>
            </a:extLst>
          </p:cNvPr>
          <p:cNvSpPr txBox="1"/>
          <p:nvPr/>
        </p:nvSpPr>
        <p:spPr>
          <a:xfrm>
            <a:off x="2443499" y="11286147"/>
            <a:ext cx="370205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40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Service</a:t>
            </a:r>
            <a:endParaRPr lang="en-US" sz="4000" b="0" i="0" u="none" strike="noStrike" dirty="0">
              <a:solidFill>
                <a:srgbClr val="FFFFFF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5" name="TextBox 16">
            <a:extLst>
              <a:ext uri="{FF2B5EF4-FFF2-40B4-BE49-F238E27FC236}">
                <a16:creationId xmlns:a16="http://schemas.microsoft.com/office/drawing/2014/main" id="{E53B3FF6-56C6-40BD-9F05-6618F64E7236}"/>
              </a:ext>
            </a:extLst>
          </p:cNvPr>
          <p:cNvSpPr txBox="1"/>
          <p:nvPr/>
        </p:nvSpPr>
        <p:spPr>
          <a:xfrm>
            <a:off x="6910370" y="10305549"/>
            <a:ext cx="15425993" cy="2670578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예측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수치를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기반으로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4단계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위험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등급을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산출하고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, 각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등급에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맞춰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실질적인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건강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보호를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위한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사용자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행동요령</a:t>
            </a:r>
            <a:r>
              <a:rPr lang="en-US" altLang="ko-KR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제공</a:t>
            </a:r>
            <a:endParaRPr lang="en-US" altLang="ko-KR" sz="2500" i="0" u="none" strike="noStrike">
              <a:solidFill>
                <a:schemeClr val="bg1"/>
              </a:solidFill>
              <a:latin typeface="Pretendard Regular"/>
              <a:ea typeface="Pretendard Regular"/>
              <a:cs typeface="Pretendard Regular"/>
            </a:endParaRPr>
          </a:p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사용자의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연령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,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기저질환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(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천식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,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호흡기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장애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등)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정보를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입력받아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해당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개인에게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 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발생할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수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있는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호흡기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증상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발현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확률을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 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</a:rPr>
              <a:t>맞춤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</a:rPr>
              <a:t> 제공 </a:t>
            </a:r>
          </a:p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미세먼지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노출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시점별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중요도를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도표화하여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,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사용자가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현재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왜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위험한지에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대한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분석적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근거를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제공</a:t>
            </a:r>
            <a:endParaRPr lang="en-US" altLang="en-US" sz="2500" dirty="0">
              <a:solidFill>
                <a:schemeClr val="bg1"/>
              </a:solidFill>
              <a:latin typeface="Pretendard Regular"/>
              <a:ea typeface="Pretendard Regular"/>
              <a:cs typeface="Pretendard Regular"/>
            </a:endParaRPr>
          </a:p>
          <a:p>
            <a:pPr marL="342900" lvl="1" indent="-342900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회원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정보를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바탕으로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관심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지역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및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개인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건강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상태를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유지하여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,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재방문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시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별도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입력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없이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즉각적인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맞춤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예보</a:t>
            </a:r>
            <a:r>
              <a:rPr lang="en-US" altLang="en-US" sz="2500" dirty="0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en-US" sz="2500" dirty="0" err="1">
                <a:solidFill>
                  <a:schemeClr val="bg1"/>
                </a:solidFill>
                <a:latin typeface="Pretendard Regular"/>
                <a:ea typeface="Pretendard Regular"/>
                <a:cs typeface="Pretendard Regular"/>
              </a:rPr>
              <a:t>제공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DDDF5879-601E-95F9-DA28-4F60CE85F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5549112" y="11622856"/>
            <a:ext cx="1832559" cy="34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-3581400" y="9410700"/>
            <a:ext cx="31762700" cy="60706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737100" y="5105400"/>
            <a:ext cx="14935200" cy="3200400"/>
          </a:xfrm>
          <a:prstGeom prst="rect">
            <a:avLst/>
          </a:prstGeom>
        </p:spPr>
        <p:txBody>
          <a:bodyPr lIns="0" tIns="59266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9333" b="0" i="0" u="none" strike="noStrike" spc="-500" dirty="0" err="1">
                <a:solidFill>
                  <a:srgbClr val="6A7E74"/>
                </a:solidFill>
                <a:latin typeface="Pretendard Medium"/>
                <a:ea typeface="Pretendard Medium"/>
                <a:cs typeface="Pretendard Medium"/>
              </a:rPr>
              <a:t>발표를</a:t>
            </a:r>
            <a:r>
              <a:rPr lang="en-US" sz="9333" b="0" i="0" u="none" strike="noStrike" spc="-500" dirty="0">
                <a:solidFill>
                  <a:srgbClr val="6A7E74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9333" b="0" i="0" u="none" strike="noStrike" spc="-500" dirty="0" err="1">
                <a:solidFill>
                  <a:srgbClr val="6A7E74"/>
                </a:solidFill>
                <a:latin typeface="Pretendard Medium"/>
                <a:ea typeface="Pretendard Medium"/>
                <a:cs typeface="Pretendard Medium"/>
              </a:rPr>
              <a:t>들어주셔서</a:t>
            </a:r>
            <a:endParaRPr lang="en-US" sz="9333" b="0" i="0" u="none" strike="noStrike" spc="-500" dirty="0">
              <a:solidFill>
                <a:srgbClr val="6A7E74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ctr">
              <a:lnSpc>
                <a:spcPct val="107899"/>
              </a:lnSpc>
            </a:pPr>
            <a:r>
              <a:rPr lang="en-US" sz="9333" b="0" i="0" u="none" strike="noStrike" spc="-500" dirty="0" err="1">
                <a:solidFill>
                  <a:srgbClr val="6A7E74"/>
                </a:solidFill>
                <a:latin typeface="Pretendard Medium"/>
                <a:ea typeface="Pretendard Medium"/>
                <a:cs typeface="Pretendard Medium"/>
              </a:rPr>
              <a:t>감사합니다</a:t>
            </a:r>
            <a:r>
              <a:rPr lang="en-US" sz="9333" b="0" i="0" u="none" strike="noStrike" spc="-500" dirty="0">
                <a:solidFill>
                  <a:srgbClr val="6A7E74"/>
                </a:solidFill>
                <a:latin typeface="Pretendard Medium"/>
                <a:ea typeface="Pretendard Medium"/>
                <a:cs typeface="Pretendard Medium"/>
              </a:rPr>
              <a:t>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8605046"/>
              </p:ext>
            </p:extLst>
          </p:nvPr>
        </p:nvGraphicFramePr>
        <p:xfrm>
          <a:off x="304800" y="12446000"/>
          <a:ext cx="23698200" cy="1148808"/>
        </p:xfrm>
        <a:graphic>
          <a:graphicData uri="http://schemas.openxmlformats.org/drawingml/2006/table">
            <a:tbl>
              <a:tblPr/>
              <a:tblGrid>
                <a:gridCol w="2369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8808">
                <a:tc>
                  <a:txBody>
                    <a:bodyPr/>
                    <a:lstStyle/>
                    <a:p>
                      <a:pPr lvl="0" algn="l">
                        <a:lnSpc>
                          <a:spcPct val="107899"/>
                        </a:lnSpc>
                        <a:defRPr/>
                      </a:pPr>
                      <a:r>
                        <a:rPr lang="ko-KR" altLang="en-US" sz="2399" b="0" i="0" u="none" strike="noStrike" dirty="0">
                          <a:solidFill>
                            <a:srgbClr val="466456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                                                                                                                                          안정현                 </a:t>
                      </a:r>
                      <a:r>
                        <a:rPr lang="en-US" sz="2399" b="0" i="0" u="none" strike="noStrike" dirty="0">
                          <a:solidFill>
                            <a:srgbClr val="466456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E-mail. </a:t>
                      </a:r>
                      <a:r>
                        <a:rPr lang="en-US" sz="2399" b="0" i="0" u="none" strike="noStrike" dirty="0">
                          <a:solidFill>
                            <a:srgbClr val="466456"/>
                          </a:solidFill>
                          <a:latin typeface="Pretendard Regular"/>
                          <a:ea typeface="Pretendard Regular"/>
                          <a:cs typeface="Pretendard Bold"/>
                        </a:rPr>
                        <a:t>ahnjh1997</a:t>
                      </a:r>
                      <a:r>
                        <a:rPr lang="en-US" sz="2399" b="0" i="0" u="none" strike="noStrike" dirty="0">
                          <a:solidFill>
                            <a:srgbClr val="466456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@naver.com</a:t>
                      </a:r>
                      <a:endParaRPr lang="en-US" sz="1100" dirty="0"/>
                    </a:p>
                  </a:txBody>
                  <a:tcPr marL="25400" marR="25400" marT="40639" marB="40639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A7E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289</Words>
  <Application>Microsoft Office PowerPoint</Application>
  <PresentationFormat>사용자 지정</PresentationFormat>
  <Paragraphs>35</Paragraphs>
  <Slides>5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6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403_17</cp:lastModifiedBy>
  <cp:revision>405</cp:revision>
  <dcterms:created xsi:type="dcterms:W3CDTF">2006-08-16T00:00:00Z</dcterms:created>
  <dcterms:modified xsi:type="dcterms:W3CDTF">2026-03-17T04:48:06Z</dcterms:modified>
</cp:coreProperties>
</file>